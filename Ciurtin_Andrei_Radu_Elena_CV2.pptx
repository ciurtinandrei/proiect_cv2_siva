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Archivo Black" charset="1" panose="020B0A03020202020B04"/>
      <p:regular r:id="rId25"/>
    </p:embeddedFont>
    <p:embeddedFont>
      <p:font typeface="TT Hoves" charset="1" panose="02000003020000060003"/>
      <p:regular r:id="rId26"/>
    </p:embeddedFont>
    <p:embeddedFont>
      <p:font typeface="DM Sans" charset="1" panose="00000000000000000000"/>
      <p:regular r:id="rId27"/>
    </p:embeddedFont>
    <p:embeddedFont>
      <p:font typeface="TT Hoves Italics" charset="1" panose="02000003020000060003"/>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grpSp>
        <p:nvGrpSpPr>
          <p:cNvPr name="Group 2" id="2"/>
          <p:cNvGrpSpPr/>
          <p:nvPr/>
        </p:nvGrpSpPr>
        <p:grpSpPr>
          <a:xfrm rot="0">
            <a:off x="8955744" y="613170"/>
            <a:ext cx="1805099" cy="1806174"/>
            <a:chOff x="0" y="0"/>
            <a:chExt cx="475417" cy="475700"/>
          </a:xfrm>
        </p:grpSpPr>
        <p:sp>
          <p:nvSpPr>
            <p:cNvPr name="Freeform 3" id="3"/>
            <p:cNvSpPr/>
            <p:nvPr/>
          </p:nvSpPr>
          <p:spPr>
            <a:xfrm flipH="false" flipV="false" rot="0">
              <a:off x="0" y="0"/>
              <a:ext cx="475417" cy="475700"/>
            </a:xfrm>
            <a:custGeom>
              <a:avLst/>
              <a:gdLst/>
              <a:ahLst/>
              <a:cxnLst/>
              <a:rect r="r" b="b" t="t" l="l"/>
              <a:pathLst>
                <a:path h="475700" w="475417">
                  <a:moveTo>
                    <a:pt x="0" y="0"/>
                  </a:moveTo>
                  <a:lnTo>
                    <a:pt x="475417" y="0"/>
                  </a:lnTo>
                  <a:lnTo>
                    <a:pt x="475417" y="475700"/>
                  </a:lnTo>
                  <a:lnTo>
                    <a:pt x="0" y="475700"/>
                  </a:lnTo>
                  <a:close/>
                </a:path>
              </a:pathLst>
            </a:custGeom>
            <a:solidFill>
              <a:srgbClr val="4C5526"/>
            </a:solidFill>
            <a:ln cap="sq">
              <a:noFill/>
              <a:prstDash val="solid"/>
              <a:miter/>
            </a:ln>
          </p:spPr>
        </p:sp>
        <p:sp>
          <p:nvSpPr>
            <p:cNvPr name="TextBox 4" id="4"/>
            <p:cNvSpPr txBox="true"/>
            <p:nvPr/>
          </p:nvSpPr>
          <p:spPr>
            <a:xfrm>
              <a:off x="0" y="-28575"/>
              <a:ext cx="475417" cy="504275"/>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flipV="true">
            <a:off x="0" y="613170"/>
            <a:ext cx="18288000" cy="0"/>
          </a:xfrm>
          <a:prstGeom prst="line">
            <a:avLst/>
          </a:prstGeom>
          <a:ln cap="rnd" w="19050">
            <a:solidFill>
              <a:srgbClr val="000000"/>
            </a:solidFill>
            <a:prstDash val="solid"/>
            <a:headEnd type="none" len="sm" w="sm"/>
            <a:tailEnd type="none" len="sm" w="sm"/>
          </a:ln>
        </p:spPr>
      </p:sp>
      <p:sp>
        <p:nvSpPr>
          <p:cNvPr name="AutoShape 6" id="6"/>
          <p:cNvSpPr/>
          <p:nvPr/>
        </p:nvSpPr>
        <p:spPr>
          <a:xfrm>
            <a:off x="598883" y="2419344"/>
            <a:ext cx="17104522" cy="0"/>
          </a:xfrm>
          <a:prstGeom prst="line">
            <a:avLst/>
          </a:prstGeom>
          <a:ln cap="rnd" w="19050">
            <a:solidFill>
              <a:srgbClr val="000000"/>
            </a:solidFill>
            <a:prstDash val="solid"/>
            <a:headEnd type="none" len="sm" w="sm"/>
            <a:tailEnd type="none" len="sm" w="sm"/>
          </a:ln>
        </p:spPr>
      </p:sp>
      <p:sp>
        <p:nvSpPr>
          <p:cNvPr name="AutoShape 7" id="7"/>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8" id="8"/>
          <p:cNvSpPr/>
          <p:nvPr/>
        </p:nvSpPr>
        <p:spPr>
          <a:xfrm>
            <a:off x="1787124" y="613170"/>
            <a:ext cx="0" cy="9074947"/>
          </a:xfrm>
          <a:prstGeom prst="line">
            <a:avLst/>
          </a:prstGeom>
          <a:ln cap="rnd" w="19050">
            <a:solidFill>
              <a:srgbClr val="000000"/>
            </a:solidFill>
            <a:prstDash val="solid"/>
            <a:headEnd type="none" len="sm" w="sm"/>
            <a:tailEnd type="none" len="sm" w="sm"/>
          </a:ln>
        </p:spPr>
      </p:sp>
      <p:sp>
        <p:nvSpPr>
          <p:cNvPr name="AutoShape 9" id="9"/>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AutoShape 10" id="10"/>
          <p:cNvSpPr/>
          <p:nvPr/>
        </p:nvSpPr>
        <p:spPr>
          <a:xfrm>
            <a:off x="10760842" y="613170"/>
            <a:ext cx="0" cy="9074947"/>
          </a:xfrm>
          <a:prstGeom prst="line">
            <a:avLst/>
          </a:prstGeom>
          <a:ln cap="rnd" w="19050">
            <a:solidFill>
              <a:srgbClr val="000000"/>
            </a:solidFill>
            <a:prstDash val="solid"/>
            <a:headEnd type="none" len="sm" w="sm"/>
            <a:tailEnd type="none" len="sm" w="sm"/>
          </a:ln>
        </p:spPr>
      </p:sp>
      <p:sp>
        <p:nvSpPr>
          <p:cNvPr name="AutoShape 11" id="11"/>
          <p:cNvSpPr/>
          <p:nvPr/>
        </p:nvSpPr>
        <p:spPr>
          <a:xfrm>
            <a:off x="8965269" y="613170"/>
            <a:ext cx="0" cy="1806174"/>
          </a:xfrm>
          <a:prstGeom prst="line">
            <a:avLst/>
          </a:prstGeom>
          <a:ln cap="rnd" w="19050">
            <a:solidFill>
              <a:srgbClr val="000000"/>
            </a:solidFill>
            <a:prstDash val="solid"/>
            <a:headEnd type="none" len="sm" w="sm"/>
            <a:tailEnd type="none" len="sm" w="sm"/>
          </a:ln>
        </p:spPr>
      </p:sp>
      <p:sp>
        <p:nvSpPr>
          <p:cNvPr name="Freeform 12" id="12"/>
          <p:cNvSpPr/>
          <p:nvPr/>
        </p:nvSpPr>
        <p:spPr>
          <a:xfrm flipH="false" flipV="false" rot="8100000">
            <a:off x="9253485" y="1121760"/>
            <a:ext cx="1157193" cy="788995"/>
          </a:xfrm>
          <a:custGeom>
            <a:avLst/>
            <a:gdLst/>
            <a:ahLst/>
            <a:cxnLst/>
            <a:rect r="r" b="b" t="t" l="l"/>
            <a:pathLst>
              <a:path h="788995" w="1157193">
                <a:moveTo>
                  <a:pt x="0" y="0"/>
                </a:moveTo>
                <a:lnTo>
                  <a:pt x="1157193" y="0"/>
                </a:lnTo>
                <a:lnTo>
                  <a:pt x="1157193" y="788995"/>
                </a:lnTo>
                <a:lnTo>
                  <a:pt x="0" y="7889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3336667" y="7747362"/>
            <a:ext cx="5874632" cy="663191"/>
            <a:chOff x="0" y="0"/>
            <a:chExt cx="1547228" cy="174668"/>
          </a:xfrm>
        </p:grpSpPr>
        <p:sp>
          <p:nvSpPr>
            <p:cNvPr name="Freeform 14" id="14"/>
            <p:cNvSpPr/>
            <p:nvPr/>
          </p:nvSpPr>
          <p:spPr>
            <a:xfrm flipH="false" flipV="false" rot="0">
              <a:off x="0" y="0"/>
              <a:ext cx="1547228" cy="174668"/>
            </a:xfrm>
            <a:custGeom>
              <a:avLst/>
              <a:gdLst/>
              <a:ahLst/>
              <a:cxnLst/>
              <a:rect r="r" b="b" t="t" l="l"/>
              <a:pathLst>
                <a:path h="174668" w="1547228">
                  <a:moveTo>
                    <a:pt x="87334" y="0"/>
                  </a:moveTo>
                  <a:lnTo>
                    <a:pt x="1459894" y="0"/>
                  </a:lnTo>
                  <a:cubicBezTo>
                    <a:pt x="1483057" y="0"/>
                    <a:pt x="1505271" y="9201"/>
                    <a:pt x="1521649" y="25579"/>
                  </a:cubicBezTo>
                  <a:cubicBezTo>
                    <a:pt x="1538027" y="41958"/>
                    <a:pt x="1547228" y="64171"/>
                    <a:pt x="1547228" y="87334"/>
                  </a:cubicBezTo>
                  <a:lnTo>
                    <a:pt x="1547228" y="87334"/>
                  </a:lnTo>
                  <a:cubicBezTo>
                    <a:pt x="1547228" y="110496"/>
                    <a:pt x="1538027" y="132710"/>
                    <a:pt x="1521649" y="149088"/>
                  </a:cubicBezTo>
                  <a:cubicBezTo>
                    <a:pt x="1505271" y="165466"/>
                    <a:pt x="1483057" y="174668"/>
                    <a:pt x="1459894" y="174668"/>
                  </a:cubicBezTo>
                  <a:lnTo>
                    <a:pt x="87334" y="174668"/>
                  </a:lnTo>
                  <a:cubicBezTo>
                    <a:pt x="64171" y="174668"/>
                    <a:pt x="41958" y="165466"/>
                    <a:pt x="25579" y="149088"/>
                  </a:cubicBezTo>
                  <a:cubicBezTo>
                    <a:pt x="9201" y="132710"/>
                    <a:pt x="0" y="110496"/>
                    <a:pt x="0" y="87334"/>
                  </a:cubicBezTo>
                  <a:lnTo>
                    <a:pt x="0" y="87334"/>
                  </a:lnTo>
                  <a:cubicBezTo>
                    <a:pt x="0" y="64171"/>
                    <a:pt x="9201" y="41958"/>
                    <a:pt x="25579" y="25579"/>
                  </a:cubicBezTo>
                  <a:cubicBezTo>
                    <a:pt x="41958" y="9201"/>
                    <a:pt x="64171" y="0"/>
                    <a:pt x="87334" y="0"/>
                  </a:cubicBezTo>
                  <a:close/>
                </a:path>
              </a:pathLst>
            </a:custGeom>
            <a:solidFill>
              <a:srgbClr val="4C5526"/>
            </a:solidFill>
          </p:spPr>
        </p:sp>
        <p:sp>
          <p:nvSpPr>
            <p:cNvPr name="TextBox 15" id="15"/>
            <p:cNvSpPr txBox="true"/>
            <p:nvPr/>
          </p:nvSpPr>
          <p:spPr>
            <a:xfrm>
              <a:off x="0" y="-28575"/>
              <a:ext cx="1547228" cy="203243"/>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3336667" y="8595109"/>
            <a:ext cx="5874632" cy="663191"/>
            <a:chOff x="0" y="0"/>
            <a:chExt cx="1547228" cy="174668"/>
          </a:xfrm>
        </p:grpSpPr>
        <p:sp>
          <p:nvSpPr>
            <p:cNvPr name="Freeform 17" id="17"/>
            <p:cNvSpPr/>
            <p:nvPr/>
          </p:nvSpPr>
          <p:spPr>
            <a:xfrm flipH="false" flipV="false" rot="0">
              <a:off x="0" y="0"/>
              <a:ext cx="1547228" cy="174668"/>
            </a:xfrm>
            <a:custGeom>
              <a:avLst/>
              <a:gdLst/>
              <a:ahLst/>
              <a:cxnLst/>
              <a:rect r="r" b="b" t="t" l="l"/>
              <a:pathLst>
                <a:path h="174668" w="1547228">
                  <a:moveTo>
                    <a:pt x="87334" y="0"/>
                  </a:moveTo>
                  <a:lnTo>
                    <a:pt x="1459894" y="0"/>
                  </a:lnTo>
                  <a:cubicBezTo>
                    <a:pt x="1483057" y="0"/>
                    <a:pt x="1505271" y="9201"/>
                    <a:pt x="1521649" y="25579"/>
                  </a:cubicBezTo>
                  <a:cubicBezTo>
                    <a:pt x="1538027" y="41958"/>
                    <a:pt x="1547228" y="64171"/>
                    <a:pt x="1547228" y="87334"/>
                  </a:cubicBezTo>
                  <a:lnTo>
                    <a:pt x="1547228" y="87334"/>
                  </a:lnTo>
                  <a:cubicBezTo>
                    <a:pt x="1547228" y="110496"/>
                    <a:pt x="1538027" y="132710"/>
                    <a:pt x="1521649" y="149088"/>
                  </a:cubicBezTo>
                  <a:cubicBezTo>
                    <a:pt x="1505271" y="165466"/>
                    <a:pt x="1483057" y="174668"/>
                    <a:pt x="1459894" y="174668"/>
                  </a:cubicBezTo>
                  <a:lnTo>
                    <a:pt x="87334" y="174668"/>
                  </a:lnTo>
                  <a:cubicBezTo>
                    <a:pt x="64171" y="174668"/>
                    <a:pt x="41958" y="165466"/>
                    <a:pt x="25579" y="149088"/>
                  </a:cubicBezTo>
                  <a:cubicBezTo>
                    <a:pt x="9201" y="132710"/>
                    <a:pt x="0" y="110496"/>
                    <a:pt x="0" y="87334"/>
                  </a:cubicBezTo>
                  <a:lnTo>
                    <a:pt x="0" y="87334"/>
                  </a:lnTo>
                  <a:cubicBezTo>
                    <a:pt x="0" y="64171"/>
                    <a:pt x="9201" y="41958"/>
                    <a:pt x="25579" y="25579"/>
                  </a:cubicBezTo>
                  <a:cubicBezTo>
                    <a:pt x="41958" y="9201"/>
                    <a:pt x="64171" y="0"/>
                    <a:pt x="87334" y="0"/>
                  </a:cubicBezTo>
                  <a:close/>
                </a:path>
              </a:pathLst>
            </a:custGeom>
            <a:solidFill>
              <a:srgbClr val="4C5526"/>
            </a:solidFill>
          </p:spPr>
        </p:sp>
        <p:sp>
          <p:nvSpPr>
            <p:cNvPr name="TextBox 18" id="18"/>
            <p:cNvSpPr txBox="true"/>
            <p:nvPr/>
          </p:nvSpPr>
          <p:spPr>
            <a:xfrm>
              <a:off x="0" y="-28575"/>
              <a:ext cx="1547228" cy="203243"/>
            </a:xfrm>
            <a:prstGeom prst="rect">
              <a:avLst/>
            </a:prstGeom>
          </p:spPr>
          <p:txBody>
            <a:bodyPr anchor="ctr" rtlCol="false" tIns="50800" lIns="50800" bIns="50800" rIns="50800"/>
            <a:lstStyle/>
            <a:p>
              <a:pPr algn="ctr">
                <a:lnSpc>
                  <a:spcPts val="2659"/>
                </a:lnSpc>
              </a:pPr>
            </a:p>
          </p:txBody>
        </p:sp>
      </p:grpSp>
      <p:sp>
        <p:nvSpPr>
          <p:cNvPr name="Freeform 19" id="19"/>
          <p:cNvSpPr/>
          <p:nvPr/>
        </p:nvSpPr>
        <p:spPr>
          <a:xfrm flipH="false" flipV="false" rot="0">
            <a:off x="12313417" y="400171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2662320" y="4096961"/>
            <a:ext cx="7044244" cy="2618343"/>
          </a:xfrm>
          <a:prstGeom prst="rect">
            <a:avLst/>
          </a:prstGeom>
        </p:spPr>
        <p:txBody>
          <a:bodyPr anchor="t" rtlCol="false" tIns="0" lIns="0" bIns="0" rIns="0">
            <a:spAutoFit/>
          </a:bodyPr>
          <a:lstStyle/>
          <a:p>
            <a:pPr algn="l">
              <a:lnSpc>
                <a:spcPts val="6766"/>
              </a:lnSpc>
            </a:pPr>
            <a:r>
              <a:rPr lang="en-US" sz="6569">
                <a:solidFill>
                  <a:srgbClr val="1A160F"/>
                </a:solidFill>
                <a:latin typeface="Archivo Black"/>
                <a:ea typeface="Archivo Black"/>
                <a:cs typeface="Archivo Black"/>
                <a:sym typeface="Archivo Black"/>
              </a:rPr>
              <a:t>CLASIFICAREA TIPURILOR DE SOL</a:t>
            </a:r>
          </a:p>
        </p:txBody>
      </p:sp>
      <p:sp>
        <p:nvSpPr>
          <p:cNvPr name="TextBox 21" id="21"/>
          <p:cNvSpPr txBox="true"/>
          <p:nvPr/>
        </p:nvSpPr>
        <p:spPr>
          <a:xfrm rot="0">
            <a:off x="3336667" y="7800193"/>
            <a:ext cx="5874632" cy="481330"/>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TT Hoves"/>
                <a:ea typeface="TT Hoves"/>
                <a:cs typeface="TT Hoves"/>
                <a:sym typeface="TT Hoves"/>
              </a:rPr>
              <a:t>Ciurtin Andrei Laurentiu</a:t>
            </a:r>
          </a:p>
        </p:txBody>
      </p:sp>
      <p:sp>
        <p:nvSpPr>
          <p:cNvPr name="TextBox 22" id="22"/>
          <p:cNvSpPr txBox="true"/>
          <p:nvPr/>
        </p:nvSpPr>
        <p:spPr>
          <a:xfrm rot="0">
            <a:off x="4103361" y="1027802"/>
            <a:ext cx="11206406" cy="898607"/>
          </a:xfrm>
          <a:prstGeom prst="rect">
            <a:avLst/>
          </a:prstGeom>
        </p:spPr>
        <p:txBody>
          <a:bodyPr anchor="t" rtlCol="false" tIns="0" lIns="0" bIns="0" rIns="0">
            <a:spAutoFit/>
          </a:bodyPr>
          <a:lstStyle/>
          <a:p>
            <a:pPr algn="r">
              <a:lnSpc>
                <a:spcPts val="7336"/>
              </a:lnSpc>
              <a:spcBef>
                <a:spcPct val="0"/>
              </a:spcBef>
            </a:pPr>
            <a:r>
              <a:rPr lang="en-US" sz="5240" spc="665">
                <a:solidFill>
                  <a:srgbClr val="1A160F"/>
                </a:solidFill>
                <a:latin typeface="TT Hoves"/>
                <a:ea typeface="TT Hoves"/>
                <a:cs typeface="TT Hoves"/>
                <a:sym typeface="TT Hoves"/>
              </a:rPr>
              <a:t>SIVA</a:t>
            </a:r>
          </a:p>
        </p:txBody>
      </p:sp>
      <p:sp>
        <p:nvSpPr>
          <p:cNvPr name="TextBox 23" id="23"/>
          <p:cNvSpPr txBox="true"/>
          <p:nvPr/>
        </p:nvSpPr>
        <p:spPr>
          <a:xfrm rot="0">
            <a:off x="2076210" y="1227827"/>
            <a:ext cx="6153194" cy="672110"/>
          </a:xfrm>
          <a:prstGeom prst="rect">
            <a:avLst/>
          </a:prstGeom>
        </p:spPr>
        <p:txBody>
          <a:bodyPr anchor="t" rtlCol="false" tIns="0" lIns="0" bIns="0" rIns="0">
            <a:spAutoFit/>
          </a:bodyPr>
          <a:lstStyle/>
          <a:p>
            <a:pPr algn="ctr">
              <a:lnSpc>
                <a:spcPts val="5097"/>
              </a:lnSpc>
              <a:spcBef>
                <a:spcPct val="0"/>
              </a:spcBef>
            </a:pPr>
            <a:r>
              <a:rPr lang="en-US" sz="5097" spc="407">
                <a:solidFill>
                  <a:srgbClr val="000000"/>
                </a:solidFill>
                <a:latin typeface="TT Hoves"/>
                <a:ea typeface="TT Hoves"/>
                <a:cs typeface="TT Hoves"/>
                <a:sym typeface="TT Hoves"/>
              </a:rPr>
              <a:t>Computer Vision II</a:t>
            </a:r>
          </a:p>
        </p:txBody>
      </p:sp>
      <p:sp>
        <p:nvSpPr>
          <p:cNvPr name="TextBox 24" id="24"/>
          <p:cNvSpPr txBox="true"/>
          <p:nvPr/>
        </p:nvSpPr>
        <p:spPr>
          <a:xfrm rot="0">
            <a:off x="3336667" y="8647939"/>
            <a:ext cx="5874632" cy="481330"/>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TT Hoves"/>
                <a:ea typeface="TT Hoves"/>
                <a:cs typeface="TT Hoves"/>
                <a:sym typeface="TT Hoves"/>
              </a:rPr>
              <a:t>Radu Elena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sp>
        <p:nvSpPr>
          <p:cNvPr name="AutoShape 2" id="2"/>
          <p:cNvSpPr/>
          <p:nvPr/>
        </p:nvSpPr>
        <p:spPr>
          <a:xfrm flipV="true">
            <a:off x="0" y="613170"/>
            <a:ext cx="18288000" cy="0"/>
          </a:xfrm>
          <a:prstGeom prst="line">
            <a:avLst/>
          </a:prstGeom>
          <a:ln cap="rnd" w="19050">
            <a:solidFill>
              <a:srgbClr val="000000"/>
            </a:solidFill>
            <a:prstDash val="solid"/>
            <a:headEnd type="none" len="sm" w="sm"/>
            <a:tailEnd type="none" len="sm" w="sm"/>
          </a:ln>
        </p:spPr>
      </p:sp>
      <p:sp>
        <p:nvSpPr>
          <p:cNvPr name="AutoShape 3" id="3"/>
          <p:cNvSpPr/>
          <p:nvPr/>
        </p:nvSpPr>
        <p:spPr>
          <a:xfrm>
            <a:off x="17703405" y="613170"/>
            <a:ext cx="0" cy="9074947"/>
          </a:xfrm>
          <a:prstGeom prst="line">
            <a:avLst/>
          </a:prstGeom>
          <a:ln cap="rnd" w="19050">
            <a:solidFill>
              <a:srgbClr val="000000"/>
            </a:solidFill>
            <a:prstDash val="solid"/>
            <a:headEnd type="none" len="sm" w="sm"/>
            <a:tailEnd type="none" len="sm" w="sm"/>
          </a:ln>
        </p:spPr>
      </p:sp>
      <p:grpSp>
        <p:nvGrpSpPr>
          <p:cNvPr name="Group 4" id="4"/>
          <p:cNvGrpSpPr/>
          <p:nvPr/>
        </p:nvGrpSpPr>
        <p:grpSpPr>
          <a:xfrm rot="0">
            <a:off x="2435212" y="4433989"/>
            <a:ext cx="7677542" cy="975037"/>
            <a:chOff x="0" y="0"/>
            <a:chExt cx="1650280" cy="209583"/>
          </a:xfrm>
        </p:grpSpPr>
        <p:sp>
          <p:nvSpPr>
            <p:cNvPr name="Freeform 5" id="5"/>
            <p:cNvSpPr/>
            <p:nvPr/>
          </p:nvSpPr>
          <p:spPr>
            <a:xfrm flipH="false" flipV="false" rot="0">
              <a:off x="0" y="0"/>
              <a:ext cx="1650280" cy="209583"/>
            </a:xfrm>
            <a:custGeom>
              <a:avLst/>
              <a:gdLst/>
              <a:ahLst/>
              <a:cxnLst/>
              <a:rect r="r" b="b" t="t" l="l"/>
              <a:pathLst>
                <a:path h="209583" w="1650280">
                  <a:moveTo>
                    <a:pt x="100839" y="0"/>
                  </a:moveTo>
                  <a:lnTo>
                    <a:pt x="1549441" y="0"/>
                  </a:lnTo>
                  <a:cubicBezTo>
                    <a:pt x="1576185" y="0"/>
                    <a:pt x="1601834" y="10624"/>
                    <a:pt x="1620745" y="29535"/>
                  </a:cubicBezTo>
                  <a:cubicBezTo>
                    <a:pt x="1639656" y="48446"/>
                    <a:pt x="1650280" y="74094"/>
                    <a:pt x="1650280" y="100839"/>
                  </a:cubicBezTo>
                  <a:lnTo>
                    <a:pt x="1650280" y="108745"/>
                  </a:lnTo>
                  <a:cubicBezTo>
                    <a:pt x="1650280" y="135489"/>
                    <a:pt x="1639656" y="161137"/>
                    <a:pt x="1620745" y="180048"/>
                  </a:cubicBezTo>
                  <a:cubicBezTo>
                    <a:pt x="1601834" y="198959"/>
                    <a:pt x="1576185" y="209583"/>
                    <a:pt x="1549441" y="209583"/>
                  </a:cubicBezTo>
                  <a:lnTo>
                    <a:pt x="100839" y="209583"/>
                  </a:lnTo>
                  <a:cubicBezTo>
                    <a:pt x="74094" y="209583"/>
                    <a:pt x="48446" y="198959"/>
                    <a:pt x="29535" y="180048"/>
                  </a:cubicBezTo>
                  <a:cubicBezTo>
                    <a:pt x="10624" y="161137"/>
                    <a:pt x="0" y="135489"/>
                    <a:pt x="0" y="108745"/>
                  </a:cubicBezTo>
                  <a:lnTo>
                    <a:pt x="0" y="100839"/>
                  </a:lnTo>
                  <a:cubicBezTo>
                    <a:pt x="0" y="74094"/>
                    <a:pt x="10624" y="48446"/>
                    <a:pt x="29535" y="29535"/>
                  </a:cubicBezTo>
                  <a:cubicBezTo>
                    <a:pt x="48446" y="10624"/>
                    <a:pt x="74094" y="0"/>
                    <a:pt x="100839" y="0"/>
                  </a:cubicBezTo>
                  <a:close/>
                </a:path>
              </a:pathLst>
            </a:custGeom>
            <a:solidFill>
              <a:srgbClr val="4C5526"/>
            </a:solidFill>
          </p:spPr>
        </p:sp>
        <p:sp>
          <p:nvSpPr>
            <p:cNvPr name="TextBox 6" id="6"/>
            <p:cNvSpPr txBox="true"/>
            <p:nvPr/>
          </p:nvSpPr>
          <p:spPr>
            <a:xfrm>
              <a:off x="0" y="38100"/>
              <a:ext cx="1650280" cy="171483"/>
            </a:xfrm>
            <a:prstGeom prst="rect">
              <a:avLst/>
            </a:prstGeom>
          </p:spPr>
          <p:txBody>
            <a:bodyPr anchor="ctr" rtlCol="false" tIns="50800" lIns="50800" bIns="50800" rIns="50800"/>
            <a:lstStyle/>
            <a:p>
              <a:pPr algn="ctr">
                <a:lnSpc>
                  <a:spcPts val="2174"/>
                </a:lnSpc>
              </a:pPr>
            </a:p>
          </p:txBody>
        </p:sp>
      </p:grpSp>
      <p:grpSp>
        <p:nvGrpSpPr>
          <p:cNvPr name="Group 7" id="7"/>
          <p:cNvGrpSpPr/>
          <p:nvPr/>
        </p:nvGrpSpPr>
        <p:grpSpPr>
          <a:xfrm rot="0">
            <a:off x="2435212" y="5631918"/>
            <a:ext cx="7829942" cy="1120430"/>
            <a:chOff x="0" y="0"/>
            <a:chExt cx="1683038" cy="240835"/>
          </a:xfrm>
        </p:grpSpPr>
        <p:sp>
          <p:nvSpPr>
            <p:cNvPr name="Freeform 8" id="8"/>
            <p:cNvSpPr/>
            <p:nvPr/>
          </p:nvSpPr>
          <p:spPr>
            <a:xfrm flipH="false" flipV="false" rot="0">
              <a:off x="0" y="0"/>
              <a:ext cx="1683038" cy="240835"/>
            </a:xfrm>
            <a:custGeom>
              <a:avLst/>
              <a:gdLst/>
              <a:ahLst/>
              <a:cxnLst/>
              <a:rect r="r" b="b" t="t" l="l"/>
              <a:pathLst>
                <a:path h="240835" w="1683038">
                  <a:moveTo>
                    <a:pt x="98876" y="0"/>
                  </a:moveTo>
                  <a:lnTo>
                    <a:pt x="1584162" y="0"/>
                  </a:lnTo>
                  <a:cubicBezTo>
                    <a:pt x="1638770" y="0"/>
                    <a:pt x="1683038" y="44268"/>
                    <a:pt x="1683038" y="98876"/>
                  </a:cubicBezTo>
                  <a:lnTo>
                    <a:pt x="1683038" y="141960"/>
                  </a:lnTo>
                  <a:cubicBezTo>
                    <a:pt x="1683038" y="196567"/>
                    <a:pt x="1638770" y="240835"/>
                    <a:pt x="1584162" y="240835"/>
                  </a:cubicBezTo>
                  <a:lnTo>
                    <a:pt x="98876" y="240835"/>
                  </a:lnTo>
                  <a:cubicBezTo>
                    <a:pt x="72652" y="240835"/>
                    <a:pt x="47503" y="230418"/>
                    <a:pt x="28960" y="211875"/>
                  </a:cubicBezTo>
                  <a:cubicBezTo>
                    <a:pt x="10417" y="193332"/>
                    <a:pt x="0" y="168183"/>
                    <a:pt x="0" y="141960"/>
                  </a:cubicBezTo>
                  <a:lnTo>
                    <a:pt x="0" y="98876"/>
                  </a:lnTo>
                  <a:cubicBezTo>
                    <a:pt x="0" y="44268"/>
                    <a:pt x="44268" y="0"/>
                    <a:pt x="98876" y="0"/>
                  </a:cubicBezTo>
                  <a:close/>
                </a:path>
              </a:pathLst>
            </a:custGeom>
            <a:solidFill>
              <a:srgbClr val="4C5526"/>
            </a:solidFill>
          </p:spPr>
        </p:sp>
        <p:sp>
          <p:nvSpPr>
            <p:cNvPr name="TextBox 9" id="9"/>
            <p:cNvSpPr txBox="true"/>
            <p:nvPr/>
          </p:nvSpPr>
          <p:spPr>
            <a:xfrm>
              <a:off x="0" y="38100"/>
              <a:ext cx="1683038" cy="202735"/>
            </a:xfrm>
            <a:prstGeom prst="rect">
              <a:avLst/>
            </a:prstGeom>
          </p:spPr>
          <p:txBody>
            <a:bodyPr anchor="ctr" rtlCol="false" tIns="50800" lIns="50800" bIns="50800" rIns="50800"/>
            <a:lstStyle/>
            <a:p>
              <a:pPr algn="ctr">
                <a:lnSpc>
                  <a:spcPts val="2174"/>
                </a:lnSpc>
              </a:pPr>
            </a:p>
          </p:txBody>
        </p:sp>
      </p:grpSp>
      <p:grpSp>
        <p:nvGrpSpPr>
          <p:cNvPr name="Group 10" id="10"/>
          <p:cNvGrpSpPr/>
          <p:nvPr/>
        </p:nvGrpSpPr>
        <p:grpSpPr>
          <a:xfrm rot="0">
            <a:off x="11923168" y="3959250"/>
            <a:ext cx="4418122" cy="4403101"/>
            <a:chOff x="0" y="0"/>
            <a:chExt cx="6350000" cy="6328410"/>
          </a:xfrm>
        </p:grpSpPr>
        <p:sp>
          <p:nvSpPr>
            <p:cNvPr name="Freeform 11" id="11"/>
            <p:cNvSpPr/>
            <p:nvPr/>
          </p:nvSpPr>
          <p:spPr>
            <a:xfrm flipH="false" flipV="false" rot="0">
              <a:off x="73172" y="31751"/>
              <a:ext cx="6229263" cy="6249174"/>
            </a:xfrm>
            <a:custGeom>
              <a:avLst/>
              <a:gdLst/>
              <a:ahLst/>
              <a:cxnLst/>
              <a:rect r="r" b="b" t="t" l="l"/>
              <a:pathLst>
                <a:path h="6249174" w="6229263">
                  <a:moveTo>
                    <a:pt x="4187647" y="1205052"/>
                  </a:moveTo>
                  <a:lnTo>
                    <a:pt x="4048009" y="212266"/>
                  </a:lnTo>
                  <a:cubicBezTo>
                    <a:pt x="4029050" y="77473"/>
                    <a:pt x="3904453" y="-16459"/>
                    <a:pt x="3769649" y="2412"/>
                  </a:cubicBezTo>
                  <a:lnTo>
                    <a:pt x="1663117" y="297306"/>
                  </a:lnTo>
                  <a:cubicBezTo>
                    <a:pt x="1528319" y="316176"/>
                    <a:pt x="1434318" y="440717"/>
                    <a:pt x="1453123" y="575524"/>
                  </a:cubicBezTo>
                  <a:lnTo>
                    <a:pt x="1498063" y="897674"/>
                  </a:lnTo>
                  <a:cubicBezTo>
                    <a:pt x="1518038" y="1040868"/>
                    <a:pt x="1437385" y="1179124"/>
                    <a:pt x="1302904" y="1232214"/>
                  </a:cubicBezTo>
                  <a:lnTo>
                    <a:pt x="156032" y="1684974"/>
                  </a:lnTo>
                  <a:cubicBezTo>
                    <a:pt x="29439" y="1734951"/>
                    <a:pt x="-32685" y="1878078"/>
                    <a:pt x="17265" y="2004682"/>
                  </a:cubicBezTo>
                  <a:lnTo>
                    <a:pt x="1487391" y="5730886"/>
                  </a:lnTo>
                  <a:cubicBezTo>
                    <a:pt x="1537345" y="5857501"/>
                    <a:pt x="1680456" y="5919676"/>
                    <a:pt x="1807095" y="5869785"/>
                  </a:cubicBezTo>
                  <a:lnTo>
                    <a:pt x="2680312" y="5525762"/>
                  </a:lnTo>
                  <a:cubicBezTo>
                    <a:pt x="2703731" y="5516536"/>
                    <a:pt x="2730331" y="5520997"/>
                    <a:pt x="2749459" y="5537359"/>
                  </a:cubicBezTo>
                  <a:cubicBezTo>
                    <a:pt x="2768587" y="5553720"/>
                    <a:pt x="2777115" y="5579308"/>
                    <a:pt x="2771628" y="5603874"/>
                  </a:cubicBezTo>
                  <a:lnTo>
                    <a:pt x="2771628" y="5603874"/>
                  </a:lnTo>
                  <a:cubicBezTo>
                    <a:pt x="2764221" y="5637036"/>
                    <a:pt x="2770303" y="5671782"/>
                    <a:pt x="2788534" y="5700456"/>
                  </a:cubicBezTo>
                  <a:cubicBezTo>
                    <a:pt x="2806765" y="5729130"/>
                    <a:pt x="2835649" y="5749379"/>
                    <a:pt x="2868820" y="5756742"/>
                  </a:cubicBezTo>
                  <a:lnTo>
                    <a:pt x="5060903" y="6243267"/>
                  </a:lnTo>
                  <a:cubicBezTo>
                    <a:pt x="5193769" y="6272756"/>
                    <a:pt x="5325386" y="6188963"/>
                    <a:pt x="5354894" y="6056102"/>
                  </a:cubicBezTo>
                  <a:lnTo>
                    <a:pt x="6223402" y="2145556"/>
                  </a:lnTo>
                  <a:cubicBezTo>
                    <a:pt x="6237570" y="2081761"/>
                    <a:pt x="6225813" y="2014950"/>
                    <a:pt x="6190715" y="1959825"/>
                  </a:cubicBezTo>
                  <a:cubicBezTo>
                    <a:pt x="6155618" y="1904700"/>
                    <a:pt x="6100058" y="1865778"/>
                    <a:pt x="6036260" y="1851622"/>
                  </a:cubicBezTo>
                  <a:lnTo>
                    <a:pt x="4462536" y="1502446"/>
                  </a:lnTo>
                  <a:cubicBezTo>
                    <a:pt x="4317852" y="1470344"/>
                    <a:pt x="4208289" y="1351811"/>
                    <a:pt x="4187647" y="1205052"/>
                  </a:cubicBezTo>
                  <a:close/>
                </a:path>
              </a:pathLst>
            </a:custGeom>
            <a:blipFill>
              <a:blip r:embed="rId2"/>
              <a:stretch>
                <a:fillRect l="-69319" t="-132" r="-69212" b="-198"/>
              </a:stretch>
            </a:blipFill>
          </p:spPr>
        </p:sp>
      </p:grpSp>
      <p:grpSp>
        <p:nvGrpSpPr>
          <p:cNvPr name="Group 12" id="12"/>
          <p:cNvGrpSpPr/>
          <p:nvPr/>
        </p:nvGrpSpPr>
        <p:grpSpPr>
          <a:xfrm rot="0">
            <a:off x="2282188" y="6971423"/>
            <a:ext cx="8288390" cy="1872699"/>
            <a:chOff x="0" y="0"/>
            <a:chExt cx="1781581" cy="402535"/>
          </a:xfrm>
        </p:grpSpPr>
        <p:sp>
          <p:nvSpPr>
            <p:cNvPr name="Freeform 13" id="13"/>
            <p:cNvSpPr/>
            <p:nvPr/>
          </p:nvSpPr>
          <p:spPr>
            <a:xfrm flipH="false" flipV="false" rot="0">
              <a:off x="0" y="0"/>
              <a:ext cx="1781581" cy="402535"/>
            </a:xfrm>
            <a:custGeom>
              <a:avLst/>
              <a:gdLst/>
              <a:ahLst/>
              <a:cxnLst/>
              <a:rect r="r" b="b" t="t" l="l"/>
              <a:pathLst>
                <a:path h="402535" w="1781581">
                  <a:moveTo>
                    <a:pt x="93407" y="0"/>
                  </a:moveTo>
                  <a:lnTo>
                    <a:pt x="1688174" y="0"/>
                  </a:lnTo>
                  <a:cubicBezTo>
                    <a:pt x="1739761" y="0"/>
                    <a:pt x="1781581" y="41820"/>
                    <a:pt x="1781581" y="93407"/>
                  </a:cubicBezTo>
                  <a:lnTo>
                    <a:pt x="1781581" y="309128"/>
                  </a:lnTo>
                  <a:cubicBezTo>
                    <a:pt x="1781581" y="333901"/>
                    <a:pt x="1771740" y="357659"/>
                    <a:pt x="1754223" y="375176"/>
                  </a:cubicBezTo>
                  <a:cubicBezTo>
                    <a:pt x="1736705" y="392694"/>
                    <a:pt x="1712947" y="402535"/>
                    <a:pt x="1688174" y="402535"/>
                  </a:cubicBezTo>
                  <a:lnTo>
                    <a:pt x="93407" y="402535"/>
                  </a:lnTo>
                  <a:cubicBezTo>
                    <a:pt x="68634" y="402535"/>
                    <a:pt x="44875" y="392694"/>
                    <a:pt x="27358" y="375176"/>
                  </a:cubicBezTo>
                  <a:cubicBezTo>
                    <a:pt x="9841" y="357659"/>
                    <a:pt x="0" y="333901"/>
                    <a:pt x="0" y="309128"/>
                  </a:cubicBezTo>
                  <a:lnTo>
                    <a:pt x="0" y="93407"/>
                  </a:lnTo>
                  <a:cubicBezTo>
                    <a:pt x="0" y="68634"/>
                    <a:pt x="9841" y="44875"/>
                    <a:pt x="27358" y="27358"/>
                  </a:cubicBezTo>
                  <a:cubicBezTo>
                    <a:pt x="44875" y="9841"/>
                    <a:pt x="68634" y="0"/>
                    <a:pt x="93407" y="0"/>
                  </a:cubicBezTo>
                  <a:close/>
                </a:path>
              </a:pathLst>
            </a:custGeom>
            <a:solidFill>
              <a:srgbClr val="4C5526"/>
            </a:solidFill>
          </p:spPr>
        </p:sp>
        <p:sp>
          <p:nvSpPr>
            <p:cNvPr name="TextBox 14" id="14"/>
            <p:cNvSpPr txBox="true"/>
            <p:nvPr/>
          </p:nvSpPr>
          <p:spPr>
            <a:xfrm>
              <a:off x="0" y="38100"/>
              <a:ext cx="1781581" cy="364435"/>
            </a:xfrm>
            <a:prstGeom prst="rect">
              <a:avLst/>
            </a:prstGeom>
          </p:spPr>
          <p:txBody>
            <a:bodyPr anchor="ctr" rtlCol="false" tIns="50800" lIns="50800" bIns="50800" rIns="50800"/>
            <a:lstStyle/>
            <a:p>
              <a:pPr algn="ctr">
                <a:lnSpc>
                  <a:spcPts val="2174"/>
                </a:lnSpc>
              </a:pPr>
            </a:p>
          </p:txBody>
        </p:sp>
      </p:grpSp>
      <p:sp>
        <p:nvSpPr>
          <p:cNvPr name="TextBox 15" id="15"/>
          <p:cNvSpPr txBox="true"/>
          <p:nvPr/>
        </p:nvSpPr>
        <p:spPr>
          <a:xfrm rot="0">
            <a:off x="1939524" y="2517942"/>
            <a:ext cx="8973719" cy="611506"/>
          </a:xfrm>
          <a:prstGeom prst="rect">
            <a:avLst/>
          </a:prstGeom>
        </p:spPr>
        <p:txBody>
          <a:bodyPr anchor="t" rtlCol="false" tIns="0" lIns="0" bIns="0" rIns="0">
            <a:spAutoFit/>
          </a:bodyPr>
          <a:lstStyle/>
          <a:p>
            <a:pPr algn="ctr" marL="0" indent="0" lvl="0">
              <a:lnSpc>
                <a:spcPts val="4635"/>
              </a:lnSpc>
              <a:spcBef>
                <a:spcPct val="0"/>
              </a:spcBef>
            </a:pPr>
            <a:r>
              <a:rPr lang="en-US" sz="4500">
                <a:solidFill>
                  <a:srgbClr val="1A160F"/>
                </a:solidFill>
                <a:latin typeface="Archivo Black"/>
                <a:ea typeface="Archivo Black"/>
                <a:cs typeface="Archivo Black"/>
                <a:sym typeface="Archivo Black"/>
              </a:rPr>
              <a:t>OBIECTIVELE LUCRARII</a:t>
            </a:r>
          </a:p>
        </p:txBody>
      </p:sp>
      <p:sp>
        <p:nvSpPr>
          <p:cNvPr name="TextBox 16" id="16"/>
          <p:cNvSpPr txBox="true"/>
          <p:nvPr/>
        </p:nvSpPr>
        <p:spPr>
          <a:xfrm rot="0">
            <a:off x="2373858" y="4624224"/>
            <a:ext cx="7677542" cy="673618"/>
          </a:xfrm>
          <a:prstGeom prst="rect">
            <a:avLst/>
          </a:prstGeom>
        </p:spPr>
        <p:txBody>
          <a:bodyPr anchor="t" rtlCol="false" tIns="0" lIns="0" bIns="0" rIns="0">
            <a:spAutoFit/>
          </a:bodyPr>
          <a:lstStyle/>
          <a:p>
            <a:pPr algn="ctr">
              <a:lnSpc>
                <a:spcPts val="2664"/>
              </a:lnSpc>
              <a:spcBef>
                <a:spcPct val="0"/>
              </a:spcBef>
            </a:pPr>
            <a:r>
              <a:rPr lang="en-US" sz="2664" spc="213">
                <a:solidFill>
                  <a:srgbClr val="FFFFFF"/>
                </a:solidFill>
                <a:latin typeface="TT Hoves"/>
                <a:ea typeface="TT Hoves"/>
                <a:cs typeface="TT Hoves"/>
                <a:sym typeface="TT Hoves"/>
              </a:rPr>
              <a:t>Clasificarea tipurilor de sol din setul de date Soil Types </a:t>
            </a:r>
          </a:p>
        </p:txBody>
      </p:sp>
      <p:sp>
        <p:nvSpPr>
          <p:cNvPr name="TextBox 17" id="17"/>
          <p:cNvSpPr txBox="true"/>
          <p:nvPr/>
        </p:nvSpPr>
        <p:spPr>
          <a:xfrm rot="0">
            <a:off x="2435212" y="5904015"/>
            <a:ext cx="7677542" cy="673618"/>
          </a:xfrm>
          <a:prstGeom prst="rect">
            <a:avLst/>
          </a:prstGeom>
        </p:spPr>
        <p:txBody>
          <a:bodyPr anchor="t" rtlCol="false" tIns="0" lIns="0" bIns="0" rIns="0">
            <a:spAutoFit/>
          </a:bodyPr>
          <a:lstStyle/>
          <a:p>
            <a:pPr algn="ctr">
              <a:lnSpc>
                <a:spcPts val="2664"/>
              </a:lnSpc>
              <a:spcBef>
                <a:spcPct val="0"/>
              </a:spcBef>
            </a:pPr>
            <a:r>
              <a:rPr lang="en-US" sz="2664" spc="213">
                <a:solidFill>
                  <a:srgbClr val="FFFFFF"/>
                </a:solidFill>
                <a:latin typeface="TT Hoves"/>
                <a:ea typeface="TT Hoves"/>
                <a:cs typeface="TT Hoves"/>
                <a:sym typeface="TT Hoves"/>
              </a:rPr>
              <a:t>Compararea eficientei tehnicilor de machine learning</a:t>
            </a:r>
          </a:p>
        </p:txBody>
      </p:sp>
      <p:sp>
        <p:nvSpPr>
          <p:cNvPr name="TextBox 18" id="18"/>
          <p:cNvSpPr txBox="true"/>
          <p:nvPr/>
        </p:nvSpPr>
        <p:spPr>
          <a:xfrm rot="0">
            <a:off x="2587612" y="7361948"/>
            <a:ext cx="7677542" cy="1000403"/>
          </a:xfrm>
          <a:prstGeom prst="rect">
            <a:avLst/>
          </a:prstGeom>
        </p:spPr>
        <p:txBody>
          <a:bodyPr anchor="t" rtlCol="false" tIns="0" lIns="0" bIns="0" rIns="0">
            <a:spAutoFit/>
          </a:bodyPr>
          <a:lstStyle/>
          <a:p>
            <a:pPr algn="ctr">
              <a:lnSpc>
                <a:spcPts val="2664"/>
              </a:lnSpc>
              <a:spcBef>
                <a:spcPct val="0"/>
              </a:spcBef>
            </a:pPr>
            <a:r>
              <a:rPr lang="en-US" sz="2664" spc="213">
                <a:solidFill>
                  <a:srgbClr val="FFFFFF"/>
                </a:solidFill>
                <a:latin typeface="TT Hoves"/>
                <a:ea typeface="TT Hoves"/>
                <a:cs typeface="TT Hoves"/>
                <a:sym typeface="TT Hoves"/>
              </a:rPr>
              <a:t>Analiza acuratetii algoritmului RandomForest+Bag of Words si a modelului de deep learning ResNet pe setul de date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sp>
        <p:nvSpPr>
          <p:cNvPr name="AutoShape 2" id="2"/>
          <p:cNvSpPr/>
          <p:nvPr/>
        </p:nvSpPr>
        <p:spPr>
          <a:xfrm flipV="true">
            <a:off x="0" y="613170"/>
            <a:ext cx="18288000" cy="0"/>
          </a:xfrm>
          <a:prstGeom prst="line">
            <a:avLst/>
          </a:prstGeom>
          <a:ln cap="rnd" w="19050">
            <a:solidFill>
              <a:srgbClr val="000000"/>
            </a:solidFill>
            <a:prstDash val="solid"/>
            <a:headEnd type="none" len="sm" w="sm"/>
            <a:tailEnd type="none" len="sm" w="sm"/>
          </a:ln>
        </p:spPr>
      </p:sp>
      <p:grpSp>
        <p:nvGrpSpPr>
          <p:cNvPr name="Group 3" id="3"/>
          <p:cNvGrpSpPr/>
          <p:nvPr/>
        </p:nvGrpSpPr>
        <p:grpSpPr>
          <a:xfrm rot="0">
            <a:off x="10049711" y="3066817"/>
            <a:ext cx="2463389" cy="1107170"/>
            <a:chOff x="0" y="0"/>
            <a:chExt cx="529503" cy="237985"/>
          </a:xfrm>
        </p:grpSpPr>
        <p:sp>
          <p:nvSpPr>
            <p:cNvPr name="Freeform 4" id="4"/>
            <p:cNvSpPr/>
            <p:nvPr/>
          </p:nvSpPr>
          <p:spPr>
            <a:xfrm flipH="false" flipV="false" rot="0">
              <a:off x="0" y="0"/>
              <a:ext cx="529503" cy="237985"/>
            </a:xfrm>
            <a:custGeom>
              <a:avLst/>
              <a:gdLst/>
              <a:ahLst/>
              <a:cxnLst/>
              <a:rect r="r" b="b" t="t" l="l"/>
              <a:pathLst>
                <a:path h="237985" w="529503">
                  <a:moveTo>
                    <a:pt x="118993" y="0"/>
                  </a:moveTo>
                  <a:lnTo>
                    <a:pt x="410510" y="0"/>
                  </a:lnTo>
                  <a:cubicBezTo>
                    <a:pt x="442069" y="0"/>
                    <a:pt x="472335" y="12537"/>
                    <a:pt x="494651" y="34852"/>
                  </a:cubicBezTo>
                  <a:cubicBezTo>
                    <a:pt x="516966" y="57168"/>
                    <a:pt x="529503" y="87434"/>
                    <a:pt x="529503" y="118993"/>
                  </a:cubicBezTo>
                  <a:lnTo>
                    <a:pt x="529503" y="118993"/>
                  </a:lnTo>
                  <a:cubicBezTo>
                    <a:pt x="529503" y="184710"/>
                    <a:pt x="476228" y="237985"/>
                    <a:pt x="410510" y="237985"/>
                  </a:cubicBezTo>
                  <a:lnTo>
                    <a:pt x="118993" y="237985"/>
                  </a:lnTo>
                  <a:cubicBezTo>
                    <a:pt x="53275" y="237985"/>
                    <a:pt x="0" y="184710"/>
                    <a:pt x="0" y="118993"/>
                  </a:cubicBezTo>
                  <a:lnTo>
                    <a:pt x="0" y="118993"/>
                  </a:lnTo>
                  <a:cubicBezTo>
                    <a:pt x="0" y="53275"/>
                    <a:pt x="53275" y="0"/>
                    <a:pt x="118993" y="0"/>
                  </a:cubicBezTo>
                  <a:close/>
                </a:path>
              </a:pathLst>
            </a:custGeom>
            <a:solidFill>
              <a:srgbClr val="4C5526"/>
            </a:solidFill>
          </p:spPr>
        </p:sp>
        <p:sp>
          <p:nvSpPr>
            <p:cNvPr name="TextBox 5" id="5"/>
            <p:cNvSpPr txBox="true"/>
            <p:nvPr/>
          </p:nvSpPr>
          <p:spPr>
            <a:xfrm>
              <a:off x="0" y="38100"/>
              <a:ext cx="529503" cy="199885"/>
            </a:xfrm>
            <a:prstGeom prst="rect">
              <a:avLst/>
            </a:prstGeom>
          </p:spPr>
          <p:txBody>
            <a:bodyPr anchor="ctr" rtlCol="false" tIns="50800" lIns="50800" bIns="50800" rIns="50800"/>
            <a:lstStyle/>
            <a:p>
              <a:pPr algn="ctr">
                <a:lnSpc>
                  <a:spcPts val="2174"/>
                </a:lnSpc>
              </a:pPr>
              <a:r>
                <a:rPr lang="en-US" sz="2174">
                  <a:solidFill>
                    <a:srgbClr val="FFFFFF"/>
                  </a:solidFill>
                  <a:latin typeface="DM Sans"/>
                  <a:ea typeface="DM Sans"/>
                  <a:cs typeface="DM Sans"/>
                  <a:sym typeface="DM Sans"/>
                </a:rPr>
                <a:t>Black Soil</a:t>
              </a:r>
            </a:p>
            <a:p>
              <a:pPr algn="ctr">
                <a:lnSpc>
                  <a:spcPts val="2174"/>
                </a:lnSpc>
              </a:pPr>
              <a:r>
                <a:rPr lang="en-US" sz="2174">
                  <a:solidFill>
                    <a:srgbClr val="FFFFFF"/>
                  </a:solidFill>
                  <a:latin typeface="DM Sans"/>
                  <a:ea typeface="DM Sans"/>
                  <a:cs typeface="DM Sans"/>
                  <a:sym typeface="DM Sans"/>
                </a:rPr>
                <a:t>37 imagini</a:t>
              </a:r>
            </a:p>
          </p:txBody>
        </p:sp>
      </p:grpSp>
      <p:grpSp>
        <p:nvGrpSpPr>
          <p:cNvPr name="Group 6" id="6"/>
          <p:cNvGrpSpPr/>
          <p:nvPr/>
        </p:nvGrpSpPr>
        <p:grpSpPr>
          <a:xfrm rot="0">
            <a:off x="15534550" y="3049271"/>
            <a:ext cx="2542542" cy="1124717"/>
            <a:chOff x="0" y="0"/>
            <a:chExt cx="546517" cy="241757"/>
          </a:xfrm>
        </p:grpSpPr>
        <p:sp>
          <p:nvSpPr>
            <p:cNvPr name="Freeform 7" id="7"/>
            <p:cNvSpPr/>
            <p:nvPr/>
          </p:nvSpPr>
          <p:spPr>
            <a:xfrm flipH="false" flipV="false" rot="0">
              <a:off x="0" y="0"/>
              <a:ext cx="546517" cy="241757"/>
            </a:xfrm>
            <a:custGeom>
              <a:avLst/>
              <a:gdLst/>
              <a:ahLst/>
              <a:cxnLst/>
              <a:rect r="r" b="b" t="t" l="l"/>
              <a:pathLst>
                <a:path h="241757" w="546517">
                  <a:moveTo>
                    <a:pt x="120878" y="0"/>
                  </a:moveTo>
                  <a:lnTo>
                    <a:pt x="425639" y="0"/>
                  </a:lnTo>
                  <a:cubicBezTo>
                    <a:pt x="457697" y="0"/>
                    <a:pt x="488443" y="12735"/>
                    <a:pt x="511112" y="35404"/>
                  </a:cubicBezTo>
                  <a:cubicBezTo>
                    <a:pt x="533782" y="58074"/>
                    <a:pt x="546517" y="88819"/>
                    <a:pt x="546517" y="120878"/>
                  </a:cubicBezTo>
                  <a:lnTo>
                    <a:pt x="546517" y="120878"/>
                  </a:lnTo>
                  <a:cubicBezTo>
                    <a:pt x="546517" y="152937"/>
                    <a:pt x="533782" y="183683"/>
                    <a:pt x="511112" y="206352"/>
                  </a:cubicBezTo>
                  <a:cubicBezTo>
                    <a:pt x="488443" y="229021"/>
                    <a:pt x="457697" y="241757"/>
                    <a:pt x="425639" y="241757"/>
                  </a:cubicBezTo>
                  <a:lnTo>
                    <a:pt x="120878" y="241757"/>
                  </a:lnTo>
                  <a:cubicBezTo>
                    <a:pt x="88819" y="241757"/>
                    <a:pt x="58074" y="229021"/>
                    <a:pt x="35404" y="206352"/>
                  </a:cubicBezTo>
                  <a:cubicBezTo>
                    <a:pt x="12735" y="183683"/>
                    <a:pt x="0" y="152937"/>
                    <a:pt x="0" y="120878"/>
                  </a:cubicBezTo>
                  <a:lnTo>
                    <a:pt x="0" y="120878"/>
                  </a:lnTo>
                  <a:cubicBezTo>
                    <a:pt x="0" y="88819"/>
                    <a:pt x="12735" y="58074"/>
                    <a:pt x="35404" y="35404"/>
                  </a:cubicBezTo>
                  <a:cubicBezTo>
                    <a:pt x="58074" y="12735"/>
                    <a:pt x="88819" y="0"/>
                    <a:pt x="120878" y="0"/>
                  </a:cubicBezTo>
                  <a:close/>
                </a:path>
              </a:pathLst>
            </a:custGeom>
            <a:solidFill>
              <a:srgbClr val="4C5526"/>
            </a:solidFill>
          </p:spPr>
        </p:sp>
        <p:sp>
          <p:nvSpPr>
            <p:cNvPr name="TextBox 8" id="8"/>
            <p:cNvSpPr txBox="true"/>
            <p:nvPr/>
          </p:nvSpPr>
          <p:spPr>
            <a:xfrm>
              <a:off x="0" y="38100"/>
              <a:ext cx="546517" cy="203657"/>
            </a:xfrm>
            <a:prstGeom prst="rect">
              <a:avLst/>
            </a:prstGeom>
          </p:spPr>
          <p:txBody>
            <a:bodyPr anchor="ctr" rtlCol="false" tIns="50800" lIns="50800" bIns="50800" rIns="50800"/>
            <a:lstStyle/>
            <a:p>
              <a:pPr algn="ctr">
                <a:lnSpc>
                  <a:spcPts val="2174"/>
                </a:lnSpc>
              </a:pPr>
              <a:r>
                <a:rPr lang="en-US" sz="2174">
                  <a:solidFill>
                    <a:srgbClr val="FFFFFF"/>
                  </a:solidFill>
                  <a:latin typeface="DM Sans"/>
                  <a:ea typeface="DM Sans"/>
                  <a:cs typeface="DM Sans"/>
                  <a:sym typeface="DM Sans"/>
                </a:rPr>
                <a:t>Cinder Soil</a:t>
              </a:r>
            </a:p>
            <a:p>
              <a:pPr algn="ctr">
                <a:lnSpc>
                  <a:spcPts val="2174"/>
                </a:lnSpc>
              </a:pPr>
              <a:r>
                <a:rPr lang="en-US" sz="2174">
                  <a:solidFill>
                    <a:srgbClr val="FFFFFF"/>
                  </a:solidFill>
                  <a:latin typeface="DM Sans"/>
                  <a:ea typeface="DM Sans"/>
                  <a:cs typeface="DM Sans"/>
                  <a:sym typeface="DM Sans"/>
                </a:rPr>
                <a:t>30 imagini</a:t>
              </a:r>
            </a:p>
          </p:txBody>
        </p:sp>
      </p:grpSp>
      <p:grpSp>
        <p:nvGrpSpPr>
          <p:cNvPr name="Group 9" id="9"/>
          <p:cNvGrpSpPr/>
          <p:nvPr/>
        </p:nvGrpSpPr>
        <p:grpSpPr>
          <a:xfrm rot="0">
            <a:off x="11398138" y="4521715"/>
            <a:ext cx="2542542" cy="1124717"/>
            <a:chOff x="0" y="0"/>
            <a:chExt cx="546517" cy="241757"/>
          </a:xfrm>
        </p:grpSpPr>
        <p:sp>
          <p:nvSpPr>
            <p:cNvPr name="Freeform 10" id="10"/>
            <p:cNvSpPr/>
            <p:nvPr/>
          </p:nvSpPr>
          <p:spPr>
            <a:xfrm flipH="false" flipV="false" rot="0">
              <a:off x="0" y="0"/>
              <a:ext cx="546517" cy="241757"/>
            </a:xfrm>
            <a:custGeom>
              <a:avLst/>
              <a:gdLst/>
              <a:ahLst/>
              <a:cxnLst/>
              <a:rect r="r" b="b" t="t" l="l"/>
              <a:pathLst>
                <a:path h="241757" w="546517">
                  <a:moveTo>
                    <a:pt x="120878" y="0"/>
                  </a:moveTo>
                  <a:lnTo>
                    <a:pt x="425639" y="0"/>
                  </a:lnTo>
                  <a:cubicBezTo>
                    <a:pt x="457697" y="0"/>
                    <a:pt x="488443" y="12735"/>
                    <a:pt x="511112" y="35404"/>
                  </a:cubicBezTo>
                  <a:cubicBezTo>
                    <a:pt x="533782" y="58074"/>
                    <a:pt x="546517" y="88819"/>
                    <a:pt x="546517" y="120878"/>
                  </a:cubicBezTo>
                  <a:lnTo>
                    <a:pt x="546517" y="120878"/>
                  </a:lnTo>
                  <a:cubicBezTo>
                    <a:pt x="546517" y="152937"/>
                    <a:pt x="533782" y="183683"/>
                    <a:pt x="511112" y="206352"/>
                  </a:cubicBezTo>
                  <a:cubicBezTo>
                    <a:pt x="488443" y="229021"/>
                    <a:pt x="457697" y="241757"/>
                    <a:pt x="425639" y="241757"/>
                  </a:cubicBezTo>
                  <a:lnTo>
                    <a:pt x="120878" y="241757"/>
                  </a:lnTo>
                  <a:cubicBezTo>
                    <a:pt x="88819" y="241757"/>
                    <a:pt x="58074" y="229021"/>
                    <a:pt x="35404" y="206352"/>
                  </a:cubicBezTo>
                  <a:cubicBezTo>
                    <a:pt x="12735" y="183683"/>
                    <a:pt x="0" y="152937"/>
                    <a:pt x="0" y="120878"/>
                  </a:cubicBezTo>
                  <a:lnTo>
                    <a:pt x="0" y="120878"/>
                  </a:lnTo>
                  <a:cubicBezTo>
                    <a:pt x="0" y="88819"/>
                    <a:pt x="12735" y="58074"/>
                    <a:pt x="35404" y="35404"/>
                  </a:cubicBezTo>
                  <a:cubicBezTo>
                    <a:pt x="58074" y="12735"/>
                    <a:pt x="88819" y="0"/>
                    <a:pt x="120878" y="0"/>
                  </a:cubicBezTo>
                  <a:close/>
                </a:path>
              </a:pathLst>
            </a:custGeom>
            <a:solidFill>
              <a:srgbClr val="4C5526"/>
            </a:solidFill>
          </p:spPr>
        </p:sp>
        <p:sp>
          <p:nvSpPr>
            <p:cNvPr name="TextBox 11" id="11"/>
            <p:cNvSpPr txBox="true"/>
            <p:nvPr/>
          </p:nvSpPr>
          <p:spPr>
            <a:xfrm>
              <a:off x="0" y="38100"/>
              <a:ext cx="546517" cy="203657"/>
            </a:xfrm>
            <a:prstGeom prst="rect">
              <a:avLst/>
            </a:prstGeom>
          </p:spPr>
          <p:txBody>
            <a:bodyPr anchor="ctr" rtlCol="false" tIns="50800" lIns="50800" bIns="50800" rIns="50800"/>
            <a:lstStyle/>
            <a:p>
              <a:pPr algn="ctr">
                <a:lnSpc>
                  <a:spcPts val="2174"/>
                </a:lnSpc>
              </a:pPr>
              <a:r>
                <a:rPr lang="en-US" sz="2174">
                  <a:solidFill>
                    <a:srgbClr val="FFFFFF"/>
                  </a:solidFill>
                  <a:latin typeface="DM Sans"/>
                  <a:ea typeface="DM Sans"/>
                  <a:cs typeface="DM Sans"/>
                  <a:sym typeface="DM Sans"/>
                </a:rPr>
                <a:t>Laterite Soil</a:t>
              </a:r>
            </a:p>
            <a:p>
              <a:pPr algn="ctr">
                <a:lnSpc>
                  <a:spcPts val="2174"/>
                </a:lnSpc>
              </a:pPr>
              <a:r>
                <a:rPr lang="en-US" sz="2174">
                  <a:solidFill>
                    <a:srgbClr val="FFFFFF"/>
                  </a:solidFill>
                  <a:latin typeface="DM Sans"/>
                  <a:ea typeface="DM Sans"/>
                  <a:cs typeface="DM Sans"/>
                  <a:sym typeface="DM Sans"/>
                </a:rPr>
                <a:t>30 imagini</a:t>
              </a:r>
            </a:p>
          </p:txBody>
        </p:sp>
      </p:grpSp>
      <p:grpSp>
        <p:nvGrpSpPr>
          <p:cNvPr name="Group 12" id="12"/>
          <p:cNvGrpSpPr/>
          <p:nvPr/>
        </p:nvGrpSpPr>
        <p:grpSpPr>
          <a:xfrm rot="0">
            <a:off x="14534137" y="4521715"/>
            <a:ext cx="2542542" cy="1124717"/>
            <a:chOff x="0" y="0"/>
            <a:chExt cx="546517" cy="241757"/>
          </a:xfrm>
        </p:grpSpPr>
        <p:sp>
          <p:nvSpPr>
            <p:cNvPr name="Freeform 13" id="13"/>
            <p:cNvSpPr/>
            <p:nvPr/>
          </p:nvSpPr>
          <p:spPr>
            <a:xfrm flipH="false" flipV="false" rot="0">
              <a:off x="0" y="0"/>
              <a:ext cx="546517" cy="241757"/>
            </a:xfrm>
            <a:custGeom>
              <a:avLst/>
              <a:gdLst/>
              <a:ahLst/>
              <a:cxnLst/>
              <a:rect r="r" b="b" t="t" l="l"/>
              <a:pathLst>
                <a:path h="241757" w="546517">
                  <a:moveTo>
                    <a:pt x="120878" y="0"/>
                  </a:moveTo>
                  <a:lnTo>
                    <a:pt x="425639" y="0"/>
                  </a:lnTo>
                  <a:cubicBezTo>
                    <a:pt x="457697" y="0"/>
                    <a:pt x="488443" y="12735"/>
                    <a:pt x="511112" y="35404"/>
                  </a:cubicBezTo>
                  <a:cubicBezTo>
                    <a:pt x="533782" y="58074"/>
                    <a:pt x="546517" y="88819"/>
                    <a:pt x="546517" y="120878"/>
                  </a:cubicBezTo>
                  <a:lnTo>
                    <a:pt x="546517" y="120878"/>
                  </a:lnTo>
                  <a:cubicBezTo>
                    <a:pt x="546517" y="152937"/>
                    <a:pt x="533782" y="183683"/>
                    <a:pt x="511112" y="206352"/>
                  </a:cubicBezTo>
                  <a:cubicBezTo>
                    <a:pt x="488443" y="229021"/>
                    <a:pt x="457697" y="241757"/>
                    <a:pt x="425639" y="241757"/>
                  </a:cubicBezTo>
                  <a:lnTo>
                    <a:pt x="120878" y="241757"/>
                  </a:lnTo>
                  <a:cubicBezTo>
                    <a:pt x="88819" y="241757"/>
                    <a:pt x="58074" y="229021"/>
                    <a:pt x="35404" y="206352"/>
                  </a:cubicBezTo>
                  <a:cubicBezTo>
                    <a:pt x="12735" y="183683"/>
                    <a:pt x="0" y="152937"/>
                    <a:pt x="0" y="120878"/>
                  </a:cubicBezTo>
                  <a:lnTo>
                    <a:pt x="0" y="120878"/>
                  </a:lnTo>
                  <a:cubicBezTo>
                    <a:pt x="0" y="88819"/>
                    <a:pt x="12735" y="58074"/>
                    <a:pt x="35404" y="35404"/>
                  </a:cubicBezTo>
                  <a:cubicBezTo>
                    <a:pt x="58074" y="12735"/>
                    <a:pt x="88819" y="0"/>
                    <a:pt x="120878" y="0"/>
                  </a:cubicBezTo>
                  <a:close/>
                </a:path>
              </a:pathLst>
            </a:custGeom>
            <a:solidFill>
              <a:srgbClr val="4C5526"/>
            </a:solidFill>
          </p:spPr>
        </p:sp>
        <p:sp>
          <p:nvSpPr>
            <p:cNvPr name="TextBox 14" id="14"/>
            <p:cNvSpPr txBox="true"/>
            <p:nvPr/>
          </p:nvSpPr>
          <p:spPr>
            <a:xfrm>
              <a:off x="0" y="38100"/>
              <a:ext cx="546517" cy="203657"/>
            </a:xfrm>
            <a:prstGeom prst="rect">
              <a:avLst/>
            </a:prstGeom>
          </p:spPr>
          <p:txBody>
            <a:bodyPr anchor="ctr" rtlCol="false" tIns="50800" lIns="50800" bIns="50800" rIns="50800"/>
            <a:lstStyle/>
            <a:p>
              <a:pPr algn="ctr">
                <a:lnSpc>
                  <a:spcPts val="2174"/>
                </a:lnSpc>
              </a:pPr>
              <a:r>
                <a:rPr lang="en-US" sz="2174">
                  <a:solidFill>
                    <a:srgbClr val="FFFFFF"/>
                  </a:solidFill>
                  <a:latin typeface="DM Sans"/>
                  <a:ea typeface="DM Sans"/>
                  <a:cs typeface="DM Sans"/>
                  <a:sym typeface="DM Sans"/>
                </a:rPr>
                <a:t>Peat Soil</a:t>
              </a:r>
            </a:p>
            <a:p>
              <a:pPr algn="ctr">
                <a:lnSpc>
                  <a:spcPts val="2174"/>
                </a:lnSpc>
              </a:pPr>
              <a:r>
                <a:rPr lang="en-US" sz="2174">
                  <a:solidFill>
                    <a:srgbClr val="FFFFFF"/>
                  </a:solidFill>
                  <a:latin typeface="DM Sans"/>
                  <a:ea typeface="DM Sans"/>
                  <a:cs typeface="DM Sans"/>
                  <a:sym typeface="DM Sans"/>
                </a:rPr>
                <a:t>30 imagini</a:t>
              </a:r>
            </a:p>
          </p:txBody>
        </p:sp>
      </p:grpSp>
      <p:grpSp>
        <p:nvGrpSpPr>
          <p:cNvPr name="Group 15" id="15"/>
          <p:cNvGrpSpPr/>
          <p:nvPr/>
        </p:nvGrpSpPr>
        <p:grpSpPr>
          <a:xfrm rot="0">
            <a:off x="12753883" y="3049271"/>
            <a:ext cx="2542542" cy="1124717"/>
            <a:chOff x="0" y="0"/>
            <a:chExt cx="546517" cy="241757"/>
          </a:xfrm>
        </p:grpSpPr>
        <p:sp>
          <p:nvSpPr>
            <p:cNvPr name="Freeform 16" id="16"/>
            <p:cNvSpPr/>
            <p:nvPr/>
          </p:nvSpPr>
          <p:spPr>
            <a:xfrm flipH="false" flipV="false" rot="0">
              <a:off x="0" y="0"/>
              <a:ext cx="546517" cy="241757"/>
            </a:xfrm>
            <a:custGeom>
              <a:avLst/>
              <a:gdLst/>
              <a:ahLst/>
              <a:cxnLst/>
              <a:rect r="r" b="b" t="t" l="l"/>
              <a:pathLst>
                <a:path h="241757" w="546517">
                  <a:moveTo>
                    <a:pt x="120878" y="0"/>
                  </a:moveTo>
                  <a:lnTo>
                    <a:pt x="425639" y="0"/>
                  </a:lnTo>
                  <a:cubicBezTo>
                    <a:pt x="457697" y="0"/>
                    <a:pt x="488443" y="12735"/>
                    <a:pt x="511112" y="35404"/>
                  </a:cubicBezTo>
                  <a:cubicBezTo>
                    <a:pt x="533782" y="58074"/>
                    <a:pt x="546517" y="88819"/>
                    <a:pt x="546517" y="120878"/>
                  </a:cubicBezTo>
                  <a:lnTo>
                    <a:pt x="546517" y="120878"/>
                  </a:lnTo>
                  <a:cubicBezTo>
                    <a:pt x="546517" y="152937"/>
                    <a:pt x="533782" y="183683"/>
                    <a:pt x="511112" y="206352"/>
                  </a:cubicBezTo>
                  <a:cubicBezTo>
                    <a:pt x="488443" y="229021"/>
                    <a:pt x="457697" y="241757"/>
                    <a:pt x="425639" y="241757"/>
                  </a:cubicBezTo>
                  <a:lnTo>
                    <a:pt x="120878" y="241757"/>
                  </a:lnTo>
                  <a:cubicBezTo>
                    <a:pt x="88819" y="241757"/>
                    <a:pt x="58074" y="229021"/>
                    <a:pt x="35404" y="206352"/>
                  </a:cubicBezTo>
                  <a:cubicBezTo>
                    <a:pt x="12735" y="183683"/>
                    <a:pt x="0" y="152937"/>
                    <a:pt x="0" y="120878"/>
                  </a:cubicBezTo>
                  <a:lnTo>
                    <a:pt x="0" y="120878"/>
                  </a:lnTo>
                  <a:cubicBezTo>
                    <a:pt x="0" y="88819"/>
                    <a:pt x="12735" y="58074"/>
                    <a:pt x="35404" y="35404"/>
                  </a:cubicBezTo>
                  <a:cubicBezTo>
                    <a:pt x="58074" y="12735"/>
                    <a:pt x="88819" y="0"/>
                    <a:pt x="120878" y="0"/>
                  </a:cubicBezTo>
                  <a:close/>
                </a:path>
              </a:pathLst>
            </a:custGeom>
            <a:solidFill>
              <a:srgbClr val="4C5526"/>
            </a:solidFill>
          </p:spPr>
        </p:sp>
        <p:sp>
          <p:nvSpPr>
            <p:cNvPr name="TextBox 17" id="17"/>
            <p:cNvSpPr txBox="true"/>
            <p:nvPr/>
          </p:nvSpPr>
          <p:spPr>
            <a:xfrm>
              <a:off x="0" y="38100"/>
              <a:ext cx="546517" cy="203657"/>
            </a:xfrm>
            <a:prstGeom prst="rect">
              <a:avLst/>
            </a:prstGeom>
          </p:spPr>
          <p:txBody>
            <a:bodyPr anchor="ctr" rtlCol="false" tIns="50800" lIns="50800" bIns="50800" rIns="50800"/>
            <a:lstStyle/>
            <a:p>
              <a:pPr algn="ctr">
                <a:lnSpc>
                  <a:spcPts val="2174"/>
                </a:lnSpc>
              </a:pPr>
              <a:r>
                <a:rPr lang="en-US" sz="2174">
                  <a:solidFill>
                    <a:srgbClr val="FFFFFF"/>
                  </a:solidFill>
                  <a:latin typeface="DM Sans"/>
                  <a:ea typeface="DM Sans"/>
                  <a:cs typeface="DM Sans"/>
                  <a:sym typeface="DM Sans"/>
                </a:rPr>
                <a:t>Yellow Soil</a:t>
              </a:r>
            </a:p>
            <a:p>
              <a:pPr algn="ctr">
                <a:lnSpc>
                  <a:spcPts val="2174"/>
                </a:lnSpc>
              </a:pPr>
              <a:r>
                <a:rPr lang="en-US" sz="2174">
                  <a:solidFill>
                    <a:srgbClr val="FFFFFF"/>
                  </a:solidFill>
                  <a:latin typeface="DM Sans"/>
                  <a:ea typeface="DM Sans"/>
                  <a:cs typeface="DM Sans"/>
                  <a:sym typeface="DM Sans"/>
                </a:rPr>
                <a:t>29 imagini</a:t>
              </a:r>
            </a:p>
          </p:txBody>
        </p:sp>
      </p:grpSp>
      <p:sp>
        <p:nvSpPr>
          <p:cNvPr name="Freeform 18" id="18"/>
          <p:cNvSpPr/>
          <p:nvPr/>
        </p:nvSpPr>
        <p:spPr>
          <a:xfrm flipH="false" flipV="false" rot="0">
            <a:off x="9315514" y="6665607"/>
            <a:ext cx="4359307" cy="2839395"/>
          </a:xfrm>
          <a:custGeom>
            <a:avLst/>
            <a:gdLst/>
            <a:ahLst/>
            <a:cxnLst/>
            <a:rect r="r" b="b" t="t" l="l"/>
            <a:pathLst>
              <a:path h="2839395" w="4359307">
                <a:moveTo>
                  <a:pt x="0" y="0"/>
                </a:moveTo>
                <a:lnTo>
                  <a:pt x="4359306" y="0"/>
                </a:lnTo>
                <a:lnTo>
                  <a:pt x="4359306" y="2839395"/>
                </a:lnTo>
                <a:lnTo>
                  <a:pt x="0" y="2839395"/>
                </a:lnTo>
                <a:lnTo>
                  <a:pt x="0" y="0"/>
                </a:lnTo>
                <a:close/>
              </a:path>
            </a:pathLst>
          </a:custGeom>
          <a:blipFill>
            <a:blip r:embed="rId2"/>
            <a:stretch>
              <a:fillRect l="0" t="0" r="0" b="0"/>
            </a:stretch>
          </a:blipFill>
        </p:spPr>
      </p:sp>
      <p:sp>
        <p:nvSpPr>
          <p:cNvPr name="Freeform 19" id="19"/>
          <p:cNvSpPr/>
          <p:nvPr/>
        </p:nvSpPr>
        <p:spPr>
          <a:xfrm flipH="false" flipV="false" rot="0">
            <a:off x="14427180" y="6727005"/>
            <a:ext cx="3174854" cy="2777997"/>
          </a:xfrm>
          <a:custGeom>
            <a:avLst/>
            <a:gdLst/>
            <a:ahLst/>
            <a:cxnLst/>
            <a:rect r="r" b="b" t="t" l="l"/>
            <a:pathLst>
              <a:path h="2777997" w="3174854">
                <a:moveTo>
                  <a:pt x="0" y="0"/>
                </a:moveTo>
                <a:lnTo>
                  <a:pt x="3174854" y="0"/>
                </a:lnTo>
                <a:lnTo>
                  <a:pt x="3174854" y="2777997"/>
                </a:lnTo>
                <a:lnTo>
                  <a:pt x="0" y="2777997"/>
                </a:lnTo>
                <a:lnTo>
                  <a:pt x="0" y="0"/>
                </a:lnTo>
                <a:close/>
              </a:path>
            </a:pathLst>
          </a:custGeom>
          <a:blipFill>
            <a:blip r:embed="rId3"/>
            <a:stretch>
              <a:fillRect l="0" t="0" r="0" b="0"/>
            </a:stretch>
          </a:blipFill>
        </p:spPr>
      </p:sp>
      <p:sp>
        <p:nvSpPr>
          <p:cNvPr name="TextBox 20" id="20"/>
          <p:cNvSpPr txBox="true"/>
          <p:nvPr/>
        </p:nvSpPr>
        <p:spPr>
          <a:xfrm rot="0">
            <a:off x="1787124" y="1185800"/>
            <a:ext cx="8973719" cy="862076"/>
          </a:xfrm>
          <a:prstGeom prst="rect">
            <a:avLst/>
          </a:prstGeom>
        </p:spPr>
        <p:txBody>
          <a:bodyPr anchor="t" rtlCol="false" tIns="0" lIns="0" bIns="0" rIns="0">
            <a:spAutoFit/>
          </a:bodyPr>
          <a:lstStyle/>
          <a:p>
            <a:pPr algn="ctr" marL="0" indent="0" lvl="0">
              <a:lnSpc>
                <a:spcPts val="6591"/>
              </a:lnSpc>
              <a:spcBef>
                <a:spcPct val="0"/>
              </a:spcBef>
            </a:pPr>
            <a:r>
              <a:rPr lang="en-US" sz="6399">
                <a:solidFill>
                  <a:srgbClr val="1A160F"/>
                </a:solidFill>
                <a:latin typeface="Archivo Black"/>
                <a:ea typeface="Archivo Black"/>
                <a:cs typeface="Archivo Black"/>
                <a:sym typeface="Archivo Black"/>
              </a:rPr>
              <a:t>SETUL DE DATE</a:t>
            </a:r>
          </a:p>
        </p:txBody>
      </p:sp>
      <p:sp>
        <p:nvSpPr>
          <p:cNvPr name="TextBox 21" id="21"/>
          <p:cNvSpPr txBox="true"/>
          <p:nvPr/>
        </p:nvSpPr>
        <p:spPr>
          <a:xfrm rot="0">
            <a:off x="335843" y="2842526"/>
            <a:ext cx="9091880" cy="1505326"/>
          </a:xfrm>
          <a:prstGeom prst="rect">
            <a:avLst/>
          </a:prstGeom>
        </p:spPr>
        <p:txBody>
          <a:bodyPr anchor="t" rtlCol="false" tIns="0" lIns="0" bIns="0" rIns="0">
            <a:spAutoFit/>
          </a:bodyPr>
          <a:lstStyle/>
          <a:p>
            <a:pPr algn="l">
              <a:lnSpc>
                <a:spcPts val="6281"/>
              </a:lnSpc>
            </a:pPr>
            <a:r>
              <a:rPr lang="en-US" sz="3610" spc="90">
                <a:solidFill>
                  <a:srgbClr val="1A160F"/>
                </a:solidFill>
                <a:latin typeface="TT Hoves"/>
                <a:ea typeface="TT Hoves"/>
                <a:cs typeface="TT Hoves"/>
                <a:sym typeface="TT Hoves"/>
              </a:rPr>
              <a:t>Soil Types este un set de date alcatuit din 5 clase cu 156 de imagini in total</a:t>
            </a:r>
          </a:p>
        </p:txBody>
      </p:sp>
      <p:sp>
        <p:nvSpPr>
          <p:cNvPr name="TextBox 22" id="22"/>
          <p:cNvSpPr txBox="true"/>
          <p:nvPr/>
        </p:nvSpPr>
        <p:spPr>
          <a:xfrm rot="0">
            <a:off x="320760" y="4747011"/>
            <a:ext cx="8424190" cy="3583281"/>
          </a:xfrm>
          <a:prstGeom prst="rect">
            <a:avLst/>
          </a:prstGeom>
        </p:spPr>
        <p:txBody>
          <a:bodyPr anchor="t" rtlCol="false" tIns="0" lIns="0" bIns="0" rIns="0">
            <a:spAutoFit/>
          </a:bodyPr>
          <a:lstStyle/>
          <a:p>
            <a:pPr algn="l">
              <a:lnSpc>
                <a:spcPts val="5820"/>
              </a:lnSpc>
            </a:pPr>
            <a:r>
              <a:rPr lang="en-US" sz="3344" spc="83">
                <a:solidFill>
                  <a:srgbClr val="1A160F"/>
                </a:solidFill>
                <a:latin typeface="TT Hoves"/>
                <a:ea typeface="TT Hoves"/>
                <a:cs typeface="TT Hoves"/>
                <a:sym typeface="TT Hoves"/>
              </a:rPr>
              <a:t>Setul de date are numarul elementelor din fiecare clasa echilibrat, ceea ce duce la:</a:t>
            </a:r>
          </a:p>
          <a:p>
            <a:pPr algn="l" marL="722183" indent="-361091" lvl="1">
              <a:lnSpc>
                <a:spcPts val="5820"/>
              </a:lnSpc>
              <a:buFont typeface="Arial"/>
              <a:buChar char="•"/>
            </a:pPr>
            <a:r>
              <a:rPr lang="en-US" sz="3344" spc="83">
                <a:solidFill>
                  <a:srgbClr val="1A160F"/>
                </a:solidFill>
                <a:latin typeface="TT Hoves"/>
                <a:ea typeface="TT Hoves"/>
                <a:cs typeface="TT Hoves"/>
                <a:sym typeface="TT Hoves"/>
              </a:rPr>
              <a:t>Evitarea bias-ului in antrenare</a:t>
            </a:r>
          </a:p>
          <a:p>
            <a:pPr algn="l" marL="722183" indent="-361091" lvl="1">
              <a:lnSpc>
                <a:spcPts val="5820"/>
              </a:lnSpc>
              <a:buFont typeface="Arial"/>
              <a:buChar char="•"/>
            </a:pPr>
            <a:r>
              <a:rPr lang="en-US" sz="3344" spc="83">
                <a:solidFill>
                  <a:srgbClr val="1A160F"/>
                </a:solidFill>
                <a:latin typeface="TT Hoves"/>
                <a:ea typeface="TT Hoves"/>
                <a:cs typeface="TT Hoves"/>
                <a:sym typeface="TT Hoves"/>
              </a:rPr>
              <a:t>Masurarea corecta a performantei</a:t>
            </a:r>
          </a:p>
          <a:p>
            <a:pPr algn="l" marL="722183" indent="-361091" lvl="1">
              <a:lnSpc>
                <a:spcPts val="5820"/>
              </a:lnSpc>
              <a:buFont typeface="Arial"/>
              <a:buChar char="•"/>
            </a:pPr>
            <a:r>
              <a:rPr lang="en-US" sz="3344" spc="83">
                <a:solidFill>
                  <a:srgbClr val="1A160F"/>
                </a:solidFill>
                <a:latin typeface="TT Hoves"/>
                <a:ea typeface="TT Hoves"/>
                <a:cs typeface="TT Hoves"/>
                <a:sym typeface="TT Hoves"/>
              </a:rPr>
              <a:t>Prevenirea clasificatorului majoritar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sp>
        <p:nvSpPr>
          <p:cNvPr name="AutoShape 2" id="2"/>
          <p:cNvSpPr/>
          <p:nvPr/>
        </p:nvSpPr>
        <p:spPr>
          <a:xfrm flipV="true">
            <a:off x="0" y="603645"/>
            <a:ext cx="18288000" cy="0"/>
          </a:xfrm>
          <a:prstGeom prst="line">
            <a:avLst/>
          </a:prstGeom>
          <a:ln cap="rnd" w="19050">
            <a:solidFill>
              <a:srgbClr val="000000"/>
            </a:solidFill>
            <a:prstDash val="solid"/>
            <a:headEnd type="none" len="sm" w="sm"/>
            <a:tailEnd type="none" len="sm" w="sm"/>
          </a:ln>
        </p:spPr>
      </p:sp>
      <p:grpSp>
        <p:nvGrpSpPr>
          <p:cNvPr name="Group 3" id="3"/>
          <p:cNvGrpSpPr/>
          <p:nvPr/>
        </p:nvGrpSpPr>
        <p:grpSpPr>
          <a:xfrm rot="0">
            <a:off x="993051" y="3019337"/>
            <a:ext cx="7677542" cy="975037"/>
            <a:chOff x="0" y="0"/>
            <a:chExt cx="1650280" cy="209583"/>
          </a:xfrm>
        </p:grpSpPr>
        <p:sp>
          <p:nvSpPr>
            <p:cNvPr name="Freeform 4" id="4"/>
            <p:cNvSpPr/>
            <p:nvPr/>
          </p:nvSpPr>
          <p:spPr>
            <a:xfrm flipH="false" flipV="false" rot="0">
              <a:off x="0" y="0"/>
              <a:ext cx="1650280" cy="209583"/>
            </a:xfrm>
            <a:custGeom>
              <a:avLst/>
              <a:gdLst/>
              <a:ahLst/>
              <a:cxnLst/>
              <a:rect r="r" b="b" t="t" l="l"/>
              <a:pathLst>
                <a:path h="209583" w="1650280">
                  <a:moveTo>
                    <a:pt x="100839" y="0"/>
                  </a:moveTo>
                  <a:lnTo>
                    <a:pt x="1549441" y="0"/>
                  </a:lnTo>
                  <a:cubicBezTo>
                    <a:pt x="1576185" y="0"/>
                    <a:pt x="1601834" y="10624"/>
                    <a:pt x="1620745" y="29535"/>
                  </a:cubicBezTo>
                  <a:cubicBezTo>
                    <a:pt x="1639656" y="48446"/>
                    <a:pt x="1650280" y="74094"/>
                    <a:pt x="1650280" y="100839"/>
                  </a:cubicBezTo>
                  <a:lnTo>
                    <a:pt x="1650280" y="108745"/>
                  </a:lnTo>
                  <a:cubicBezTo>
                    <a:pt x="1650280" y="135489"/>
                    <a:pt x="1639656" y="161137"/>
                    <a:pt x="1620745" y="180048"/>
                  </a:cubicBezTo>
                  <a:cubicBezTo>
                    <a:pt x="1601834" y="198959"/>
                    <a:pt x="1576185" y="209583"/>
                    <a:pt x="1549441" y="209583"/>
                  </a:cubicBezTo>
                  <a:lnTo>
                    <a:pt x="100839" y="209583"/>
                  </a:lnTo>
                  <a:cubicBezTo>
                    <a:pt x="74094" y="209583"/>
                    <a:pt x="48446" y="198959"/>
                    <a:pt x="29535" y="180048"/>
                  </a:cubicBezTo>
                  <a:cubicBezTo>
                    <a:pt x="10624" y="161137"/>
                    <a:pt x="0" y="135489"/>
                    <a:pt x="0" y="108745"/>
                  </a:cubicBezTo>
                  <a:lnTo>
                    <a:pt x="0" y="100839"/>
                  </a:lnTo>
                  <a:cubicBezTo>
                    <a:pt x="0" y="74094"/>
                    <a:pt x="10624" y="48446"/>
                    <a:pt x="29535" y="29535"/>
                  </a:cubicBezTo>
                  <a:cubicBezTo>
                    <a:pt x="48446" y="10624"/>
                    <a:pt x="74094" y="0"/>
                    <a:pt x="100839" y="0"/>
                  </a:cubicBezTo>
                  <a:close/>
                </a:path>
              </a:pathLst>
            </a:custGeom>
            <a:solidFill>
              <a:srgbClr val="4C5526"/>
            </a:solidFill>
          </p:spPr>
        </p:sp>
        <p:sp>
          <p:nvSpPr>
            <p:cNvPr name="TextBox 5" id="5"/>
            <p:cNvSpPr txBox="true"/>
            <p:nvPr/>
          </p:nvSpPr>
          <p:spPr>
            <a:xfrm>
              <a:off x="0" y="38100"/>
              <a:ext cx="1650280" cy="171483"/>
            </a:xfrm>
            <a:prstGeom prst="rect">
              <a:avLst/>
            </a:prstGeom>
          </p:spPr>
          <p:txBody>
            <a:bodyPr anchor="ctr" rtlCol="false" tIns="50800" lIns="50800" bIns="50800" rIns="50800"/>
            <a:lstStyle/>
            <a:p>
              <a:pPr algn="ctr">
                <a:lnSpc>
                  <a:spcPts val="2174"/>
                </a:lnSpc>
              </a:pPr>
            </a:p>
          </p:txBody>
        </p:sp>
      </p:grpSp>
      <p:grpSp>
        <p:nvGrpSpPr>
          <p:cNvPr name="Group 6" id="6"/>
          <p:cNvGrpSpPr/>
          <p:nvPr/>
        </p:nvGrpSpPr>
        <p:grpSpPr>
          <a:xfrm rot="0">
            <a:off x="993051" y="4217266"/>
            <a:ext cx="7616188" cy="1120430"/>
            <a:chOff x="0" y="0"/>
            <a:chExt cx="1637092" cy="240835"/>
          </a:xfrm>
        </p:grpSpPr>
        <p:sp>
          <p:nvSpPr>
            <p:cNvPr name="Freeform 7" id="7"/>
            <p:cNvSpPr/>
            <p:nvPr/>
          </p:nvSpPr>
          <p:spPr>
            <a:xfrm flipH="false" flipV="false" rot="0">
              <a:off x="0" y="0"/>
              <a:ext cx="1637092" cy="240835"/>
            </a:xfrm>
            <a:custGeom>
              <a:avLst/>
              <a:gdLst/>
              <a:ahLst/>
              <a:cxnLst/>
              <a:rect r="r" b="b" t="t" l="l"/>
              <a:pathLst>
                <a:path h="240835" w="1637092">
                  <a:moveTo>
                    <a:pt x="101651" y="0"/>
                  </a:moveTo>
                  <a:lnTo>
                    <a:pt x="1535441" y="0"/>
                  </a:lnTo>
                  <a:cubicBezTo>
                    <a:pt x="1562400" y="0"/>
                    <a:pt x="1588256" y="10710"/>
                    <a:pt x="1607319" y="29773"/>
                  </a:cubicBezTo>
                  <a:cubicBezTo>
                    <a:pt x="1626382" y="48836"/>
                    <a:pt x="1637092" y="74691"/>
                    <a:pt x="1637092" y="101651"/>
                  </a:cubicBezTo>
                  <a:lnTo>
                    <a:pt x="1637092" y="139184"/>
                  </a:lnTo>
                  <a:cubicBezTo>
                    <a:pt x="1637092" y="166144"/>
                    <a:pt x="1626382" y="191999"/>
                    <a:pt x="1607319" y="211062"/>
                  </a:cubicBezTo>
                  <a:cubicBezTo>
                    <a:pt x="1588256" y="230126"/>
                    <a:pt x="1562400" y="240835"/>
                    <a:pt x="1535441" y="240835"/>
                  </a:cubicBezTo>
                  <a:lnTo>
                    <a:pt x="101651" y="240835"/>
                  </a:lnTo>
                  <a:cubicBezTo>
                    <a:pt x="74691" y="240835"/>
                    <a:pt x="48836" y="230126"/>
                    <a:pt x="29773" y="211062"/>
                  </a:cubicBezTo>
                  <a:cubicBezTo>
                    <a:pt x="10710" y="191999"/>
                    <a:pt x="0" y="166144"/>
                    <a:pt x="0" y="139184"/>
                  </a:cubicBezTo>
                  <a:lnTo>
                    <a:pt x="0" y="101651"/>
                  </a:lnTo>
                  <a:cubicBezTo>
                    <a:pt x="0" y="74691"/>
                    <a:pt x="10710" y="48836"/>
                    <a:pt x="29773" y="29773"/>
                  </a:cubicBezTo>
                  <a:cubicBezTo>
                    <a:pt x="48836" y="10710"/>
                    <a:pt x="74691" y="0"/>
                    <a:pt x="101651" y="0"/>
                  </a:cubicBezTo>
                  <a:close/>
                </a:path>
              </a:pathLst>
            </a:custGeom>
            <a:solidFill>
              <a:srgbClr val="4C5526"/>
            </a:solidFill>
          </p:spPr>
        </p:sp>
        <p:sp>
          <p:nvSpPr>
            <p:cNvPr name="TextBox 8" id="8"/>
            <p:cNvSpPr txBox="true"/>
            <p:nvPr/>
          </p:nvSpPr>
          <p:spPr>
            <a:xfrm>
              <a:off x="0" y="38100"/>
              <a:ext cx="1637092" cy="202735"/>
            </a:xfrm>
            <a:prstGeom prst="rect">
              <a:avLst/>
            </a:prstGeom>
          </p:spPr>
          <p:txBody>
            <a:bodyPr anchor="ctr" rtlCol="false" tIns="50800" lIns="50800" bIns="50800" rIns="50800"/>
            <a:lstStyle/>
            <a:p>
              <a:pPr algn="ctr">
                <a:lnSpc>
                  <a:spcPts val="2174"/>
                </a:lnSpc>
              </a:pPr>
            </a:p>
          </p:txBody>
        </p:sp>
      </p:grpSp>
      <p:grpSp>
        <p:nvGrpSpPr>
          <p:cNvPr name="Group 9" id="9"/>
          <p:cNvGrpSpPr/>
          <p:nvPr/>
        </p:nvGrpSpPr>
        <p:grpSpPr>
          <a:xfrm rot="0">
            <a:off x="962374" y="5785371"/>
            <a:ext cx="7616188" cy="1236948"/>
            <a:chOff x="0" y="0"/>
            <a:chExt cx="1637092" cy="265881"/>
          </a:xfrm>
        </p:grpSpPr>
        <p:sp>
          <p:nvSpPr>
            <p:cNvPr name="Freeform 10" id="10"/>
            <p:cNvSpPr/>
            <p:nvPr/>
          </p:nvSpPr>
          <p:spPr>
            <a:xfrm flipH="false" flipV="false" rot="0">
              <a:off x="0" y="0"/>
              <a:ext cx="1637092" cy="265881"/>
            </a:xfrm>
            <a:custGeom>
              <a:avLst/>
              <a:gdLst/>
              <a:ahLst/>
              <a:cxnLst/>
              <a:rect r="r" b="b" t="t" l="l"/>
              <a:pathLst>
                <a:path h="265881" w="1637092">
                  <a:moveTo>
                    <a:pt x="101651" y="0"/>
                  </a:moveTo>
                  <a:lnTo>
                    <a:pt x="1535441" y="0"/>
                  </a:lnTo>
                  <a:cubicBezTo>
                    <a:pt x="1562400" y="0"/>
                    <a:pt x="1588256" y="10710"/>
                    <a:pt x="1607319" y="29773"/>
                  </a:cubicBezTo>
                  <a:cubicBezTo>
                    <a:pt x="1626382" y="48836"/>
                    <a:pt x="1637092" y="74691"/>
                    <a:pt x="1637092" y="101651"/>
                  </a:cubicBezTo>
                  <a:lnTo>
                    <a:pt x="1637092" y="164230"/>
                  </a:lnTo>
                  <a:cubicBezTo>
                    <a:pt x="1637092" y="191189"/>
                    <a:pt x="1626382" y="217045"/>
                    <a:pt x="1607319" y="236108"/>
                  </a:cubicBezTo>
                  <a:cubicBezTo>
                    <a:pt x="1588256" y="255171"/>
                    <a:pt x="1562400" y="265881"/>
                    <a:pt x="1535441" y="265881"/>
                  </a:cubicBezTo>
                  <a:lnTo>
                    <a:pt x="101651" y="265881"/>
                  </a:lnTo>
                  <a:cubicBezTo>
                    <a:pt x="74691" y="265881"/>
                    <a:pt x="48836" y="255171"/>
                    <a:pt x="29773" y="236108"/>
                  </a:cubicBezTo>
                  <a:cubicBezTo>
                    <a:pt x="10710" y="217045"/>
                    <a:pt x="0" y="191189"/>
                    <a:pt x="0" y="164230"/>
                  </a:cubicBezTo>
                  <a:lnTo>
                    <a:pt x="0" y="101651"/>
                  </a:lnTo>
                  <a:cubicBezTo>
                    <a:pt x="0" y="74691"/>
                    <a:pt x="10710" y="48836"/>
                    <a:pt x="29773" y="29773"/>
                  </a:cubicBezTo>
                  <a:cubicBezTo>
                    <a:pt x="48836" y="10710"/>
                    <a:pt x="74691" y="0"/>
                    <a:pt x="101651" y="0"/>
                  </a:cubicBezTo>
                  <a:close/>
                </a:path>
              </a:pathLst>
            </a:custGeom>
            <a:solidFill>
              <a:srgbClr val="4C5526"/>
            </a:solidFill>
          </p:spPr>
        </p:sp>
        <p:sp>
          <p:nvSpPr>
            <p:cNvPr name="TextBox 11" id="11"/>
            <p:cNvSpPr txBox="true"/>
            <p:nvPr/>
          </p:nvSpPr>
          <p:spPr>
            <a:xfrm>
              <a:off x="0" y="38100"/>
              <a:ext cx="1637092" cy="227781"/>
            </a:xfrm>
            <a:prstGeom prst="rect">
              <a:avLst/>
            </a:prstGeom>
          </p:spPr>
          <p:txBody>
            <a:bodyPr anchor="ctr" rtlCol="false" tIns="50800" lIns="50800" bIns="50800" rIns="50800"/>
            <a:lstStyle/>
            <a:p>
              <a:pPr algn="ctr">
                <a:lnSpc>
                  <a:spcPts val="2174"/>
                </a:lnSpc>
              </a:pPr>
            </a:p>
          </p:txBody>
        </p:sp>
      </p:grpSp>
      <p:grpSp>
        <p:nvGrpSpPr>
          <p:cNvPr name="Group 12" id="12"/>
          <p:cNvGrpSpPr/>
          <p:nvPr/>
        </p:nvGrpSpPr>
        <p:grpSpPr>
          <a:xfrm rot="0">
            <a:off x="962374" y="7241395"/>
            <a:ext cx="7616188" cy="1120430"/>
            <a:chOff x="0" y="0"/>
            <a:chExt cx="1637092" cy="240835"/>
          </a:xfrm>
        </p:grpSpPr>
        <p:sp>
          <p:nvSpPr>
            <p:cNvPr name="Freeform 13" id="13"/>
            <p:cNvSpPr/>
            <p:nvPr/>
          </p:nvSpPr>
          <p:spPr>
            <a:xfrm flipH="false" flipV="false" rot="0">
              <a:off x="0" y="0"/>
              <a:ext cx="1637092" cy="240835"/>
            </a:xfrm>
            <a:custGeom>
              <a:avLst/>
              <a:gdLst/>
              <a:ahLst/>
              <a:cxnLst/>
              <a:rect r="r" b="b" t="t" l="l"/>
              <a:pathLst>
                <a:path h="240835" w="1637092">
                  <a:moveTo>
                    <a:pt x="101651" y="0"/>
                  </a:moveTo>
                  <a:lnTo>
                    <a:pt x="1535441" y="0"/>
                  </a:lnTo>
                  <a:cubicBezTo>
                    <a:pt x="1562400" y="0"/>
                    <a:pt x="1588256" y="10710"/>
                    <a:pt x="1607319" y="29773"/>
                  </a:cubicBezTo>
                  <a:cubicBezTo>
                    <a:pt x="1626382" y="48836"/>
                    <a:pt x="1637092" y="74691"/>
                    <a:pt x="1637092" y="101651"/>
                  </a:cubicBezTo>
                  <a:lnTo>
                    <a:pt x="1637092" y="139184"/>
                  </a:lnTo>
                  <a:cubicBezTo>
                    <a:pt x="1637092" y="166144"/>
                    <a:pt x="1626382" y="191999"/>
                    <a:pt x="1607319" y="211062"/>
                  </a:cubicBezTo>
                  <a:cubicBezTo>
                    <a:pt x="1588256" y="230126"/>
                    <a:pt x="1562400" y="240835"/>
                    <a:pt x="1535441" y="240835"/>
                  </a:cubicBezTo>
                  <a:lnTo>
                    <a:pt x="101651" y="240835"/>
                  </a:lnTo>
                  <a:cubicBezTo>
                    <a:pt x="74691" y="240835"/>
                    <a:pt x="48836" y="230126"/>
                    <a:pt x="29773" y="211062"/>
                  </a:cubicBezTo>
                  <a:cubicBezTo>
                    <a:pt x="10710" y="191999"/>
                    <a:pt x="0" y="166144"/>
                    <a:pt x="0" y="139184"/>
                  </a:cubicBezTo>
                  <a:lnTo>
                    <a:pt x="0" y="101651"/>
                  </a:lnTo>
                  <a:cubicBezTo>
                    <a:pt x="0" y="74691"/>
                    <a:pt x="10710" y="48836"/>
                    <a:pt x="29773" y="29773"/>
                  </a:cubicBezTo>
                  <a:cubicBezTo>
                    <a:pt x="48836" y="10710"/>
                    <a:pt x="74691" y="0"/>
                    <a:pt x="101651" y="0"/>
                  </a:cubicBezTo>
                  <a:close/>
                </a:path>
              </a:pathLst>
            </a:custGeom>
            <a:solidFill>
              <a:srgbClr val="4C5526"/>
            </a:solidFill>
          </p:spPr>
        </p:sp>
        <p:sp>
          <p:nvSpPr>
            <p:cNvPr name="TextBox 14" id="14"/>
            <p:cNvSpPr txBox="true"/>
            <p:nvPr/>
          </p:nvSpPr>
          <p:spPr>
            <a:xfrm>
              <a:off x="0" y="38100"/>
              <a:ext cx="1637092" cy="202735"/>
            </a:xfrm>
            <a:prstGeom prst="rect">
              <a:avLst/>
            </a:prstGeom>
          </p:spPr>
          <p:txBody>
            <a:bodyPr anchor="ctr" rtlCol="false" tIns="50800" lIns="50800" bIns="50800" rIns="50800"/>
            <a:lstStyle/>
            <a:p>
              <a:pPr algn="ctr">
                <a:lnSpc>
                  <a:spcPts val="2174"/>
                </a:lnSpc>
              </a:pPr>
            </a:p>
          </p:txBody>
        </p:sp>
      </p:grpSp>
      <p:grpSp>
        <p:nvGrpSpPr>
          <p:cNvPr name="Group 15" id="15"/>
          <p:cNvGrpSpPr/>
          <p:nvPr/>
        </p:nvGrpSpPr>
        <p:grpSpPr>
          <a:xfrm rot="0">
            <a:off x="931697" y="8569972"/>
            <a:ext cx="7616188" cy="1120430"/>
            <a:chOff x="0" y="0"/>
            <a:chExt cx="1637092" cy="240835"/>
          </a:xfrm>
        </p:grpSpPr>
        <p:sp>
          <p:nvSpPr>
            <p:cNvPr name="Freeform 16" id="16"/>
            <p:cNvSpPr/>
            <p:nvPr/>
          </p:nvSpPr>
          <p:spPr>
            <a:xfrm flipH="false" flipV="false" rot="0">
              <a:off x="0" y="0"/>
              <a:ext cx="1637092" cy="240835"/>
            </a:xfrm>
            <a:custGeom>
              <a:avLst/>
              <a:gdLst/>
              <a:ahLst/>
              <a:cxnLst/>
              <a:rect r="r" b="b" t="t" l="l"/>
              <a:pathLst>
                <a:path h="240835" w="1637092">
                  <a:moveTo>
                    <a:pt x="101651" y="0"/>
                  </a:moveTo>
                  <a:lnTo>
                    <a:pt x="1535441" y="0"/>
                  </a:lnTo>
                  <a:cubicBezTo>
                    <a:pt x="1562400" y="0"/>
                    <a:pt x="1588256" y="10710"/>
                    <a:pt x="1607319" y="29773"/>
                  </a:cubicBezTo>
                  <a:cubicBezTo>
                    <a:pt x="1626382" y="48836"/>
                    <a:pt x="1637092" y="74691"/>
                    <a:pt x="1637092" y="101651"/>
                  </a:cubicBezTo>
                  <a:lnTo>
                    <a:pt x="1637092" y="139184"/>
                  </a:lnTo>
                  <a:cubicBezTo>
                    <a:pt x="1637092" y="166144"/>
                    <a:pt x="1626382" y="191999"/>
                    <a:pt x="1607319" y="211062"/>
                  </a:cubicBezTo>
                  <a:cubicBezTo>
                    <a:pt x="1588256" y="230126"/>
                    <a:pt x="1562400" y="240835"/>
                    <a:pt x="1535441" y="240835"/>
                  </a:cubicBezTo>
                  <a:lnTo>
                    <a:pt x="101651" y="240835"/>
                  </a:lnTo>
                  <a:cubicBezTo>
                    <a:pt x="74691" y="240835"/>
                    <a:pt x="48836" y="230126"/>
                    <a:pt x="29773" y="211062"/>
                  </a:cubicBezTo>
                  <a:cubicBezTo>
                    <a:pt x="10710" y="191999"/>
                    <a:pt x="0" y="166144"/>
                    <a:pt x="0" y="139184"/>
                  </a:cubicBezTo>
                  <a:lnTo>
                    <a:pt x="0" y="101651"/>
                  </a:lnTo>
                  <a:cubicBezTo>
                    <a:pt x="0" y="74691"/>
                    <a:pt x="10710" y="48836"/>
                    <a:pt x="29773" y="29773"/>
                  </a:cubicBezTo>
                  <a:cubicBezTo>
                    <a:pt x="48836" y="10710"/>
                    <a:pt x="74691" y="0"/>
                    <a:pt x="101651" y="0"/>
                  </a:cubicBezTo>
                  <a:close/>
                </a:path>
              </a:pathLst>
            </a:custGeom>
            <a:solidFill>
              <a:srgbClr val="4C5526"/>
            </a:solidFill>
          </p:spPr>
        </p:sp>
        <p:sp>
          <p:nvSpPr>
            <p:cNvPr name="TextBox 17" id="17"/>
            <p:cNvSpPr txBox="true"/>
            <p:nvPr/>
          </p:nvSpPr>
          <p:spPr>
            <a:xfrm>
              <a:off x="0" y="38100"/>
              <a:ext cx="1637092" cy="202735"/>
            </a:xfrm>
            <a:prstGeom prst="rect">
              <a:avLst/>
            </a:prstGeom>
          </p:spPr>
          <p:txBody>
            <a:bodyPr anchor="ctr" rtlCol="false" tIns="50800" lIns="50800" bIns="50800" rIns="50800"/>
            <a:lstStyle/>
            <a:p>
              <a:pPr algn="ctr">
                <a:lnSpc>
                  <a:spcPts val="2174"/>
                </a:lnSpc>
              </a:pPr>
            </a:p>
          </p:txBody>
        </p:sp>
      </p:grpSp>
      <p:sp>
        <p:nvSpPr>
          <p:cNvPr name="Freeform 18" id="18"/>
          <p:cNvSpPr/>
          <p:nvPr/>
        </p:nvSpPr>
        <p:spPr>
          <a:xfrm flipH="false" flipV="false" rot="0">
            <a:off x="9539586" y="2945268"/>
            <a:ext cx="8266547" cy="6917155"/>
          </a:xfrm>
          <a:custGeom>
            <a:avLst/>
            <a:gdLst/>
            <a:ahLst/>
            <a:cxnLst/>
            <a:rect r="r" b="b" t="t" l="l"/>
            <a:pathLst>
              <a:path h="6917155" w="8266547">
                <a:moveTo>
                  <a:pt x="0" y="0"/>
                </a:moveTo>
                <a:lnTo>
                  <a:pt x="8266547" y="0"/>
                </a:lnTo>
                <a:lnTo>
                  <a:pt x="8266547" y="6917155"/>
                </a:lnTo>
                <a:lnTo>
                  <a:pt x="0" y="6917155"/>
                </a:lnTo>
                <a:lnTo>
                  <a:pt x="0" y="0"/>
                </a:lnTo>
                <a:close/>
              </a:path>
            </a:pathLst>
          </a:custGeom>
          <a:blipFill>
            <a:blip r:embed="rId2"/>
            <a:stretch>
              <a:fillRect l="0" t="0" r="0" b="0"/>
            </a:stretch>
          </a:blipFill>
        </p:spPr>
      </p:sp>
      <p:sp>
        <p:nvSpPr>
          <p:cNvPr name="TextBox 19" id="19"/>
          <p:cNvSpPr txBox="true"/>
          <p:nvPr/>
        </p:nvSpPr>
        <p:spPr>
          <a:xfrm rot="0">
            <a:off x="-2713413" y="1273567"/>
            <a:ext cx="15916281" cy="862076"/>
          </a:xfrm>
          <a:prstGeom prst="rect">
            <a:avLst/>
          </a:prstGeom>
        </p:spPr>
        <p:txBody>
          <a:bodyPr anchor="t" rtlCol="false" tIns="0" lIns="0" bIns="0" rIns="0">
            <a:spAutoFit/>
          </a:bodyPr>
          <a:lstStyle/>
          <a:p>
            <a:pPr algn="ctr" marL="0" indent="0" lvl="0">
              <a:lnSpc>
                <a:spcPts val="6591"/>
              </a:lnSpc>
              <a:spcBef>
                <a:spcPct val="0"/>
              </a:spcBef>
            </a:pPr>
            <a:r>
              <a:rPr lang="en-US" sz="6399">
                <a:solidFill>
                  <a:srgbClr val="1A160F"/>
                </a:solidFill>
                <a:latin typeface="Archivo Black"/>
                <a:ea typeface="Archivo Black"/>
                <a:cs typeface="Archivo Black"/>
                <a:sym typeface="Archivo Black"/>
              </a:rPr>
              <a:t>Bag of Visual Words</a:t>
            </a:r>
          </a:p>
        </p:txBody>
      </p:sp>
      <p:sp>
        <p:nvSpPr>
          <p:cNvPr name="TextBox 20" id="20"/>
          <p:cNvSpPr txBox="true"/>
          <p:nvPr/>
        </p:nvSpPr>
        <p:spPr>
          <a:xfrm rot="0">
            <a:off x="931697" y="3357251"/>
            <a:ext cx="7677542" cy="346834"/>
          </a:xfrm>
          <a:prstGeom prst="rect">
            <a:avLst/>
          </a:prstGeom>
        </p:spPr>
        <p:txBody>
          <a:bodyPr anchor="t" rtlCol="false" tIns="0" lIns="0" bIns="0" rIns="0">
            <a:spAutoFit/>
          </a:bodyPr>
          <a:lstStyle/>
          <a:p>
            <a:pPr algn="ctr">
              <a:lnSpc>
                <a:spcPts val="2664"/>
              </a:lnSpc>
              <a:spcBef>
                <a:spcPct val="0"/>
              </a:spcBef>
            </a:pPr>
            <a:r>
              <a:rPr lang="en-US" sz="2664" spc="213">
                <a:solidFill>
                  <a:srgbClr val="FFFFFF"/>
                </a:solidFill>
                <a:latin typeface="TT Hoves"/>
                <a:ea typeface="TT Hoves"/>
                <a:cs typeface="TT Hoves"/>
                <a:sym typeface="TT Hoves"/>
              </a:rPr>
              <a:t>Extrage caracteristicile vizuale </a:t>
            </a:r>
          </a:p>
        </p:txBody>
      </p:sp>
      <p:sp>
        <p:nvSpPr>
          <p:cNvPr name="TextBox 21" id="21"/>
          <p:cNvSpPr txBox="true"/>
          <p:nvPr/>
        </p:nvSpPr>
        <p:spPr>
          <a:xfrm rot="0">
            <a:off x="947035" y="4627877"/>
            <a:ext cx="7677542" cy="346834"/>
          </a:xfrm>
          <a:prstGeom prst="rect">
            <a:avLst/>
          </a:prstGeom>
        </p:spPr>
        <p:txBody>
          <a:bodyPr anchor="t" rtlCol="false" tIns="0" lIns="0" bIns="0" rIns="0">
            <a:spAutoFit/>
          </a:bodyPr>
          <a:lstStyle/>
          <a:p>
            <a:pPr algn="ctr">
              <a:lnSpc>
                <a:spcPts val="2664"/>
              </a:lnSpc>
              <a:spcBef>
                <a:spcPct val="0"/>
              </a:spcBef>
            </a:pPr>
            <a:r>
              <a:rPr lang="en-US" sz="2664" spc="213">
                <a:solidFill>
                  <a:srgbClr val="FFFFFF"/>
                </a:solidFill>
                <a:latin typeface="TT Hoves"/>
                <a:ea typeface="TT Hoves"/>
                <a:cs typeface="TT Hoves"/>
                <a:sym typeface="TT Hoves"/>
              </a:rPr>
              <a:t>Creaza cuvinte vizuale</a:t>
            </a:r>
          </a:p>
        </p:txBody>
      </p:sp>
      <p:sp>
        <p:nvSpPr>
          <p:cNvPr name="TextBox 22" id="22"/>
          <p:cNvSpPr txBox="true"/>
          <p:nvPr/>
        </p:nvSpPr>
        <p:spPr>
          <a:xfrm rot="0">
            <a:off x="901020" y="6090849"/>
            <a:ext cx="7677542" cy="673618"/>
          </a:xfrm>
          <a:prstGeom prst="rect">
            <a:avLst/>
          </a:prstGeom>
        </p:spPr>
        <p:txBody>
          <a:bodyPr anchor="t" rtlCol="false" tIns="0" lIns="0" bIns="0" rIns="0">
            <a:spAutoFit/>
          </a:bodyPr>
          <a:lstStyle/>
          <a:p>
            <a:pPr algn="ctr">
              <a:lnSpc>
                <a:spcPts val="2664"/>
              </a:lnSpc>
              <a:spcBef>
                <a:spcPct val="0"/>
              </a:spcBef>
            </a:pPr>
            <a:r>
              <a:rPr lang="en-US" sz="2664" spc="213">
                <a:solidFill>
                  <a:srgbClr val="FFFFFF"/>
                </a:solidFill>
                <a:latin typeface="TT Hoves"/>
                <a:ea typeface="TT Hoves"/>
                <a:cs typeface="TT Hoves"/>
                <a:sym typeface="TT Hoves"/>
              </a:rPr>
              <a:t>Construieste vectori de frecventa rari (sparse vectors) folosind cuvintele vizuale</a:t>
            </a:r>
          </a:p>
        </p:txBody>
      </p:sp>
      <p:sp>
        <p:nvSpPr>
          <p:cNvPr name="TextBox 23" id="23"/>
          <p:cNvSpPr txBox="true"/>
          <p:nvPr/>
        </p:nvSpPr>
        <p:spPr>
          <a:xfrm rot="0">
            <a:off x="1028700" y="7652005"/>
            <a:ext cx="7677542" cy="346834"/>
          </a:xfrm>
          <a:prstGeom prst="rect">
            <a:avLst/>
          </a:prstGeom>
        </p:spPr>
        <p:txBody>
          <a:bodyPr anchor="t" rtlCol="false" tIns="0" lIns="0" bIns="0" rIns="0">
            <a:spAutoFit/>
          </a:bodyPr>
          <a:lstStyle/>
          <a:p>
            <a:pPr algn="ctr">
              <a:lnSpc>
                <a:spcPts val="2664"/>
              </a:lnSpc>
              <a:spcBef>
                <a:spcPct val="0"/>
              </a:spcBef>
            </a:pPr>
            <a:r>
              <a:rPr lang="en-US" sz="2664" spc="213">
                <a:solidFill>
                  <a:srgbClr val="FFFFFF"/>
                </a:solidFill>
                <a:latin typeface="TT Hoves"/>
                <a:ea typeface="TT Hoves"/>
                <a:cs typeface="TT Hoves"/>
                <a:sym typeface="TT Hoves"/>
              </a:rPr>
              <a:t>Ajusteaza vectorii de frecventa </a:t>
            </a:r>
          </a:p>
        </p:txBody>
      </p:sp>
      <p:sp>
        <p:nvSpPr>
          <p:cNvPr name="TextBox 24" id="24"/>
          <p:cNvSpPr txBox="true"/>
          <p:nvPr/>
        </p:nvSpPr>
        <p:spPr>
          <a:xfrm rot="0">
            <a:off x="870343" y="8817191"/>
            <a:ext cx="7677542" cy="673618"/>
          </a:xfrm>
          <a:prstGeom prst="rect">
            <a:avLst/>
          </a:prstGeom>
        </p:spPr>
        <p:txBody>
          <a:bodyPr anchor="t" rtlCol="false" tIns="0" lIns="0" bIns="0" rIns="0">
            <a:spAutoFit/>
          </a:bodyPr>
          <a:lstStyle/>
          <a:p>
            <a:pPr algn="ctr">
              <a:lnSpc>
                <a:spcPts val="2664"/>
              </a:lnSpc>
              <a:spcBef>
                <a:spcPct val="0"/>
              </a:spcBef>
            </a:pPr>
            <a:r>
              <a:rPr lang="en-US" sz="2664" spc="213">
                <a:solidFill>
                  <a:srgbClr val="FFFFFF"/>
                </a:solidFill>
                <a:latin typeface="TT Hoves"/>
                <a:ea typeface="TT Hoves"/>
                <a:cs typeface="TT Hoves"/>
                <a:sym typeface="TT Hoves"/>
              </a:rPr>
              <a:t>Compara vectorii folosind metrici de suimilaritate sau distanta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grpSp>
        <p:nvGrpSpPr>
          <p:cNvPr name="Group 2" id="2"/>
          <p:cNvGrpSpPr/>
          <p:nvPr/>
        </p:nvGrpSpPr>
        <p:grpSpPr>
          <a:xfrm rot="0">
            <a:off x="598883" y="613170"/>
            <a:ext cx="1188241" cy="1806174"/>
            <a:chOff x="0" y="0"/>
            <a:chExt cx="312952" cy="475700"/>
          </a:xfrm>
        </p:grpSpPr>
        <p:sp>
          <p:nvSpPr>
            <p:cNvPr name="Freeform 3" id="3"/>
            <p:cNvSpPr/>
            <p:nvPr/>
          </p:nvSpPr>
          <p:spPr>
            <a:xfrm flipH="false" flipV="false" rot="0">
              <a:off x="0" y="0"/>
              <a:ext cx="312952" cy="475700"/>
            </a:xfrm>
            <a:custGeom>
              <a:avLst/>
              <a:gdLst/>
              <a:ahLst/>
              <a:cxnLst/>
              <a:rect r="r" b="b" t="t" l="l"/>
              <a:pathLst>
                <a:path h="475700" w="312952">
                  <a:moveTo>
                    <a:pt x="0" y="0"/>
                  </a:moveTo>
                  <a:lnTo>
                    <a:pt x="312952" y="0"/>
                  </a:lnTo>
                  <a:lnTo>
                    <a:pt x="312952" y="475700"/>
                  </a:lnTo>
                  <a:lnTo>
                    <a:pt x="0" y="475700"/>
                  </a:lnTo>
                  <a:close/>
                </a:path>
              </a:pathLst>
            </a:custGeom>
            <a:solidFill>
              <a:srgbClr val="4C5526"/>
            </a:solidFill>
          </p:spPr>
        </p:sp>
        <p:sp>
          <p:nvSpPr>
            <p:cNvPr name="TextBox 4" id="4"/>
            <p:cNvSpPr txBox="true"/>
            <p:nvPr/>
          </p:nvSpPr>
          <p:spPr>
            <a:xfrm>
              <a:off x="0" y="47625"/>
              <a:ext cx="312952" cy="428075"/>
            </a:xfrm>
            <a:prstGeom prst="rect">
              <a:avLst/>
            </a:prstGeom>
          </p:spPr>
          <p:txBody>
            <a:bodyPr anchor="ctr" rtlCol="false" tIns="50800" lIns="50800" bIns="50800" rIns="50800"/>
            <a:lstStyle/>
            <a:p>
              <a:pPr algn="ctr">
                <a:lnSpc>
                  <a:spcPts val="2664"/>
                </a:lnSpc>
              </a:pPr>
            </a:p>
          </p:txBody>
        </p:sp>
      </p:grpSp>
      <p:sp>
        <p:nvSpPr>
          <p:cNvPr name="AutoShape 5" id="5"/>
          <p:cNvSpPr/>
          <p:nvPr/>
        </p:nvSpPr>
        <p:spPr>
          <a:xfrm flipV="true">
            <a:off x="0" y="613170"/>
            <a:ext cx="18288000" cy="0"/>
          </a:xfrm>
          <a:prstGeom prst="line">
            <a:avLst/>
          </a:prstGeom>
          <a:ln cap="rnd" w="19050">
            <a:solidFill>
              <a:srgbClr val="000000"/>
            </a:solidFill>
            <a:prstDash val="solid"/>
            <a:headEnd type="none" len="sm" w="sm"/>
            <a:tailEnd type="none" len="sm" w="sm"/>
          </a:ln>
        </p:spPr>
      </p:sp>
      <p:sp>
        <p:nvSpPr>
          <p:cNvPr name="AutoShape 6" id="6"/>
          <p:cNvSpPr/>
          <p:nvPr/>
        </p:nvSpPr>
        <p:spPr>
          <a:xfrm>
            <a:off x="598883" y="2419344"/>
            <a:ext cx="17104522" cy="0"/>
          </a:xfrm>
          <a:prstGeom prst="line">
            <a:avLst/>
          </a:prstGeom>
          <a:ln cap="rnd" w="19050">
            <a:solidFill>
              <a:srgbClr val="000000"/>
            </a:solidFill>
            <a:prstDash val="solid"/>
            <a:headEnd type="none" len="sm" w="sm"/>
            <a:tailEnd type="none" len="sm" w="sm"/>
          </a:ln>
        </p:spPr>
      </p:sp>
      <p:sp>
        <p:nvSpPr>
          <p:cNvPr name="AutoShape 7" id="7"/>
          <p:cNvSpPr/>
          <p:nvPr/>
        </p:nvSpPr>
        <p:spPr>
          <a:xfrm>
            <a:off x="10317317" y="613170"/>
            <a:ext cx="0" cy="9074947"/>
          </a:xfrm>
          <a:prstGeom prst="line">
            <a:avLst/>
          </a:prstGeom>
          <a:ln cap="rnd" w="19050">
            <a:solidFill>
              <a:srgbClr val="000000"/>
            </a:solidFill>
            <a:prstDash val="solid"/>
            <a:headEnd type="none" len="sm" w="sm"/>
            <a:tailEnd type="none" len="sm" w="sm"/>
          </a:ln>
        </p:spPr>
      </p:sp>
      <p:sp>
        <p:nvSpPr>
          <p:cNvPr name="AutoShape 8" id="8"/>
          <p:cNvSpPr/>
          <p:nvPr/>
        </p:nvSpPr>
        <p:spPr>
          <a:xfrm>
            <a:off x="0" y="9688117"/>
            <a:ext cx="18288000" cy="0"/>
          </a:xfrm>
          <a:prstGeom prst="line">
            <a:avLst/>
          </a:prstGeom>
          <a:ln cap="rnd" w="19050">
            <a:solidFill>
              <a:srgbClr val="000000"/>
            </a:solidFill>
            <a:prstDash val="solid"/>
            <a:headEnd type="none" len="sm" w="sm"/>
            <a:tailEnd type="none" len="sm" w="sm"/>
          </a:ln>
        </p:spPr>
      </p:sp>
      <p:sp>
        <p:nvSpPr>
          <p:cNvPr name="AutoShape 9" id="9"/>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10" id="10"/>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Freeform 11" id="11"/>
          <p:cNvSpPr/>
          <p:nvPr/>
        </p:nvSpPr>
        <p:spPr>
          <a:xfrm flipH="false" flipV="false" rot="0">
            <a:off x="10886034" y="3246917"/>
            <a:ext cx="6248654" cy="5613628"/>
          </a:xfrm>
          <a:custGeom>
            <a:avLst/>
            <a:gdLst/>
            <a:ahLst/>
            <a:cxnLst/>
            <a:rect r="r" b="b" t="t" l="l"/>
            <a:pathLst>
              <a:path h="5613628" w="6248654">
                <a:moveTo>
                  <a:pt x="0" y="0"/>
                </a:moveTo>
                <a:lnTo>
                  <a:pt x="6248653" y="0"/>
                </a:lnTo>
                <a:lnTo>
                  <a:pt x="6248653" y="5613628"/>
                </a:lnTo>
                <a:lnTo>
                  <a:pt x="0" y="5613628"/>
                </a:lnTo>
                <a:lnTo>
                  <a:pt x="0" y="0"/>
                </a:lnTo>
                <a:close/>
              </a:path>
            </a:pathLst>
          </a:custGeom>
          <a:blipFill>
            <a:blip r:embed="rId2"/>
            <a:stretch>
              <a:fillRect l="0" t="0" r="0" b="0"/>
            </a:stretch>
          </a:blipFill>
        </p:spPr>
      </p:sp>
      <p:sp>
        <p:nvSpPr>
          <p:cNvPr name="TextBox 12" id="12"/>
          <p:cNvSpPr txBox="true"/>
          <p:nvPr/>
        </p:nvSpPr>
        <p:spPr>
          <a:xfrm rot="0">
            <a:off x="1806174" y="1246001"/>
            <a:ext cx="8511143" cy="597663"/>
          </a:xfrm>
          <a:prstGeom prst="rect">
            <a:avLst/>
          </a:prstGeom>
        </p:spPr>
        <p:txBody>
          <a:bodyPr anchor="t" rtlCol="false" tIns="0" lIns="0" bIns="0" rIns="0">
            <a:spAutoFit/>
          </a:bodyPr>
          <a:lstStyle/>
          <a:p>
            <a:pPr algn="ctr" marL="0" indent="0" lvl="0">
              <a:lnSpc>
                <a:spcPts val="4429"/>
              </a:lnSpc>
              <a:spcBef>
                <a:spcPct val="0"/>
              </a:spcBef>
            </a:pPr>
            <a:r>
              <a:rPr lang="en-US" sz="4300">
                <a:solidFill>
                  <a:srgbClr val="1A160F"/>
                </a:solidFill>
                <a:latin typeface="Archivo Black"/>
                <a:ea typeface="Archivo Black"/>
                <a:cs typeface="Archivo Black"/>
                <a:sym typeface="Archivo Black"/>
              </a:rPr>
              <a:t>RANDOM FOREST</a:t>
            </a:r>
          </a:p>
        </p:txBody>
      </p:sp>
      <p:grpSp>
        <p:nvGrpSpPr>
          <p:cNvPr name="Group 13" id="13"/>
          <p:cNvGrpSpPr/>
          <p:nvPr/>
        </p:nvGrpSpPr>
        <p:grpSpPr>
          <a:xfrm rot="0">
            <a:off x="1848478" y="3382487"/>
            <a:ext cx="7677542" cy="975037"/>
            <a:chOff x="0" y="0"/>
            <a:chExt cx="1650280" cy="209583"/>
          </a:xfrm>
        </p:grpSpPr>
        <p:sp>
          <p:nvSpPr>
            <p:cNvPr name="Freeform 14" id="14"/>
            <p:cNvSpPr/>
            <p:nvPr/>
          </p:nvSpPr>
          <p:spPr>
            <a:xfrm flipH="false" flipV="false" rot="0">
              <a:off x="0" y="0"/>
              <a:ext cx="1650280" cy="209583"/>
            </a:xfrm>
            <a:custGeom>
              <a:avLst/>
              <a:gdLst/>
              <a:ahLst/>
              <a:cxnLst/>
              <a:rect r="r" b="b" t="t" l="l"/>
              <a:pathLst>
                <a:path h="209583" w="1650280">
                  <a:moveTo>
                    <a:pt x="100839" y="0"/>
                  </a:moveTo>
                  <a:lnTo>
                    <a:pt x="1549441" y="0"/>
                  </a:lnTo>
                  <a:cubicBezTo>
                    <a:pt x="1576185" y="0"/>
                    <a:pt x="1601834" y="10624"/>
                    <a:pt x="1620745" y="29535"/>
                  </a:cubicBezTo>
                  <a:cubicBezTo>
                    <a:pt x="1639656" y="48446"/>
                    <a:pt x="1650280" y="74094"/>
                    <a:pt x="1650280" y="100839"/>
                  </a:cubicBezTo>
                  <a:lnTo>
                    <a:pt x="1650280" y="108745"/>
                  </a:lnTo>
                  <a:cubicBezTo>
                    <a:pt x="1650280" y="135489"/>
                    <a:pt x="1639656" y="161137"/>
                    <a:pt x="1620745" y="180048"/>
                  </a:cubicBezTo>
                  <a:cubicBezTo>
                    <a:pt x="1601834" y="198959"/>
                    <a:pt x="1576185" y="209583"/>
                    <a:pt x="1549441" y="209583"/>
                  </a:cubicBezTo>
                  <a:lnTo>
                    <a:pt x="100839" y="209583"/>
                  </a:lnTo>
                  <a:cubicBezTo>
                    <a:pt x="74094" y="209583"/>
                    <a:pt x="48446" y="198959"/>
                    <a:pt x="29535" y="180048"/>
                  </a:cubicBezTo>
                  <a:cubicBezTo>
                    <a:pt x="10624" y="161137"/>
                    <a:pt x="0" y="135489"/>
                    <a:pt x="0" y="108745"/>
                  </a:cubicBezTo>
                  <a:lnTo>
                    <a:pt x="0" y="100839"/>
                  </a:lnTo>
                  <a:cubicBezTo>
                    <a:pt x="0" y="74094"/>
                    <a:pt x="10624" y="48446"/>
                    <a:pt x="29535" y="29535"/>
                  </a:cubicBezTo>
                  <a:cubicBezTo>
                    <a:pt x="48446" y="10624"/>
                    <a:pt x="74094" y="0"/>
                    <a:pt x="100839" y="0"/>
                  </a:cubicBezTo>
                  <a:close/>
                </a:path>
              </a:pathLst>
            </a:custGeom>
            <a:solidFill>
              <a:srgbClr val="4C5526"/>
            </a:solidFill>
          </p:spPr>
        </p:sp>
        <p:sp>
          <p:nvSpPr>
            <p:cNvPr name="TextBox 15" id="15"/>
            <p:cNvSpPr txBox="true"/>
            <p:nvPr/>
          </p:nvSpPr>
          <p:spPr>
            <a:xfrm>
              <a:off x="0" y="38100"/>
              <a:ext cx="1650280" cy="171483"/>
            </a:xfrm>
            <a:prstGeom prst="rect">
              <a:avLst/>
            </a:prstGeom>
          </p:spPr>
          <p:txBody>
            <a:bodyPr anchor="ctr" rtlCol="false" tIns="50800" lIns="50800" bIns="50800" rIns="50800"/>
            <a:lstStyle/>
            <a:p>
              <a:pPr algn="ctr">
                <a:lnSpc>
                  <a:spcPts val="2174"/>
                </a:lnSpc>
              </a:pPr>
            </a:p>
          </p:txBody>
        </p:sp>
      </p:grpSp>
      <p:grpSp>
        <p:nvGrpSpPr>
          <p:cNvPr name="Group 16" id="16"/>
          <p:cNvGrpSpPr/>
          <p:nvPr/>
        </p:nvGrpSpPr>
        <p:grpSpPr>
          <a:xfrm rot="0">
            <a:off x="1848478" y="4580416"/>
            <a:ext cx="7616188" cy="1120430"/>
            <a:chOff x="0" y="0"/>
            <a:chExt cx="1637092" cy="240835"/>
          </a:xfrm>
        </p:grpSpPr>
        <p:sp>
          <p:nvSpPr>
            <p:cNvPr name="Freeform 17" id="17"/>
            <p:cNvSpPr/>
            <p:nvPr/>
          </p:nvSpPr>
          <p:spPr>
            <a:xfrm flipH="false" flipV="false" rot="0">
              <a:off x="0" y="0"/>
              <a:ext cx="1637092" cy="240835"/>
            </a:xfrm>
            <a:custGeom>
              <a:avLst/>
              <a:gdLst/>
              <a:ahLst/>
              <a:cxnLst/>
              <a:rect r="r" b="b" t="t" l="l"/>
              <a:pathLst>
                <a:path h="240835" w="1637092">
                  <a:moveTo>
                    <a:pt x="101651" y="0"/>
                  </a:moveTo>
                  <a:lnTo>
                    <a:pt x="1535441" y="0"/>
                  </a:lnTo>
                  <a:cubicBezTo>
                    <a:pt x="1562400" y="0"/>
                    <a:pt x="1588256" y="10710"/>
                    <a:pt x="1607319" y="29773"/>
                  </a:cubicBezTo>
                  <a:cubicBezTo>
                    <a:pt x="1626382" y="48836"/>
                    <a:pt x="1637092" y="74691"/>
                    <a:pt x="1637092" y="101651"/>
                  </a:cubicBezTo>
                  <a:lnTo>
                    <a:pt x="1637092" y="139184"/>
                  </a:lnTo>
                  <a:cubicBezTo>
                    <a:pt x="1637092" y="166144"/>
                    <a:pt x="1626382" y="191999"/>
                    <a:pt x="1607319" y="211062"/>
                  </a:cubicBezTo>
                  <a:cubicBezTo>
                    <a:pt x="1588256" y="230126"/>
                    <a:pt x="1562400" y="240835"/>
                    <a:pt x="1535441" y="240835"/>
                  </a:cubicBezTo>
                  <a:lnTo>
                    <a:pt x="101651" y="240835"/>
                  </a:lnTo>
                  <a:cubicBezTo>
                    <a:pt x="74691" y="240835"/>
                    <a:pt x="48836" y="230126"/>
                    <a:pt x="29773" y="211062"/>
                  </a:cubicBezTo>
                  <a:cubicBezTo>
                    <a:pt x="10710" y="191999"/>
                    <a:pt x="0" y="166144"/>
                    <a:pt x="0" y="139184"/>
                  </a:cubicBezTo>
                  <a:lnTo>
                    <a:pt x="0" y="101651"/>
                  </a:lnTo>
                  <a:cubicBezTo>
                    <a:pt x="0" y="74691"/>
                    <a:pt x="10710" y="48836"/>
                    <a:pt x="29773" y="29773"/>
                  </a:cubicBezTo>
                  <a:cubicBezTo>
                    <a:pt x="48836" y="10710"/>
                    <a:pt x="74691" y="0"/>
                    <a:pt x="101651" y="0"/>
                  </a:cubicBezTo>
                  <a:close/>
                </a:path>
              </a:pathLst>
            </a:custGeom>
            <a:solidFill>
              <a:srgbClr val="4C5526"/>
            </a:solidFill>
          </p:spPr>
        </p:sp>
        <p:sp>
          <p:nvSpPr>
            <p:cNvPr name="TextBox 18" id="18"/>
            <p:cNvSpPr txBox="true"/>
            <p:nvPr/>
          </p:nvSpPr>
          <p:spPr>
            <a:xfrm>
              <a:off x="0" y="38100"/>
              <a:ext cx="1637092" cy="202735"/>
            </a:xfrm>
            <a:prstGeom prst="rect">
              <a:avLst/>
            </a:prstGeom>
          </p:spPr>
          <p:txBody>
            <a:bodyPr anchor="ctr" rtlCol="false" tIns="50800" lIns="50800" bIns="50800" rIns="50800"/>
            <a:lstStyle/>
            <a:p>
              <a:pPr algn="ctr">
                <a:lnSpc>
                  <a:spcPts val="2174"/>
                </a:lnSpc>
              </a:pPr>
            </a:p>
          </p:txBody>
        </p:sp>
      </p:grpSp>
      <p:grpSp>
        <p:nvGrpSpPr>
          <p:cNvPr name="Group 19" id="19"/>
          <p:cNvGrpSpPr/>
          <p:nvPr/>
        </p:nvGrpSpPr>
        <p:grpSpPr>
          <a:xfrm rot="0">
            <a:off x="1817801" y="6148521"/>
            <a:ext cx="7616188" cy="1236948"/>
            <a:chOff x="0" y="0"/>
            <a:chExt cx="1637092" cy="265881"/>
          </a:xfrm>
        </p:grpSpPr>
        <p:sp>
          <p:nvSpPr>
            <p:cNvPr name="Freeform 20" id="20"/>
            <p:cNvSpPr/>
            <p:nvPr/>
          </p:nvSpPr>
          <p:spPr>
            <a:xfrm flipH="false" flipV="false" rot="0">
              <a:off x="0" y="0"/>
              <a:ext cx="1637092" cy="265881"/>
            </a:xfrm>
            <a:custGeom>
              <a:avLst/>
              <a:gdLst/>
              <a:ahLst/>
              <a:cxnLst/>
              <a:rect r="r" b="b" t="t" l="l"/>
              <a:pathLst>
                <a:path h="265881" w="1637092">
                  <a:moveTo>
                    <a:pt x="101651" y="0"/>
                  </a:moveTo>
                  <a:lnTo>
                    <a:pt x="1535441" y="0"/>
                  </a:lnTo>
                  <a:cubicBezTo>
                    <a:pt x="1562400" y="0"/>
                    <a:pt x="1588256" y="10710"/>
                    <a:pt x="1607319" y="29773"/>
                  </a:cubicBezTo>
                  <a:cubicBezTo>
                    <a:pt x="1626382" y="48836"/>
                    <a:pt x="1637092" y="74691"/>
                    <a:pt x="1637092" y="101651"/>
                  </a:cubicBezTo>
                  <a:lnTo>
                    <a:pt x="1637092" y="164230"/>
                  </a:lnTo>
                  <a:cubicBezTo>
                    <a:pt x="1637092" y="191189"/>
                    <a:pt x="1626382" y="217045"/>
                    <a:pt x="1607319" y="236108"/>
                  </a:cubicBezTo>
                  <a:cubicBezTo>
                    <a:pt x="1588256" y="255171"/>
                    <a:pt x="1562400" y="265881"/>
                    <a:pt x="1535441" y="265881"/>
                  </a:cubicBezTo>
                  <a:lnTo>
                    <a:pt x="101651" y="265881"/>
                  </a:lnTo>
                  <a:cubicBezTo>
                    <a:pt x="74691" y="265881"/>
                    <a:pt x="48836" y="255171"/>
                    <a:pt x="29773" y="236108"/>
                  </a:cubicBezTo>
                  <a:cubicBezTo>
                    <a:pt x="10710" y="217045"/>
                    <a:pt x="0" y="191189"/>
                    <a:pt x="0" y="164230"/>
                  </a:cubicBezTo>
                  <a:lnTo>
                    <a:pt x="0" y="101651"/>
                  </a:lnTo>
                  <a:cubicBezTo>
                    <a:pt x="0" y="74691"/>
                    <a:pt x="10710" y="48836"/>
                    <a:pt x="29773" y="29773"/>
                  </a:cubicBezTo>
                  <a:cubicBezTo>
                    <a:pt x="48836" y="10710"/>
                    <a:pt x="74691" y="0"/>
                    <a:pt x="101651" y="0"/>
                  </a:cubicBezTo>
                  <a:close/>
                </a:path>
              </a:pathLst>
            </a:custGeom>
            <a:solidFill>
              <a:srgbClr val="4C5526"/>
            </a:solidFill>
          </p:spPr>
        </p:sp>
        <p:sp>
          <p:nvSpPr>
            <p:cNvPr name="TextBox 21" id="21"/>
            <p:cNvSpPr txBox="true"/>
            <p:nvPr/>
          </p:nvSpPr>
          <p:spPr>
            <a:xfrm>
              <a:off x="0" y="38100"/>
              <a:ext cx="1637092" cy="227781"/>
            </a:xfrm>
            <a:prstGeom prst="rect">
              <a:avLst/>
            </a:prstGeom>
          </p:spPr>
          <p:txBody>
            <a:bodyPr anchor="ctr" rtlCol="false" tIns="50800" lIns="50800" bIns="50800" rIns="50800"/>
            <a:lstStyle/>
            <a:p>
              <a:pPr algn="ctr">
                <a:lnSpc>
                  <a:spcPts val="2174"/>
                </a:lnSpc>
              </a:pPr>
            </a:p>
          </p:txBody>
        </p:sp>
      </p:grpSp>
      <p:grpSp>
        <p:nvGrpSpPr>
          <p:cNvPr name="Group 22" id="22"/>
          <p:cNvGrpSpPr/>
          <p:nvPr/>
        </p:nvGrpSpPr>
        <p:grpSpPr>
          <a:xfrm rot="0">
            <a:off x="1817801" y="7604544"/>
            <a:ext cx="7616188" cy="1120430"/>
            <a:chOff x="0" y="0"/>
            <a:chExt cx="1637092" cy="240835"/>
          </a:xfrm>
        </p:grpSpPr>
        <p:sp>
          <p:nvSpPr>
            <p:cNvPr name="Freeform 23" id="23"/>
            <p:cNvSpPr/>
            <p:nvPr/>
          </p:nvSpPr>
          <p:spPr>
            <a:xfrm flipH="false" flipV="false" rot="0">
              <a:off x="0" y="0"/>
              <a:ext cx="1637092" cy="240835"/>
            </a:xfrm>
            <a:custGeom>
              <a:avLst/>
              <a:gdLst/>
              <a:ahLst/>
              <a:cxnLst/>
              <a:rect r="r" b="b" t="t" l="l"/>
              <a:pathLst>
                <a:path h="240835" w="1637092">
                  <a:moveTo>
                    <a:pt x="101651" y="0"/>
                  </a:moveTo>
                  <a:lnTo>
                    <a:pt x="1535441" y="0"/>
                  </a:lnTo>
                  <a:cubicBezTo>
                    <a:pt x="1562400" y="0"/>
                    <a:pt x="1588256" y="10710"/>
                    <a:pt x="1607319" y="29773"/>
                  </a:cubicBezTo>
                  <a:cubicBezTo>
                    <a:pt x="1626382" y="48836"/>
                    <a:pt x="1637092" y="74691"/>
                    <a:pt x="1637092" y="101651"/>
                  </a:cubicBezTo>
                  <a:lnTo>
                    <a:pt x="1637092" y="139184"/>
                  </a:lnTo>
                  <a:cubicBezTo>
                    <a:pt x="1637092" y="166144"/>
                    <a:pt x="1626382" y="191999"/>
                    <a:pt x="1607319" y="211062"/>
                  </a:cubicBezTo>
                  <a:cubicBezTo>
                    <a:pt x="1588256" y="230126"/>
                    <a:pt x="1562400" y="240835"/>
                    <a:pt x="1535441" y="240835"/>
                  </a:cubicBezTo>
                  <a:lnTo>
                    <a:pt x="101651" y="240835"/>
                  </a:lnTo>
                  <a:cubicBezTo>
                    <a:pt x="74691" y="240835"/>
                    <a:pt x="48836" y="230126"/>
                    <a:pt x="29773" y="211062"/>
                  </a:cubicBezTo>
                  <a:cubicBezTo>
                    <a:pt x="10710" y="191999"/>
                    <a:pt x="0" y="166144"/>
                    <a:pt x="0" y="139184"/>
                  </a:cubicBezTo>
                  <a:lnTo>
                    <a:pt x="0" y="101651"/>
                  </a:lnTo>
                  <a:cubicBezTo>
                    <a:pt x="0" y="74691"/>
                    <a:pt x="10710" y="48836"/>
                    <a:pt x="29773" y="29773"/>
                  </a:cubicBezTo>
                  <a:cubicBezTo>
                    <a:pt x="48836" y="10710"/>
                    <a:pt x="74691" y="0"/>
                    <a:pt x="101651" y="0"/>
                  </a:cubicBezTo>
                  <a:close/>
                </a:path>
              </a:pathLst>
            </a:custGeom>
            <a:solidFill>
              <a:srgbClr val="4C5526"/>
            </a:solidFill>
          </p:spPr>
        </p:sp>
        <p:sp>
          <p:nvSpPr>
            <p:cNvPr name="TextBox 24" id="24"/>
            <p:cNvSpPr txBox="true"/>
            <p:nvPr/>
          </p:nvSpPr>
          <p:spPr>
            <a:xfrm>
              <a:off x="0" y="38100"/>
              <a:ext cx="1637092" cy="202735"/>
            </a:xfrm>
            <a:prstGeom prst="rect">
              <a:avLst/>
            </a:prstGeom>
          </p:spPr>
          <p:txBody>
            <a:bodyPr anchor="ctr" rtlCol="false" tIns="50800" lIns="50800" bIns="50800" rIns="50800"/>
            <a:lstStyle/>
            <a:p>
              <a:pPr algn="ctr">
                <a:lnSpc>
                  <a:spcPts val="2174"/>
                </a:lnSpc>
              </a:pPr>
            </a:p>
          </p:txBody>
        </p:sp>
      </p:grpSp>
      <p:sp>
        <p:nvSpPr>
          <p:cNvPr name="TextBox 25" id="25"/>
          <p:cNvSpPr txBox="true"/>
          <p:nvPr/>
        </p:nvSpPr>
        <p:spPr>
          <a:xfrm rot="0">
            <a:off x="1787124" y="3720401"/>
            <a:ext cx="7677542" cy="346834"/>
          </a:xfrm>
          <a:prstGeom prst="rect">
            <a:avLst/>
          </a:prstGeom>
        </p:spPr>
        <p:txBody>
          <a:bodyPr anchor="t" rtlCol="false" tIns="0" lIns="0" bIns="0" rIns="0">
            <a:spAutoFit/>
          </a:bodyPr>
          <a:lstStyle/>
          <a:p>
            <a:pPr algn="ctr">
              <a:lnSpc>
                <a:spcPts val="2664"/>
              </a:lnSpc>
              <a:spcBef>
                <a:spcPct val="0"/>
              </a:spcBef>
            </a:pPr>
            <a:r>
              <a:rPr lang="en-US" sz="2664" spc="213">
                <a:solidFill>
                  <a:srgbClr val="FFFFFF"/>
                </a:solidFill>
                <a:latin typeface="TT Hoves"/>
                <a:ea typeface="TT Hoves"/>
                <a:cs typeface="TT Hoves"/>
                <a:sym typeface="TT Hoves"/>
              </a:rPr>
              <a:t>Creaza arbori de decizie </a:t>
            </a:r>
          </a:p>
        </p:txBody>
      </p:sp>
      <p:sp>
        <p:nvSpPr>
          <p:cNvPr name="TextBox 26" id="26"/>
          <p:cNvSpPr txBox="true"/>
          <p:nvPr/>
        </p:nvSpPr>
        <p:spPr>
          <a:xfrm rot="0">
            <a:off x="1802462" y="4991026"/>
            <a:ext cx="7677542" cy="346834"/>
          </a:xfrm>
          <a:prstGeom prst="rect">
            <a:avLst/>
          </a:prstGeom>
        </p:spPr>
        <p:txBody>
          <a:bodyPr anchor="t" rtlCol="false" tIns="0" lIns="0" bIns="0" rIns="0">
            <a:spAutoFit/>
          </a:bodyPr>
          <a:lstStyle/>
          <a:p>
            <a:pPr algn="ctr">
              <a:lnSpc>
                <a:spcPts val="2664"/>
              </a:lnSpc>
              <a:spcBef>
                <a:spcPct val="0"/>
              </a:spcBef>
            </a:pPr>
            <a:r>
              <a:rPr lang="en-US" sz="2664" spc="213">
                <a:solidFill>
                  <a:srgbClr val="FFFFFF"/>
                </a:solidFill>
                <a:latin typeface="TT Hoves"/>
                <a:ea typeface="TT Hoves"/>
                <a:cs typeface="TT Hoves"/>
                <a:sym typeface="TT Hoves"/>
              </a:rPr>
              <a:t>Aleg caracteristici random</a:t>
            </a:r>
          </a:p>
        </p:txBody>
      </p:sp>
      <p:sp>
        <p:nvSpPr>
          <p:cNvPr name="TextBox 27" id="27"/>
          <p:cNvSpPr txBox="true"/>
          <p:nvPr/>
        </p:nvSpPr>
        <p:spPr>
          <a:xfrm rot="0">
            <a:off x="1787124" y="6568415"/>
            <a:ext cx="7677542" cy="346834"/>
          </a:xfrm>
          <a:prstGeom prst="rect">
            <a:avLst/>
          </a:prstGeom>
        </p:spPr>
        <p:txBody>
          <a:bodyPr anchor="t" rtlCol="false" tIns="0" lIns="0" bIns="0" rIns="0">
            <a:spAutoFit/>
          </a:bodyPr>
          <a:lstStyle/>
          <a:p>
            <a:pPr algn="ctr">
              <a:lnSpc>
                <a:spcPts val="2664"/>
              </a:lnSpc>
              <a:spcBef>
                <a:spcPct val="0"/>
              </a:spcBef>
            </a:pPr>
            <a:r>
              <a:rPr lang="en-US" sz="2664" spc="213">
                <a:solidFill>
                  <a:srgbClr val="FFFFFF"/>
                </a:solidFill>
                <a:latin typeface="TT Hoves"/>
                <a:ea typeface="TT Hoves"/>
                <a:cs typeface="TT Hoves"/>
                <a:sym typeface="TT Hoves"/>
              </a:rPr>
              <a:t>Fiecare arbore face cate o decizie</a:t>
            </a:r>
          </a:p>
        </p:txBody>
      </p:sp>
      <p:sp>
        <p:nvSpPr>
          <p:cNvPr name="TextBox 28" id="28"/>
          <p:cNvSpPr txBox="true"/>
          <p:nvPr/>
        </p:nvSpPr>
        <p:spPr>
          <a:xfrm rot="0">
            <a:off x="1884127" y="8015155"/>
            <a:ext cx="7677542" cy="346834"/>
          </a:xfrm>
          <a:prstGeom prst="rect">
            <a:avLst/>
          </a:prstGeom>
        </p:spPr>
        <p:txBody>
          <a:bodyPr anchor="t" rtlCol="false" tIns="0" lIns="0" bIns="0" rIns="0">
            <a:spAutoFit/>
          </a:bodyPr>
          <a:lstStyle/>
          <a:p>
            <a:pPr algn="ctr">
              <a:lnSpc>
                <a:spcPts val="2664"/>
              </a:lnSpc>
              <a:spcBef>
                <a:spcPct val="0"/>
              </a:spcBef>
            </a:pPr>
            <a:r>
              <a:rPr lang="en-US" sz="2664" spc="213">
                <a:solidFill>
                  <a:srgbClr val="FFFFFF"/>
                </a:solidFill>
                <a:latin typeface="TT Hoves"/>
                <a:ea typeface="TT Hoves"/>
                <a:cs typeface="TT Hoves"/>
                <a:sym typeface="TT Hoves"/>
              </a:rPr>
              <a:t>Deciziile sunt apoi combinate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sp>
        <p:nvSpPr>
          <p:cNvPr name="AutoShape 2" id="2"/>
          <p:cNvSpPr/>
          <p:nvPr/>
        </p:nvSpPr>
        <p:spPr>
          <a:xfrm flipV="true">
            <a:off x="0" y="613170"/>
            <a:ext cx="18288000" cy="0"/>
          </a:xfrm>
          <a:prstGeom prst="line">
            <a:avLst/>
          </a:prstGeom>
          <a:ln cap="rnd" w="19050">
            <a:solidFill>
              <a:srgbClr val="000000"/>
            </a:solidFill>
            <a:prstDash val="solid"/>
            <a:headEnd type="none" len="sm" w="sm"/>
            <a:tailEnd type="none" len="sm" w="sm"/>
          </a:ln>
        </p:spPr>
      </p:sp>
      <p:grpSp>
        <p:nvGrpSpPr>
          <p:cNvPr name="Group 3" id="3"/>
          <p:cNvGrpSpPr/>
          <p:nvPr/>
        </p:nvGrpSpPr>
        <p:grpSpPr>
          <a:xfrm rot="0">
            <a:off x="7092551" y="2419344"/>
            <a:ext cx="5305427" cy="7268773"/>
            <a:chOff x="0" y="0"/>
            <a:chExt cx="1397314" cy="1914409"/>
          </a:xfrm>
        </p:grpSpPr>
        <p:sp>
          <p:nvSpPr>
            <p:cNvPr name="Freeform 4" id="4"/>
            <p:cNvSpPr/>
            <p:nvPr/>
          </p:nvSpPr>
          <p:spPr>
            <a:xfrm flipH="false" flipV="false" rot="0">
              <a:off x="0" y="0"/>
              <a:ext cx="1397314" cy="1914409"/>
            </a:xfrm>
            <a:custGeom>
              <a:avLst/>
              <a:gdLst/>
              <a:ahLst/>
              <a:cxnLst/>
              <a:rect r="r" b="b" t="t" l="l"/>
              <a:pathLst>
                <a:path h="1914409" w="1397314">
                  <a:moveTo>
                    <a:pt x="0" y="0"/>
                  </a:moveTo>
                  <a:lnTo>
                    <a:pt x="1397314" y="0"/>
                  </a:lnTo>
                  <a:lnTo>
                    <a:pt x="1397314" y="1914409"/>
                  </a:lnTo>
                  <a:lnTo>
                    <a:pt x="0" y="1914409"/>
                  </a:lnTo>
                  <a:close/>
                </a:path>
              </a:pathLst>
            </a:custGeom>
            <a:solidFill>
              <a:srgbClr val="4C5526"/>
            </a:solidFill>
          </p:spPr>
        </p:sp>
        <p:sp>
          <p:nvSpPr>
            <p:cNvPr name="TextBox 5" id="5"/>
            <p:cNvSpPr txBox="true"/>
            <p:nvPr/>
          </p:nvSpPr>
          <p:spPr>
            <a:xfrm>
              <a:off x="0" y="47625"/>
              <a:ext cx="1397314" cy="1866784"/>
            </a:xfrm>
            <a:prstGeom prst="rect">
              <a:avLst/>
            </a:prstGeom>
          </p:spPr>
          <p:txBody>
            <a:bodyPr anchor="ctr" rtlCol="false" tIns="50800" lIns="50800" bIns="50800" rIns="50800"/>
            <a:lstStyle/>
            <a:p>
              <a:pPr algn="ctr">
                <a:lnSpc>
                  <a:spcPts val="2664"/>
                </a:lnSpc>
              </a:pPr>
            </a:p>
          </p:txBody>
        </p:sp>
      </p:grpSp>
      <p:sp>
        <p:nvSpPr>
          <p:cNvPr name="AutoShape 6" id="6"/>
          <p:cNvSpPr/>
          <p:nvPr/>
        </p:nvSpPr>
        <p:spPr>
          <a:xfrm>
            <a:off x="598883" y="2419344"/>
            <a:ext cx="17104522" cy="0"/>
          </a:xfrm>
          <a:prstGeom prst="line">
            <a:avLst/>
          </a:prstGeom>
          <a:ln cap="rnd" w="19050">
            <a:solidFill>
              <a:srgbClr val="000000"/>
            </a:solidFill>
            <a:prstDash val="solid"/>
            <a:headEnd type="none" len="sm" w="sm"/>
            <a:tailEnd type="none" len="sm" w="sm"/>
          </a:ln>
        </p:spPr>
      </p:sp>
      <p:sp>
        <p:nvSpPr>
          <p:cNvPr name="AutoShape 7" id="7"/>
          <p:cNvSpPr/>
          <p:nvPr/>
        </p:nvSpPr>
        <p:spPr>
          <a:xfrm>
            <a:off x="7092551" y="2419344"/>
            <a:ext cx="0" cy="7268773"/>
          </a:xfrm>
          <a:prstGeom prst="line">
            <a:avLst/>
          </a:prstGeom>
          <a:ln cap="rnd" w="19050">
            <a:solidFill>
              <a:srgbClr val="000000"/>
            </a:solidFill>
            <a:prstDash val="solid"/>
            <a:headEnd type="none" len="sm" w="sm"/>
            <a:tailEnd type="none" len="sm" w="sm"/>
          </a:ln>
        </p:spPr>
      </p:sp>
      <p:sp>
        <p:nvSpPr>
          <p:cNvPr name="AutoShape 8" id="8"/>
          <p:cNvSpPr/>
          <p:nvPr/>
        </p:nvSpPr>
        <p:spPr>
          <a:xfrm>
            <a:off x="12397978" y="2419344"/>
            <a:ext cx="0" cy="7268773"/>
          </a:xfrm>
          <a:prstGeom prst="line">
            <a:avLst/>
          </a:prstGeom>
          <a:ln cap="rnd" w="19050">
            <a:solidFill>
              <a:srgbClr val="000000"/>
            </a:solidFill>
            <a:prstDash val="solid"/>
            <a:headEnd type="none" len="sm" w="sm"/>
            <a:tailEnd type="none" len="sm" w="sm"/>
          </a:ln>
        </p:spPr>
      </p:sp>
      <p:sp>
        <p:nvSpPr>
          <p:cNvPr name="AutoShape 9" id="9"/>
          <p:cNvSpPr/>
          <p:nvPr/>
        </p:nvSpPr>
        <p:spPr>
          <a:xfrm>
            <a:off x="0" y="9688117"/>
            <a:ext cx="18288000" cy="0"/>
          </a:xfrm>
          <a:prstGeom prst="line">
            <a:avLst/>
          </a:prstGeom>
          <a:ln cap="rnd" w="19050">
            <a:solidFill>
              <a:srgbClr val="000000"/>
            </a:solidFill>
            <a:prstDash val="solid"/>
            <a:headEnd type="none" len="sm" w="sm"/>
            <a:tailEnd type="none" len="sm" w="sm"/>
          </a:ln>
        </p:spPr>
      </p:sp>
      <p:sp>
        <p:nvSpPr>
          <p:cNvPr name="AutoShape 10" id="10"/>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11" id="11"/>
          <p:cNvSpPr/>
          <p:nvPr/>
        </p:nvSpPr>
        <p:spPr>
          <a:xfrm>
            <a:off x="1787124" y="613170"/>
            <a:ext cx="0" cy="9074947"/>
          </a:xfrm>
          <a:prstGeom prst="line">
            <a:avLst/>
          </a:prstGeom>
          <a:ln cap="rnd" w="19050">
            <a:solidFill>
              <a:srgbClr val="000000"/>
            </a:solidFill>
            <a:prstDash val="solid"/>
            <a:headEnd type="none" len="sm" w="sm"/>
            <a:tailEnd type="none" len="sm" w="sm"/>
          </a:ln>
        </p:spPr>
      </p:sp>
      <p:sp>
        <p:nvSpPr>
          <p:cNvPr name="AutoShape 12" id="12"/>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TextBox 13" id="13"/>
          <p:cNvSpPr txBox="true"/>
          <p:nvPr/>
        </p:nvSpPr>
        <p:spPr>
          <a:xfrm rot="0">
            <a:off x="1850122" y="1184937"/>
            <a:ext cx="14057709" cy="862076"/>
          </a:xfrm>
          <a:prstGeom prst="rect">
            <a:avLst/>
          </a:prstGeom>
        </p:spPr>
        <p:txBody>
          <a:bodyPr anchor="t" rtlCol="false" tIns="0" lIns="0" bIns="0" rIns="0">
            <a:spAutoFit/>
          </a:bodyPr>
          <a:lstStyle/>
          <a:p>
            <a:pPr algn="ctr" marL="0" indent="0" lvl="0">
              <a:lnSpc>
                <a:spcPts val="6591"/>
              </a:lnSpc>
              <a:spcBef>
                <a:spcPct val="0"/>
              </a:spcBef>
            </a:pPr>
            <a:r>
              <a:rPr lang="en-US" sz="6399">
                <a:solidFill>
                  <a:srgbClr val="1A160F"/>
                </a:solidFill>
                <a:latin typeface="Archivo Black"/>
                <a:ea typeface="Archivo Black"/>
                <a:cs typeface="Archivo Black"/>
                <a:sym typeface="Archivo Black"/>
              </a:rPr>
              <a:t>IMPLEMENTAREA IN PYTHON</a:t>
            </a:r>
          </a:p>
        </p:txBody>
      </p:sp>
      <p:grpSp>
        <p:nvGrpSpPr>
          <p:cNvPr name="Group 14" id="14"/>
          <p:cNvGrpSpPr/>
          <p:nvPr/>
        </p:nvGrpSpPr>
        <p:grpSpPr>
          <a:xfrm rot="0">
            <a:off x="15898306" y="613170"/>
            <a:ext cx="1805099" cy="1806174"/>
            <a:chOff x="0" y="0"/>
            <a:chExt cx="475417" cy="475700"/>
          </a:xfrm>
        </p:grpSpPr>
        <p:sp>
          <p:nvSpPr>
            <p:cNvPr name="Freeform 15" id="15"/>
            <p:cNvSpPr/>
            <p:nvPr/>
          </p:nvSpPr>
          <p:spPr>
            <a:xfrm flipH="false" flipV="false" rot="0">
              <a:off x="0" y="0"/>
              <a:ext cx="475417" cy="475700"/>
            </a:xfrm>
            <a:custGeom>
              <a:avLst/>
              <a:gdLst/>
              <a:ahLst/>
              <a:cxnLst/>
              <a:rect r="r" b="b" t="t" l="l"/>
              <a:pathLst>
                <a:path h="475700" w="475417">
                  <a:moveTo>
                    <a:pt x="0" y="0"/>
                  </a:moveTo>
                  <a:lnTo>
                    <a:pt x="475417" y="0"/>
                  </a:lnTo>
                  <a:lnTo>
                    <a:pt x="475417" y="475700"/>
                  </a:lnTo>
                  <a:lnTo>
                    <a:pt x="0" y="475700"/>
                  </a:lnTo>
                  <a:close/>
                </a:path>
              </a:pathLst>
            </a:custGeom>
            <a:solidFill>
              <a:srgbClr val="4C5526"/>
            </a:solidFill>
            <a:ln cap="sq">
              <a:noFill/>
              <a:prstDash val="solid"/>
              <a:miter/>
            </a:ln>
          </p:spPr>
        </p:sp>
        <p:sp>
          <p:nvSpPr>
            <p:cNvPr name="TextBox 16" id="16"/>
            <p:cNvSpPr txBox="true"/>
            <p:nvPr/>
          </p:nvSpPr>
          <p:spPr>
            <a:xfrm>
              <a:off x="0" y="-28575"/>
              <a:ext cx="475417" cy="504275"/>
            </a:xfrm>
            <a:prstGeom prst="rect">
              <a:avLst/>
            </a:prstGeom>
          </p:spPr>
          <p:txBody>
            <a:bodyPr anchor="ctr" rtlCol="false" tIns="50800" lIns="50800" bIns="50800" rIns="50800"/>
            <a:lstStyle/>
            <a:p>
              <a:pPr algn="ctr">
                <a:lnSpc>
                  <a:spcPts val="2659"/>
                </a:lnSpc>
              </a:pPr>
            </a:p>
          </p:txBody>
        </p:sp>
      </p:grpSp>
      <p:sp>
        <p:nvSpPr>
          <p:cNvPr name="AutoShape 17" id="17"/>
          <p:cNvSpPr/>
          <p:nvPr/>
        </p:nvSpPr>
        <p:spPr>
          <a:xfrm>
            <a:off x="15907831" y="613170"/>
            <a:ext cx="0" cy="1806174"/>
          </a:xfrm>
          <a:prstGeom prst="line">
            <a:avLst/>
          </a:prstGeom>
          <a:ln cap="rnd" w="19050">
            <a:solidFill>
              <a:srgbClr val="000000"/>
            </a:solidFill>
            <a:prstDash val="solid"/>
            <a:headEnd type="none" len="sm" w="sm"/>
            <a:tailEnd type="none" len="sm" w="sm"/>
          </a:ln>
        </p:spPr>
      </p:sp>
      <p:sp>
        <p:nvSpPr>
          <p:cNvPr name="Freeform 18" id="18"/>
          <p:cNvSpPr/>
          <p:nvPr/>
        </p:nvSpPr>
        <p:spPr>
          <a:xfrm flipH="false" flipV="false" rot="8100000">
            <a:off x="16196047" y="1121760"/>
            <a:ext cx="1157193" cy="788995"/>
          </a:xfrm>
          <a:custGeom>
            <a:avLst/>
            <a:gdLst/>
            <a:ahLst/>
            <a:cxnLst/>
            <a:rect r="r" b="b" t="t" l="l"/>
            <a:pathLst>
              <a:path h="788995" w="1157193">
                <a:moveTo>
                  <a:pt x="0" y="0"/>
                </a:moveTo>
                <a:lnTo>
                  <a:pt x="1157193" y="0"/>
                </a:lnTo>
                <a:lnTo>
                  <a:pt x="1157193" y="788995"/>
                </a:lnTo>
                <a:lnTo>
                  <a:pt x="0" y="7889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9" id="19"/>
          <p:cNvSpPr/>
          <p:nvPr/>
        </p:nvSpPr>
        <p:spPr>
          <a:xfrm>
            <a:off x="12551541" y="3740079"/>
            <a:ext cx="1734797" cy="0"/>
          </a:xfrm>
          <a:prstGeom prst="line">
            <a:avLst/>
          </a:prstGeom>
          <a:ln cap="flat" w="19050">
            <a:solidFill>
              <a:srgbClr val="4C5526"/>
            </a:solidFill>
            <a:prstDash val="solid"/>
            <a:headEnd type="none" len="sm" w="sm"/>
            <a:tailEnd type="none" len="sm" w="sm"/>
          </a:ln>
        </p:spPr>
      </p:sp>
      <p:sp>
        <p:nvSpPr>
          <p:cNvPr name="TextBox 20" id="20"/>
          <p:cNvSpPr txBox="true"/>
          <p:nvPr/>
        </p:nvSpPr>
        <p:spPr>
          <a:xfrm rot="0">
            <a:off x="12683728" y="3844854"/>
            <a:ext cx="4217033" cy="7285481"/>
          </a:xfrm>
          <a:prstGeom prst="rect">
            <a:avLst/>
          </a:prstGeom>
        </p:spPr>
        <p:txBody>
          <a:bodyPr anchor="t" rtlCol="false" tIns="0" lIns="0" bIns="0" rIns="0">
            <a:spAutoFit/>
          </a:bodyPr>
          <a:lstStyle/>
          <a:p>
            <a:pPr algn="l">
              <a:lnSpc>
                <a:spcPts val="3654"/>
              </a:lnSpc>
            </a:pPr>
            <a:r>
              <a:rPr lang="en-US" sz="2100" spc="52">
                <a:solidFill>
                  <a:srgbClr val="1A160F"/>
                </a:solidFill>
                <a:latin typeface="TT Hoves"/>
                <a:ea typeface="TT Hoves"/>
                <a:cs typeface="TT Hoves"/>
                <a:sym typeface="TT Hoves"/>
              </a:rPr>
              <a:t>Se foloseste kmeans pentru a defini vocabularul dupa optimizarea datelor cu np.array</a:t>
            </a:r>
          </a:p>
          <a:p>
            <a:pPr algn="l">
              <a:lnSpc>
                <a:spcPts val="3654"/>
              </a:lnSpc>
            </a:pPr>
          </a:p>
          <a:p>
            <a:pPr algn="l">
              <a:lnSpc>
                <a:spcPts val="3654"/>
              </a:lnSpc>
            </a:pPr>
            <a:r>
              <a:rPr lang="en-US" sz="2100" spc="52">
                <a:solidFill>
                  <a:srgbClr val="1A160F"/>
                </a:solidFill>
                <a:latin typeface="TT Hoves"/>
                <a:ea typeface="TT Hoves"/>
                <a:cs typeface="TT Hoves"/>
                <a:sym typeface="TT Hoves"/>
              </a:rPr>
              <a:t>Se extrag cuvintele din fiecare imagine si se compara cu vocabularul creat cu kmeans</a:t>
            </a:r>
          </a:p>
          <a:p>
            <a:pPr algn="l">
              <a:lnSpc>
                <a:spcPts val="3654"/>
              </a:lnSpc>
            </a:pPr>
          </a:p>
          <a:p>
            <a:pPr algn="l">
              <a:lnSpc>
                <a:spcPts val="3654"/>
              </a:lnSpc>
            </a:pPr>
            <a:r>
              <a:rPr lang="en-US" sz="2100" spc="52">
                <a:solidFill>
                  <a:srgbClr val="1A160F"/>
                </a:solidFill>
                <a:latin typeface="TT Hoves"/>
                <a:ea typeface="TT Hoves"/>
                <a:cs typeface="TT Hoves"/>
                <a:sym typeface="TT Hoves"/>
              </a:rPr>
              <a:t>se obtine o histograma pentru fiecare imagine care reprezinta frecventa fiecarui cuvant din vocabular in imaginea aleasa</a:t>
            </a:r>
          </a:p>
          <a:p>
            <a:pPr algn="l">
              <a:lnSpc>
                <a:spcPts val="3654"/>
              </a:lnSpc>
            </a:pPr>
          </a:p>
          <a:p>
            <a:pPr algn="l">
              <a:lnSpc>
                <a:spcPts val="3654"/>
              </a:lnSpc>
            </a:pPr>
          </a:p>
          <a:p>
            <a:pPr algn="l">
              <a:lnSpc>
                <a:spcPts val="3654"/>
              </a:lnSpc>
            </a:pPr>
          </a:p>
          <a:p>
            <a:pPr algn="l">
              <a:lnSpc>
                <a:spcPts val="3654"/>
              </a:lnSpc>
            </a:pPr>
            <a:r>
              <a:rPr lang="en-US" sz="2100" spc="52">
                <a:solidFill>
                  <a:srgbClr val="1A160F"/>
                </a:solidFill>
                <a:latin typeface="TT Hoves"/>
                <a:ea typeface="TT Hoves"/>
                <a:cs typeface="TT Hoves"/>
                <a:sym typeface="TT Hoves"/>
              </a:rPr>
              <a:t> </a:t>
            </a:r>
          </a:p>
        </p:txBody>
      </p:sp>
      <p:sp>
        <p:nvSpPr>
          <p:cNvPr name="TextBox 21" id="21"/>
          <p:cNvSpPr txBox="true"/>
          <p:nvPr/>
        </p:nvSpPr>
        <p:spPr>
          <a:xfrm rot="0">
            <a:off x="12535654" y="2661420"/>
            <a:ext cx="5465900" cy="1024932"/>
          </a:xfrm>
          <a:prstGeom prst="rect">
            <a:avLst/>
          </a:prstGeom>
        </p:spPr>
        <p:txBody>
          <a:bodyPr anchor="t" rtlCol="false" tIns="0" lIns="0" bIns="0" rIns="0">
            <a:spAutoFit/>
          </a:bodyPr>
          <a:lstStyle/>
          <a:p>
            <a:pPr algn="l">
              <a:lnSpc>
                <a:spcPts val="3909"/>
              </a:lnSpc>
            </a:pPr>
            <a:r>
              <a:rPr lang="en-US" sz="3796">
                <a:solidFill>
                  <a:srgbClr val="1A160F"/>
                </a:solidFill>
                <a:latin typeface="Archivo Black"/>
                <a:ea typeface="Archivo Black"/>
                <a:cs typeface="Archivo Black"/>
                <a:sym typeface="Archivo Black"/>
              </a:rPr>
              <a:t>OBTINEREA VOCABULARULUI</a:t>
            </a:r>
          </a:p>
        </p:txBody>
      </p:sp>
      <p:sp>
        <p:nvSpPr>
          <p:cNvPr name="TextBox 22" id="22"/>
          <p:cNvSpPr txBox="true"/>
          <p:nvPr/>
        </p:nvSpPr>
        <p:spPr>
          <a:xfrm rot="0">
            <a:off x="2196319" y="2617217"/>
            <a:ext cx="3947029" cy="1671743"/>
          </a:xfrm>
          <a:prstGeom prst="rect">
            <a:avLst/>
          </a:prstGeom>
        </p:spPr>
        <p:txBody>
          <a:bodyPr anchor="t" rtlCol="false" tIns="0" lIns="0" bIns="0" rIns="0">
            <a:spAutoFit/>
          </a:bodyPr>
          <a:lstStyle/>
          <a:p>
            <a:pPr algn="l">
              <a:lnSpc>
                <a:spcPts val="4321"/>
              </a:lnSpc>
            </a:pPr>
            <a:r>
              <a:rPr lang="en-US" sz="4196">
                <a:solidFill>
                  <a:srgbClr val="1A160F"/>
                </a:solidFill>
                <a:latin typeface="Archivo Black"/>
                <a:ea typeface="Archivo Black"/>
                <a:cs typeface="Archivo Black"/>
                <a:sym typeface="Archivo Black"/>
              </a:rPr>
              <a:t>INCARCAREA IMAGINILOR;VERIFICARE</a:t>
            </a:r>
          </a:p>
        </p:txBody>
      </p:sp>
      <p:sp>
        <p:nvSpPr>
          <p:cNvPr name="TextBox 23" id="23"/>
          <p:cNvSpPr txBox="true"/>
          <p:nvPr/>
        </p:nvSpPr>
        <p:spPr>
          <a:xfrm rot="0">
            <a:off x="2196319" y="4630315"/>
            <a:ext cx="4619473" cy="4509487"/>
          </a:xfrm>
          <a:prstGeom prst="rect">
            <a:avLst/>
          </a:prstGeom>
        </p:spPr>
        <p:txBody>
          <a:bodyPr anchor="t" rtlCol="false" tIns="0" lIns="0" bIns="0" rIns="0">
            <a:spAutoFit/>
          </a:bodyPr>
          <a:lstStyle/>
          <a:p>
            <a:pPr algn="l">
              <a:lnSpc>
                <a:spcPts val="4002"/>
              </a:lnSpc>
            </a:pPr>
            <a:r>
              <a:rPr lang="en-US" sz="2300" spc="57">
                <a:solidFill>
                  <a:srgbClr val="1A160F"/>
                </a:solidFill>
                <a:latin typeface="TT Hoves"/>
                <a:ea typeface="TT Hoves"/>
                <a:cs typeface="TT Hoves"/>
                <a:sym typeface="TT Hoves"/>
              </a:rPr>
              <a:t>Imaginile sunt incarcate</a:t>
            </a:r>
          </a:p>
          <a:p>
            <a:pPr algn="l">
              <a:lnSpc>
                <a:spcPts val="4002"/>
              </a:lnSpc>
            </a:pPr>
          </a:p>
          <a:p>
            <a:pPr algn="l">
              <a:lnSpc>
                <a:spcPts val="4002"/>
              </a:lnSpc>
            </a:pPr>
            <a:r>
              <a:rPr lang="en-US" sz="2300" spc="57">
                <a:solidFill>
                  <a:srgbClr val="1A160F"/>
                </a:solidFill>
                <a:latin typeface="TT Hoves"/>
                <a:ea typeface="TT Hoves"/>
                <a:cs typeface="TT Hoves"/>
                <a:sym typeface="TT Hoves"/>
              </a:rPr>
              <a:t>Sunt verificate dimensiunile</a:t>
            </a:r>
          </a:p>
          <a:p>
            <a:pPr algn="l">
              <a:lnSpc>
                <a:spcPts val="4002"/>
              </a:lnSpc>
            </a:pPr>
          </a:p>
          <a:p>
            <a:pPr algn="l">
              <a:lnSpc>
                <a:spcPts val="4002"/>
              </a:lnSpc>
            </a:pPr>
            <a:r>
              <a:rPr lang="en-US" sz="2300" spc="57">
                <a:solidFill>
                  <a:srgbClr val="1A160F"/>
                </a:solidFill>
                <a:latin typeface="TT Hoves"/>
                <a:ea typeface="TT Hoves"/>
                <a:cs typeface="TT Hoves"/>
                <a:sym typeface="TT Hoves"/>
              </a:rPr>
              <a:t>Sunt standardizate la o dimensiune, orientare, format  alese</a:t>
            </a:r>
          </a:p>
          <a:p>
            <a:pPr algn="l">
              <a:lnSpc>
                <a:spcPts val="4002"/>
              </a:lnSpc>
            </a:pPr>
          </a:p>
          <a:p>
            <a:pPr algn="l">
              <a:lnSpc>
                <a:spcPts val="4002"/>
              </a:lnSpc>
            </a:pPr>
          </a:p>
        </p:txBody>
      </p:sp>
      <p:sp>
        <p:nvSpPr>
          <p:cNvPr name="TextBox 24" id="24"/>
          <p:cNvSpPr txBox="true"/>
          <p:nvPr/>
        </p:nvSpPr>
        <p:spPr>
          <a:xfrm rot="0">
            <a:off x="7409203" y="2626742"/>
            <a:ext cx="4170440" cy="1103811"/>
          </a:xfrm>
          <a:prstGeom prst="rect">
            <a:avLst/>
          </a:prstGeom>
        </p:spPr>
        <p:txBody>
          <a:bodyPr anchor="t" rtlCol="false" tIns="0" lIns="0" bIns="0" rIns="0">
            <a:spAutoFit/>
          </a:bodyPr>
          <a:lstStyle/>
          <a:p>
            <a:pPr algn="l">
              <a:lnSpc>
                <a:spcPts val="4265"/>
              </a:lnSpc>
            </a:pPr>
            <a:r>
              <a:rPr lang="en-US" sz="4140">
                <a:solidFill>
                  <a:srgbClr val="F2F0E3"/>
                </a:solidFill>
                <a:latin typeface="Archivo Black"/>
                <a:ea typeface="Archivo Black"/>
                <a:cs typeface="Archivo Black"/>
                <a:sym typeface="Archivo Black"/>
              </a:rPr>
              <a:t>EXTRAGEREA CUVINTELOR</a:t>
            </a:r>
          </a:p>
        </p:txBody>
      </p:sp>
      <p:sp>
        <p:nvSpPr>
          <p:cNvPr name="TextBox 25" id="25"/>
          <p:cNvSpPr txBox="true"/>
          <p:nvPr/>
        </p:nvSpPr>
        <p:spPr>
          <a:xfrm rot="0">
            <a:off x="7638020" y="3997254"/>
            <a:ext cx="4217033" cy="5913881"/>
          </a:xfrm>
          <a:prstGeom prst="rect">
            <a:avLst/>
          </a:prstGeom>
        </p:spPr>
        <p:txBody>
          <a:bodyPr anchor="t" rtlCol="false" tIns="0" lIns="0" bIns="0" rIns="0">
            <a:spAutoFit/>
          </a:bodyPr>
          <a:lstStyle/>
          <a:p>
            <a:pPr algn="l">
              <a:lnSpc>
                <a:spcPts val="3654"/>
              </a:lnSpc>
            </a:pPr>
            <a:r>
              <a:rPr lang="en-US" sz="2100" spc="52">
                <a:solidFill>
                  <a:srgbClr val="F2F0E3"/>
                </a:solidFill>
                <a:latin typeface="TT Hoves"/>
                <a:ea typeface="TT Hoves"/>
                <a:cs typeface="TT Hoves"/>
                <a:sym typeface="TT Hoves"/>
              </a:rPr>
              <a:t>Se extrag dimensiunea, latimea, inaltimea si canalele de culoare</a:t>
            </a:r>
          </a:p>
          <a:p>
            <a:pPr algn="l">
              <a:lnSpc>
                <a:spcPts val="3654"/>
              </a:lnSpc>
            </a:pPr>
          </a:p>
          <a:p>
            <a:pPr algn="l">
              <a:lnSpc>
                <a:spcPts val="3654"/>
              </a:lnSpc>
            </a:pPr>
            <a:r>
              <a:rPr lang="en-US" sz="2100" spc="52">
                <a:solidFill>
                  <a:srgbClr val="F2F0E3"/>
                </a:solidFill>
                <a:latin typeface="TT Hoves"/>
                <a:ea typeface="TT Hoves"/>
                <a:cs typeface="TT Hoves"/>
                <a:sym typeface="TT Hoves"/>
              </a:rPr>
              <a:t>Se parcurge imaginea de sus in jos cu un step de dimensiunea patchului si de la stanga la dreapta cu acelas step</a:t>
            </a:r>
          </a:p>
          <a:p>
            <a:pPr algn="l">
              <a:lnSpc>
                <a:spcPts val="3654"/>
              </a:lnSpc>
            </a:pPr>
          </a:p>
          <a:p>
            <a:pPr algn="l">
              <a:lnSpc>
                <a:spcPts val="3654"/>
              </a:lnSpc>
            </a:pPr>
            <a:r>
              <a:rPr lang="en-US" sz="2100" spc="52">
                <a:solidFill>
                  <a:srgbClr val="F2F0E3"/>
                </a:solidFill>
                <a:latin typeface="TT Hoves"/>
                <a:ea typeface="TT Hoves"/>
                <a:cs typeface="TT Hoves"/>
                <a:sym typeface="TT Hoves"/>
              </a:rPr>
              <a:t>Pe baza segmentelor rezultate se creaza un cuvant si se adauga la lista</a:t>
            </a:r>
          </a:p>
          <a:p>
            <a:pPr algn="l">
              <a:lnSpc>
                <a:spcPts val="3654"/>
              </a:lnSpc>
            </a:pPr>
          </a:p>
          <a:p>
            <a:pPr algn="l">
              <a:lnSpc>
                <a:spcPts val="3654"/>
              </a:lnSpc>
            </a:pPr>
          </a:p>
        </p:txBody>
      </p:sp>
      <p:sp>
        <p:nvSpPr>
          <p:cNvPr name="AutoShape 26" id="26"/>
          <p:cNvSpPr/>
          <p:nvPr/>
        </p:nvSpPr>
        <p:spPr>
          <a:xfrm>
            <a:off x="7409203" y="3740079"/>
            <a:ext cx="1734797" cy="0"/>
          </a:xfrm>
          <a:prstGeom prst="line">
            <a:avLst/>
          </a:prstGeom>
          <a:ln cap="flat" w="19050">
            <a:solidFill>
              <a:srgbClr val="F2F0E3"/>
            </a:solidFill>
            <a:prstDash val="solid"/>
            <a:headEnd type="none" len="sm" w="sm"/>
            <a:tailEnd type="none" len="sm" w="sm"/>
          </a:ln>
        </p:spPr>
      </p:sp>
      <p:sp>
        <p:nvSpPr>
          <p:cNvPr name="AutoShape 27" id="27"/>
          <p:cNvSpPr/>
          <p:nvPr/>
        </p:nvSpPr>
        <p:spPr>
          <a:xfrm>
            <a:off x="2196319" y="4288960"/>
            <a:ext cx="1734797" cy="0"/>
          </a:xfrm>
          <a:prstGeom prst="line">
            <a:avLst/>
          </a:prstGeom>
          <a:ln cap="flat" w="19050">
            <a:solidFill>
              <a:srgbClr val="4C5526"/>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sp>
        <p:nvSpPr>
          <p:cNvPr name="AutoShape 2" id="2"/>
          <p:cNvSpPr/>
          <p:nvPr/>
        </p:nvSpPr>
        <p:spPr>
          <a:xfrm flipV="true">
            <a:off x="0" y="613170"/>
            <a:ext cx="18288000" cy="0"/>
          </a:xfrm>
          <a:prstGeom prst="line">
            <a:avLst/>
          </a:prstGeom>
          <a:ln cap="rnd" w="19050">
            <a:solidFill>
              <a:srgbClr val="000000"/>
            </a:solidFill>
            <a:prstDash val="solid"/>
            <a:headEnd type="none" len="sm" w="sm"/>
            <a:tailEnd type="none" len="sm" w="sm"/>
          </a:ln>
        </p:spPr>
      </p:sp>
      <p:sp>
        <p:nvSpPr>
          <p:cNvPr name="AutoShape 3" id="3"/>
          <p:cNvSpPr/>
          <p:nvPr/>
        </p:nvSpPr>
        <p:spPr>
          <a:xfrm>
            <a:off x="0" y="9688117"/>
            <a:ext cx="18288000" cy="0"/>
          </a:xfrm>
          <a:prstGeom prst="line">
            <a:avLst/>
          </a:prstGeom>
          <a:ln cap="rnd" w="19050">
            <a:solidFill>
              <a:srgbClr val="000000"/>
            </a:solidFill>
            <a:prstDash val="solid"/>
            <a:headEnd type="none" len="sm" w="sm"/>
            <a:tailEnd type="none" len="sm" w="sm"/>
          </a:ln>
        </p:spPr>
      </p:sp>
      <p:sp>
        <p:nvSpPr>
          <p:cNvPr name="AutoShape 4" id="4"/>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5" id="5"/>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Freeform 6" id="6"/>
          <p:cNvSpPr/>
          <p:nvPr/>
        </p:nvSpPr>
        <p:spPr>
          <a:xfrm flipH="false" flipV="false" rot="0">
            <a:off x="4058148" y="926443"/>
            <a:ext cx="9613015" cy="7091291"/>
          </a:xfrm>
          <a:custGeom>
            <a:avLst/>
            <a:gdLst/>
            <a:ahLst/>
            <a:cxnLst/>
            <a:rect r="r" b="b" t="t" l="l"/>
            <a:pathLst>
              <a:path h="7091291" w="9613015">
                <a:moveTo>
                  <a:pt x="0" y="0"/>
                </a:moveTo>
                <a:lnTo>
                  <a:pt x="9613016" y="0"/>
                </a:lnTo>
                <a:lnTo>
                  <a:pt x="9613016" y="7091291"/>
                </a:lnTo>
                <a:lnTo>
                  <a:pt x="0" y="7091291"/>
                </a:lnTo>
                <a:lnTo>
                  <a:pt x="0" y="0"/>
                </a:lnTo>
                <a:close/>
              </a:path>
            </a:pathLst>
          </a:custGeom>
          <a:blipFill>
            <a:blip r:embed="rId2"/>
            <a:stretch>
              <a:fillRect l="0" t="0" r="0" b="0"/>
            </a:stretch>
          </a:blipFill>
        </p:spPr>
      </p:sp>
      <p:sp>
        <p:nvSpPr>
          <p:cNvPr name="TextBox 7" id="7"/>
          <p:cNvSpPr txBox="true"/>
          <p:nvPr/>
        </p:nvSpPr>
        <p:spPr>
          <a:xfrm rot="0">
            <a:off x="6194562" y="8198709"/>
            <a:ext cx="6848673" cy="470887"/>
          </a:xfrm>
          <a:prstGeom prst="rect">
            <a:avLst/>
          </a:prstGeom>
        </p:spPr>
        <p:txBody>
          <a:bodyPr anchor="t" rtlCol="false" tIns="0" lIns="0" bIns="0" rIns="0">
            <a:spAutoFit/>
          </a:bodyPr>
          <a:lstStyle/>
          <a:p>
            <a:pPr algn="l">
              <a:lnSpc>
                <a:spcPts val="4002"/>
              </a:lnSpc>
            </a:pPr>
            <a:r>
              <a:rPr lang="en-US" sz="2300" spc="57">
                <a:solidFill>
                  <a:srgbClr val="1A160F"/>
                </a:solidFill>
                <a:latin typeface="TT Hoves"/>
                <a:ea typeface="TT Hoves"/>
                <a:cs typeface="TT Hoves"/>
                <a:sym typeface="TT Hoves"/>
              </a:rPr>
              <a:t>Histograma civintelor dintr-o imagine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sp>
        <p:nvSpPr>
          <p:cNvPr name="AutoShape 2" id="2"/>
          <p:cNvSpPr/>
          <p:nvPr/>
        </p:nvSpPr>
        <p:spPr>
          <a:xfrm flipV="true">
            <a:off x="0" y="613170"/>
            <a:ext cx="18288000" cy="0"/>
          </a:xfrm>
          <a:prstGeom prst="line">
            <a:avLst/>
          </a:prstGeom>
          <a:ln cap="rnd" w="19050">
            <a:solidFill>
              <a:srgbClr val="000000"/>
            </a:solidFill>
            <a:prstDash val="solid"/>
            <a:headEnd type="none" len="sm" w="sm"/>
            <a:tailEnd type="none" len="sm" w="sm"/>
          </a:ln>
        </p:spPr>
      </p:sp>
      <p:grpSp>
        <p:nvGrpSpPr>
          <p:cNvPr name="Group 3" id="3"/>
          <p:cNvGrpSpPr/>
          <p:nvPr/>
        </p:nvGrpSpPr>
        <p:grpSpPr>
          <a:xfrm rot="0">
            <a:off x="7092551" y="2419344"/>
            <a:ext cx="5305427" cy="7268773"/>
            <a:chOff x="0" y="0"/>
            <a:chExt cx="1397314" cy="1914409"/>
          </a:xfrm>
        </p:grpSpPr>
        <p:sp>
          <p:nvSpPr>
            <p:cNvPr name="Freeform 4" id="4"/>
            <p:cNvSpPr/>
            <p:nvPr/>
          </p:nvSpPr>
          <p:spPr>
            <a:xfrm flipH="false" flipV="false" rot="0">
              <a:off x="0" y="0"/>
              <a:ext cx="1397314" cy="1914409"/>
            </a:xfrm>
            <a:custGeom>
              <a:avLst/>
              <a:gdLst/>
              <a:ahLst/>
              <a:cxnLst/>
              <a:rect r="r" b="b" t="t" l="l"/>
              <a:pathLst>
                <a:path h="1914409" w="1397314">
                  <a:moveTo>
                    <a:pt x="0" y="0"/>
                  </a:moveTo>
                  <a:lnTo>
                    <a:pt x="1397314" y="0"/>
                  </a:lnTo>
                  <a:lnTo>
                    <a:pt x="1397314" y="1914409"/>
                  </a:lnTo>
                  <a:lnTo>
                    <a:pt x="0" y="1914409"/>
                  </a:lnTo>
                  <a:close/>
                </a:path>
              </a:pathLst>
            </a:custGeom>
            <a:solidFill>
              <a:srgbClr val="4C5526"/>
            </a:solidFill>
          </p:spPr>
        </p:sp>
        <p:sp>
          <p:nvSpPr>
            <p:cNvPr name="TextBox 5" id="5"/>
            <p:cNvSpPr txBox="true"/>
            <p:nvPr/>
          </p:nvSpPr>
          <p:spPr>
            <a:xfrm>
              <a:off x="0" y="47625"/>
              <a:ext cx="1397314" cy="1866784"/>
            </a:xfrm>
            <a:prstGeom prst="rect">
              <a:avLst/>
            </a:prstGeom>
          </p:spPr>
          <p:txBody>
            <a:bodyPr anchor="ctr" rtlCol="false" tIns="50800" lIns="50800" bIns="50800" rIns="50800"/>
            <a:lstStyle/>
            <a:p>
              <a:pPr algn="ctr">
                <a:lnSpc>
                  <a:spcPts val="2664"/>
                </a:lnSpc>
              </a:pPr>
            </a:p>
          </p:txBody>
        </p:sp>
      </p:grpSp>
      <p:sp>
        <p:nvSpPr>
          <p:cNvPr name="AutoShape 6" id="6"/>
          <p:cNvSpPr/>
          <p:nvPr/>
        </p:nvSpPr>
        <p:spPr>
          <a:xfrm>
            <a:off x="598883" y="2419344"/>
            <a:ext cx="17104522" cy="0"/>
          </a:xfrm>
          <a:prstGeom prst="line">
            <a:avLst/>
          </a:prstGeom>
          <a:ln cap="rnd" w="19050">
            <a:solidFill>
              <a:srgbClr val="000000"/>
            </a:solidFill>
            <a:prstDash val="solid"/>
            <a:headEnd type="none" len="sm" w="sm"/>
            <a:tailEnd type="none" len="sm" w="sm"/>
          </a:ln>
        </p:spPr>
      </p:sp>
      <p:sp>
        <p:nvSpPr>
          <p:cNvPr name="AutoShape 7" id="7"/>
          <p:cNvSpPr/>
          <p:nvPr/>
        </p:nvSpPr>
        <p:spPr>
          <a:xfrm>
            <a:off x="7092551" y="2419344"/>
            <a:ext cx="0" cy="7268773"/>
          </a:xfrm>
          <a:prstGeom prst="line">
            <a:avLst/>
          </a:prstGeom>
          <a:ln cap="rnd" w="19050">
            <a:solidFill>
              <a:srgbClr val="000000"/>
            </a:solidFill>
            <a:prstDash val="solid"/>
            <a:headEnd type="none" len="sm" w="sm"/>
            <a:tailEnd type="none" len="sm" w="sm"/>
          </a:ln>
        </p:spPr>
      </p:sp>
      <p:sp>
        <p:nvSpPr>
          <p:cNvPr name="AutoShape 8" id="8"/>
          <p:cNvSpPr/>
          <p:nvPr/>
        </p:nvSpPr>
        <p:spPr>
          <a:xfrm>
            <a:off x="12397978" y="2419344"/>
            <a:ext cx="0" cy="7268773"/>
          </a:xfrm>
          <a:prstGeom prst="line">
            <a:avLst/>
          </a:prstGeom>
          <a:ln cap="rnd" w="19050">
            <a:solidFill>
              <a:srgbClr val="000000"/>
            </a:solidFill>
            <a:prstDash val="solid"/>
            <a:headEnd type="none" len="sm" w="sm"/>
            <a:tailEnd type="none" len="sm" w="sm"/>
          </a:ln>
        </p:spPr>
      </p:sp>
      <p:sp>
        <p:nvSpPr>
          <p:cNvPr name="AutoShape 9" id="9"/>
          <p:cNvSpPr/>
          <p:nvPr/>
        </p:nvSpPr>
        <p:spPr>
          <a:xfrm>
            <a:off x="0" y="9688117"/>
            <a:ext cx="18288000" cy="0"/>
          </a:xfrm>
          <a:prstGeom prst="line">
            <a:avLst/>
          </a:prstGeom>
          <a:ln cap="rnd" w="19050">
            <a:solidFill>
              <a:srgbClr val="000000"/>
            </a:solidFill>
            <a:prstDash val="solid"/>
            <a:headEnd type="none" len="sm" w="sm"/>
            <a:tailEnd type="none" len="sm" w="sm"/>
          </a:ln>
        </p:spPr>
      </p:sp>
      <p:sp>
        <p:nvSpPr>
          <p:cNvPr name="AutoShape 10" id="10"/>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11" id="11"/>
          <p:cNvSpPr/>
          <p:nvPr/>
        </p:nvSpPr>
        <p:spPr>
          <a:xfrm>
            <a:off x="1787124" y="613170"/>
            <a:ext cx="0" cy="9074947"/>
          </a:xfrm>
          <a:prstGeom prst="line">
            <a:avLst/>
          </a:prstGeom>
          <a:ln cap="rnd" w="19050">
            <a:solidFill>
              <a:srgbClr val="000000"/>
            </a:solidFill>
            <a:prstDash val="solid"/>
            <a:headEnd type="none" len="sm" w="sm"/>
            <a:tailEnd type="none" len="sm" w="sm"/>
          </a:ln>
        </p:spPr>
      </p:sp>
      <p:sp>
        <p:nvSpPr>
          <p:cNvPr name="AutoShape 12" id="12"/>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TextBox 13" id="13"/>
          <p:cNvSpPr txBox="true"/>
          <p:nvPr/>
        </p:nvSpPr>
        <p:spPr>
          <a:xfrm rot="0">
            <a:off x="1850122" y="1184937"/>
            <a:ext cx="14057709" cy="862076"/>
          </a:xfrm>
          <a:prstGeom prst="rect">
            <a:avLst/>
          </a:prstGeom>
        </p:spPr>
        <p:txBody>
          <a:bodyPr anchor="t" rtlCol="false" tIns="0" lIns="0" bIns="0" rIns="0">
            <a:spAutoFit/>
          </a:bodyPr>
          <a:lstStyle/>
          <a:p>
            <a:pPr algn="ctr" marL="0" indent="0" lvl="0">
              <a:lnSpc>
                <a:spcPts val="6591"/>
              </a:lnSpc>
              <a:spcBef>
                <a:spcPct val="0"/>
              </a:spcBef>
            </a:pPr>
            <a:r>
              <a:rPr lang="en-US" sz="6399">
                <a:solidFill>
                  <a:srgbClr val="1A160F"/>
                </a:solidFill>
                <a:latin typeface="Archivo Black"/>
                <a:ea typeface="Archivo Black"/>
                <a:cs typeface="Archivo Black"/>
                <a:sym typeface="Archivo Black"/>
              </a:rPr>
              <a:t>IMPLEMENTAREA IN PYTHON</a:t>
            </a:r>
          </a:p>
        </p:txBody>
      </p:sp>
      <p:grpSp>
        <p:nvGrpSpPr>
          <p:cNvPr name="Group 14" id="14"/>
          <p:cNvGrpSpPr/>
          <p:nvPr/>
        </p:nvGrpSpPr>
        <p:grpSpPr>
          <a:xfrm rot="0">
            <a:off x="15898306" y="613170"/>
            <a:ext cx="1805099" cy="1806174"/>
            <a:chOff x="0" y="0"/>
            <a:chExt cx="475417" cy="475700"/>
          </a:xfrm>
        </p:grpSpPr>
        <p:sp>
          <p:nvSpPr>
            <p:cNvPr name="Freeform 15" id="15"/>
            <p:cNvSpPr/>
            <p:nvPr/>
          </p:nvSpPr>
          <p:spPr>
            <a:xfrm flipH="false" flipV="false" rot="0">
              <a:off x="0" y="0"/>
              <a:ext cx="475417" cy="475700"/>
            </a:xfrm>
            <a:custGeom>
              <a:avLst/>
              <a:gdLst/>
              <a:ahLst/>
              <a:cxnLst/>
              <a:rect r="r" b="b" t="t" l="l"/>
              <a:pathLst>
                <a:path h="475700" w="475417">
                  <a:moveTo>
                    <a:pt x="0" y="0"/>
                  </a:moveTo>
                  <a:lnTo>
                    <a:pt x="475417" y="0"/>
                  </a:lnTo>
                  <a:lnTo>
                    <a:pt x="475417" y="475700"/>
                  </a:lnTo>
                  <a:lnTo>
                    <a:pt x="0" y="475700"/>
                  </a:lnTo>
                  <a:close/>
                </a:path>
              </a:pathLst>
            </a:custGeom>
            <a:solidFill>
              <a:srgbClr val="4C5526"/>
            </a:solidFill>
            <a:ln cap="sq">
              <a:noFill/>
              <a:prstDash val="solid"/>
              <a:miter/>
            </a:ln>
          </p:spPr>
        </p:sp>
        <p:sp>
          <p:nvSpPr>
            <p:cNvPr name="TextBox 16" id="16"/>
            <p:cNvSpPr txBox="true"/>
            <p:nvPr/>
          </p:nvSpPr>
          <p:spPr>
            <a:xfrm>
              <a:off x="0" y="-28575"/>
              <a:ext cx="475417" cy="504275"/>
            </a:xfrm>
            <a:prstGeom prst="rect">
              <a:avLst/>
            </a:prstGeom>
          </p:spPr>
          <p:txBody>
            <a:bodyPr anchor="ctr" rtlCol="false" tIns="50800" lIns="50800" bIns="50800" rIns="50800"/>
            <a:lstStyle/>
            <a:p>
              <a:pPr algn="ctr">
                <a:lnSpc>
                  <a:spcPts val="2659"/>
                </a:lnSpc>
              </a:pPr>
            </a:p>
          </p:txBody>
        </p:sp>
      </p:grpSp>
      <p:sp>
        <p:nvSpPr>
          <p:cNvPr name="AutoShape 17" id="17"/>
          <p:cNvSpPr/>
          <p:nvPr/>
        </p:nvSpPr>
        <p:spPr>
          <a:xfrm>
            <a:off x="15907831" y="613170"/>
            <a:ext cx="0" cy="1806174"/>
          </a:xfrm>
          <a:prstGeom prst="line">
            <a:avLst/>
          </a:prstGeom>
          <a:ln cap="rnd" w="19050">
            <a:solidFill>
              <a:srgbClr val="000000"/>
            </a:solidFill>
            <a:prstDash val="solid"/>
            <a:headEnd type="none" len="sm" w="sm"/>
            <a:tailEnd type="none" len="sm" w="sm"/>
          </a:ln>
        </p:spPr>
      </p:sp>
      <p:sp>
        <p:nvSpPr>
          <p:cNvPr name="Freeform 18" id="18"/>
          <p:cNvSpPr/>
          <p:nvPr/>
        </p:nvSpPr>
        <p:spPr>
          <a:xfrm flipH="false" flipV="false" rot="8100000">
            <a:off x="16196047" y="1121760"/>
            <a:ext cx="1157193" cy="788995"/>
          </a:xfrm>
          <a:custGeom>
            <a:avLst/>
            <a:gdLst/>
            <a:ahLst/>
            <a:cxnLst/>
            <a:rect r="r" b="b" t="t" l="l"/>
            <a:pathLst>
              <a:path h="788995" w="1157193">
                <a:moveTo>
                  <a:pt x="0" y="0"/>
                </a:moveTo>
                <a:lnTo>
                  <a:pt x="1157193" y="0"/>
                </a:lnTo>
                <a:lnTo>
                  <a:pt x="1157193" y="788995"/>
                </a:lnTo>
                <a:lnTo>
                  <a:pt x="0" y="7889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9" id="19"/>
          <p:cNvSpPr/>
          <p:nvPr/>
        </p:nvSpPr>
        <p:spPr>
          <a:xfrm>
            <a:off x="12551541" y="3740079"/>
            <a:ext cx="1734797" cy="0"/>
          </a:xfrm>
          <a:prstGeom prst="line">
            <a:avLst/>
          </a:prstGeom>
          <a:ln cap="flat" w="19050">
            <a:solidFill>
              <a:srgbClr val="4C5526"/>
            </a:solidFill>
            <a:prstDash val="solid"/>
            <a:headEnd type="none" len="sm" w="sm"/>
            <a:tailEnd type="none" len="sm" w="sm"/>
          </a:ln>
        </p:spPr>
      </p:sp>
      <p:sp>
        <p:nvSpPr>
          <p:cNvPr name="TextBox 20" id="20"/>
          <p:cNvSpPr txBox="true"/>
          <p:nvPr/>
        </p:nvSpPr>
        <p:spPr>
          <a:xfrm rot="0">
            <a:off x="12683728" y="3844854"/>
            <a:ext cx="4217033" cy="3170681"/>
          </a:xfrm>
          <a:prstGeom prst="rect">
            <a:avLst/>
          </a:prstGeom>
        </p:spPr>
        <p:txBody>
          <a:bodyPr anchor="t" rtlCol="false" tIns="0" lIns="0" bIns="0" rIns="0">
            <a:spAutoFit/>
          </a:bodyPr>
          <a:lstStyle/>
          <a:p>
            <a:pPr algn="l">
              <a:lnSpc>
                <a:spcPts val="3654"/>
              </a:lnSpc>
            </a:pPr>
            <a:r>
              <a:rPr lang="en-US" sz="2100" spc="52">
                <a:solidFill>
                  <a:srgbClr val="1A160F"/>
                </a:solidFill>
                <a:latin typeface="TT Hoves"/>
                <a:ea typeface="TT Hoves"/>
                <a:cs typeface="TT Hoves"/>
                <a:sym typeface="TT Hoves"/>
              </a:rPr>
              <a:t>S-au obtinut astfel urmatoarele metrici:</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Acuratete</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Precizie</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Recall</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F1-score</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Matricea de confuzie</a:t>
            </a:r>
          </a:p>
        </p:txBody>
      </p:sp>
      <p:sp>
        <p:nvSpPr>
          <p:cNvPr name="TextBox 21" id="21"/>
          <p:cNvSpPr txBox="true"/>
          <p:nvPr/>
        </p:nvSpPr>
        <p:spPr>
          <a:xfrm rot="0">
            <a:off x="12535654" y="2661420"/>
            <a:ext cx="5465900" cy="1024932"/>
          </a:xfrm>
          <a:prstGeom prst="rect">
            <a:avLst/>
          </a:prstGeom>
        </p:spPr>
        <p:txBody>
          <a:bodyPr anchor="t" rtlCol="false" tIns="0" lIns="0" bIns="0" rIns="0">
            <a:spAutoFit/>
          </a:bodyPr>
          <a:lstStyle/>
          <a:p>
            <a:pPr algn="l">
              <a:lnSpc>
                <a:spcPts val="3909"/>
              </a:lnSpc>
            </a:pPr>
            <a:r>
              <a:rPr lang="en-US" sz="3796">
                <a:solidFill>
                  <a:srgbClr val="1A160F"/>
                </a:solidFill>
                <a:latin typeface="Archivo Black"/>
                <a:ea typeface="Archivo Black"/>
                <a:cs typeface="Archivo Black"/>
                <a:sym typeface="Archivo Black"/>
              </a:rPr>
              <a:t>AFISAREA REZULTATELOR</a:t>
            </a:r>
          </a:p>
        </p:txBody>
      </p:sp>
      <p:sp>
        <p:nvSpPr>
          <p:cNvPr name="TextBox 22" id="22"/>
          <p:cNvSpPr txBox="true"/>
          <p:nvPr/>
        </p:nvSpPr>
        <p:spPr>
          <a:xfrm rot="0">
            <a:off x="1850122" y="2580701"/>
            <a:ext cx="5109079" cy="1212954"/>
          </a:xfrm>
          <a:prstGeom prst="rect">
            <a:avLst/>
          </a:prstGeom>
        </p:spPr>
        <p:txBody>
          <a:bodyPr anchor="t" rtlCol="false" tIns="0" lIns="0" bIns="0" rIns="0">
            <a:spAutoFit/>
          </a:bodyPr>
          <a:lstStyle/>
          <a:p>
            <a:pPr algn="l">
              <a:lnSpc>
                <a:spcPts val="4701"/>
              </a:lnSpc>
            </a:pPr>
            <a:r>
              <a:rPr lang="en-US" sz="4564">
                <a:solidFill>
                  <a:srgbClr val="1A160F"/>
                </a:solidFill>
                <a:latin typeface="Archivo Black"/>
                <a:ea typeface="Archivo Black"/>
                <a:cs typeface="Archivo Black"/>
                <a:sym typeface="Archivo Black"/>
              </a:rPr>
              <a:t>SEGMENTAREA DATELOR</a:t>
            </a:r>
          </a:p>
        </p:txBody>
      </p:sp>
      <p:sp>
        <p:nvSpPr>
          <p:cNvPr name="TextBox 23" id="23"/>
          <p:cNvSpPr txBox="true"/>
          <p:nvPr/>
        </p:nvSpPr>
        <p:spPr>
          <a:xfrm rot="0">
            <a:off x="2196319" y="4630315"/>
            <a:ext cx="4619473" cy="1985362"/>
          </a:xfrm>
          <a:prstGeom prst="rect">
            <a:avLst/>
          </a:prstGeom>
        </p:spPr>
        <p:txBody>
          <a:bodyPr anchor="t" rtlCol="false" tIns="0" lIns="0" bIns="0" rIns="0">
            <a:spAutoFit/>
          </a:bodyPr>
          <a:lstStyle/>
          <a:p>
            <a:pPr algn="l">
              <a:lnSpc>
                <a:spcPts val="4002"/>
              </a:lnSpc>
            </a:pPr>
            <a:r>
              <a:rPr lang="en-US" sz="2300" spc="57">
                <a:solidFill>
                  <a:srgbClr val="1A160F"/>
                </a:solidFill>
                <a:latin typeface="TT Hoves"/>
                <a:ea typeface="TT Hoves"/>
                <a:cs typeface="TT Hoves"/>
                <a:sym typeface="TT Hoves"/>
              </a:rPr>
              <a:t>IDatele sunt impartite in:</a:t>
            </a:r>
          </a:p>
          <a:p>
            <a:pPr algn="l" marL="496661" indent="-248331" lvl="1">
              <a:lnSpc>
                <a:spcPts val="4002"/>
              </a:lnSpc>
              <a:buFont typeface="Arial"/>
              <a:buChar char="•"/>
            </a:pPr>
            <a:r>
              <a:rPr lang="en-US" sz="2300" spc="57">
                <a:solidFill>
                  <a:srgbClr val="1A160F"/>
                </a:solidFill>
                <a:latin typeface="TT Hoves"/>
                <a:ea typeface="TT Hoves"/>
                <a:cs typeface="TT Hoves"/>
                <a:sym typeface="TT Hoves"/>
              </a:rPr>
              <a:t>Set de antrenare (70%)</a:t>
            </a:r>
          </a:p>
          <a:p>
            <a:pPr algn="l" marL="496661" indent="-248331" lvl="1">
              <a:lnSpc>
                <a:spcPts val="4002"/>
              </a:lnSpc>
              <a:buFont typeface="Arial"/>
              <a:buChar char="•"/>
            </a:pPr>
            <a:r>
              <a:rPr lang="en-US" sz="2300" spc="57">
                <a:solidFill>
                  <a:srgbClr val="1A160F"/>
                </a:solidFill>
                <a:latin typeface="TT Hoves"/>
                <a:ea typeface="TT Hoves"/>
                <a:cs typeface="TT Hoves"/>
                <a:sym typeface="TT Hoves"/>
              </a:rPr>
              <a:t>set de test (30%)</a:t>
            </a:r>
          </a:p>
          <a:p>
            <a:pPr algn="l">
              <a:lnSpc>
                <a:spcPts val="4002"/>
              </a:lnSpc>
            </a:pPr>
          </a:p>
        </p:txBody>
      </p:sp>
      <p:sp>
        <p:nvSpPr>
          <p:cNvPr name="TextBox 24" id="24"/>
          <p:cNvSpPr txBox="true"/>
          <p:nvPr/>
        </p:nvSpPr>
        <p:spPr>
          <a:xfrm rot="0">
            <a:off x="7409203" y="2571176"/>
            <a:ext cx="4170440" cy="1639592"/>
          </a:xfrm>
          <a:prstGeom prst="rect">
            <a:avLst/>
          </a:prstGeom>
        </p:spPr>
        <p:txBody>
          <a:bodyPr anchor="t" rtlCol="false" tIns="0" lIns="0" bIns="0" rIns="0">
            <a:spAutoFit/>
          </a:bodyPr>
          <a:lstStyle/>
          <a:p>
            <a:pPr algn="l">
              <a:lnSpc>
                <a:spcPts val="4265"/>
              </a:lnSpc>
            </a:pPr>
            <a:r>
              <a:rPr lang="en-US" sz="4140">
                <a:solidFill>
                  <a:srgbClr val="F2F0E3"/>
                </a:solidFill>
                <a:latin typeface="Archivo Black"/>
                <a:ea typeface="Archivo Black"/>
                <a:cs typeface="Archivo Black"/>
                <a:sym typeface="Archivo Black"/>
              </a:rPr>
              <a:t>APLICAREA RANDOM FOREST</a:t>
            </a:r>
          </a:p>
        </p:txBody>
      </p:sp>
      <p:sp>
        <p:nvSpPr>
          <p:cNvPr name="TextBox 25" id="25"/>
          <p:cNvSpPr txBox="true"/>
          <p:nvPr/>
        </p:nvSpPr>
        <p:spPr>
          <a:xfrm rot="0">
            <a:off x="7409203" y="4631860"/>
            <a:ext cx="4217033" cy="1799081"/>
          </a:xfrm>
          <a:prstGeom prst="rect">
            <a:avLst/>
          </a:prstGeom>
        </p:spPr>
        <p:txBody>
          <a:bodyPr anchor="t" rtlCol="false" tIns="0" lIns="0" bIns="0" rIns="0">
            <a:spAutoFit/>
          </a:bodyPr>
          <a:lstStyle/>
          <a:p>
            <a:pPr algn="l">
              <a:lnSpc>
                <a:spcPts val="3654"/>
              </a:lnSpc>
            </a:pPr>
            <a:r>
              <a:rPr lang="en-US" sz="2100" spc="52">
                <a:solidFill>
                  <a:srgbClr val="F2F0E3"/>
                </a:solidFill>
                <a:latin typeface="TT Hoves"/>
                <a:ea typeface="TT Hoves"/>
                <a:cs typeface="TT Hoves"/>
                <a:sym typeface="TT Hoves"/>
              </a:rPr>
              <a:t>Se aplica algoritmul RandomForest pe setul de date segmentat. </a:t>
            </a:r>
          </a:p>
          <a:p>
            <a:pPr algn="l">
              <a:lnSpc>
                <a:spcPts val="3654"/>
              </a:lnSpc>
            </a:pPr>
          </a:p>
        </p:txBody>
      </p:sp>
      <p:sp>
        <p:nvSpPr>
          <p:cNvPr name="AutoShape 26" id="26"/>
          <p:cNvSpPr/>
          <p:nvPr/>
        </p:nvSpPr>
        <p:spPr>
          <a:xfrm>
            <a:off x="7409203" y="4279435"/>
            <a:ext cx="1734797" cy="0"/>
          </a:xfrm>
          <a:prstGeom prst="line">
            <a:avLst/>
          </a:prstGeom>
          <a:ln cap="flat" w="19050">
            <a:solidFill>
              <a:srgbClr val="F2F0E3"/>
            </a:solidFill>
            <a:prstDash val="solid"/>
            <a:headEnd type="none" len="sm" w="sm"/>
            <a:tailEnd type="none" len="sm" w="sm"/>
          </a:ln>
        </p:spPr>
      </p:sp>
      <p:sp>
        <p:nvSpPr>
          <p:cNvPr name="AutoShape 27" id="27"/>
          <p:cNvSpPr/>
          <p:nvPr/>
        </p:nvSpPr>
        <p:spPr>
          <a:xfrm>
            <a:off x="2196319" y="4288960"/>
            <a:ext cx="1734797" cy="0"/>
          </a:xfrm>
          <a:prstGeom prst="line">
            <a:avLst/>
          </a:prstGeom>
          <a:ln cap="flat" w="19050">
            <a:solidFill>
              <a:srgbClr val="4C5526"/>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grpSp>
        <p:nvGrpSpPr>
          <p:cNvPr name="Group 2" id="2"/>
          <p:cNvGrpSpPr/>
          <p:nvPr/>
        </p:nvGrpSpPr>
        <p:grpSpPr>
          <a:xfrm rot="0">
            <a:off x="663174" y="613170"/>
            <a:ext cx="6222763" cy="9074947"/>
            <a:chOff x="0" y="0"/>
            <a:chExt cx="1638917" cy="2390109"/>
          </a:xfrm>
        </p:grpSpPr>
        <p:sp>
          <p:nvSpPr>
            <p:cNvPr name="Freeform 3" id="3"/>
            <p:cNvSpPr/>
            <p:nvPr/>
          </p:nvSpPr>
          <p:spPr>
            <a:xfrm flipH="false" flipV="false" rot="0">
              <a:off x="0" y="0"/>
              <a:ext cx="1638917" cy="2390109"/>
            </a:xfrm>
            <a:custGeom>
              <a:avLst/>
              <a:gdLst/>
              <a:ahLst/>
              <a:cxnLst/>
              <a:rect r="r" b="b" t="t" l="l"/>
              <a:pathLst>
                <a:path h="2390109" w="1638917">
                  <a:moveTo>
                    <a:pt x="0" y="0"/>
                  </a:moveTo>
                  <a:lnTo>
                    <a:pt x="1638917" y="0"/>
                  </a:lnTo>
                  <a:lnTo>
                    <a:pt x="1638917" y="2390109"/>
                  </a:lnTo>
                  <a:lnTo>
                    <a:pt x="0" y="2390109"/>
                  </a:lnTo>
                  <a:close/>
                </a:path>
              </a:pathLst>
            </a:custGeom>
            <a:solidFill>
              <a:srgbClr val="4C5526"/>
            </a:solidFill>
          </p:spPr>
        </p:sp>
        <p:sp>
          <p:nvSpPr>
            <p:cNvPr name="TextBox 4" id="4"/>
            <p:cNvSpPr txBox="true"/>
            <p:nvPr/>
          </p:nvSpPr>
          <p:spPr>
            <a:xfrm>
              <a:off x="0" y="47625"/>
              <a:ext cx="1638917" cy="2342484"/>
            </a:xfrm>
            <a:prstGeom prst="rect">
              <a:avLst/>
            </a:prstGeom>
          </p:spPr>
          <p:txBody>
            <a:bodyPr anchor="ctr" rtlCol="false" tIns="50800" lIns="50800" bIns="50800" rIns="50800"/>
            <a:lstStyle/>
            <a:p>
              <a:pPr algn="ctr">
                <a:lnSpc>
                  <a:spcPts val="2664"/>
                </a:lnSpc>
              </a:pPr>
            </a:p>
          </p:txBody>
        </p:sp>
      </p:grpSp>
      <p:sp>
        <p:nvSpPr>
          <p:cNvPr name="AutoShape 5" id="5"/>
          <p:cNvSpPr/>
          <p:nvPr/>
        </p:nvSpPr>
        <p:spPr>
          <a:xfrm flipV="true">
            <a:off x="0" y="613170"/>
            <a:ext cx="18288000" cy="0"/>
          </a:xfrm>
          <a:prstGeom prst="line">
            <a:avLst/>
          </a:prstGeom>
          <a:ln cap="rnd" w="19050">
            <a:solidFill>
              <a:srgbClr val="000000"/>
            </a:solidFill>
            <a:prstDash val="solid"/>
            <a:headEnd type="none" len="sm" w="sm"/>
            <a:tailEnd type="none" len="sm" w="sm"/>
          </a:ln>
        </p:spPr>
      </p:sp>
      <p:sp>
        <p:nvSpPr>
          <p:cNvPr name="AutoShape 6" id="6"/>
          <p:cNvSpPr/>
          <p:nvPr/>
        </p:nvSpPr>
        <p:spPr>
          <a:xfrm>
            <a:off x="0" y="9688117"/>
            <a:ext cx="18288000" cy="0"/>
          </a:xfrm>
          <a:prstGeom prst="line">
            <a:avLst/>
          </a:prstGeom>
          <a:ln cap="rnd" w="19050">
            <a:solidFill>
              <a:srgbClr val="000000"/>
            </a:solidFill>
            <a:prstDash val="solid"/>
            <a:headEnd type="none" len="sm" w="sm"/>
            <a:tailEnd type="none" len="sm" w="sm"/>
          </a:ln>
        </p:spPr>
      </p:sp>
      <p:sp>
        <p:nvSpPr>
          <p:cNvPr name="AutoShape 7" id="7"/>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8" id="8"/>
          <p:cNvSpPr/>
          <p:nvPr/>
        </p:nvSpPr>
        <p:spPr>
          <a:xfrm>
            <a:off x="634599" y="780328"/>
            <a:ext cx="0" cy="9074947"/>
          </a:xfrm>
          <a:prstGeom prst="line">
            <a:avLst/>
          </a:prstGeom>
          <a:ln cap="rnd" w="19050">
            <a:solidFill>
              <a:srgbClr val="000000"/>
            </a:solidFill>
            <a:prstDash val="solid"/>
            <a:headEnd type="none" len="sm" w="sm"/>
            <a:tailEnd type="none" len="sm" w="sm"/>
          </a:ln>
        </p:spPr>
      </p:sp>
      <p:sp>
        <p:nvSpPr>
          <p:cNvPr name="AutoShape 9" id="9"/>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AutoShape 10" id="10"/>
          <p:cNvSpPr/>
          <p:nvPr/>
        </p:nvSpPr>
        <p:spPr>
          <a:xfrm>
            <a:off x="6876412" y="596642"/>
            <a:ext cx="0" cy="9074947"/>
          </a:xfrm>
          <a:prstGeom prst="line">
            <a:avLst/>
          </a:prstGeom>
          <a:ln cap="rnd" w="19050">
            <a:solidFill>
              <a:srgbClr val="000000"/>
            </a:solidFill>
            <a:prstDash val="solid"/>
            <a:headEnd type="none" len="sm" w="sm"/>
            <a:tailEnd type="none" len="sm" w="sm"/>
          </a:ln>
        </p:spPr>
      </p:sp>
      <p:sp>
        <p:nvSpPr>
          <p:cNvPr name="Freeform 11" id="11"/>
          <p:cNvSpPr/>
          <p:nvPr/>
        </p:nvSpPr>
        <p:spPr>
          <a:xfrm flipH="false" flipV="false" rot="0">
            <a:off x="12186701" y="596642"/>
            <a:ext cx="5516703" cy="4721159"/>
          </a:xfrm>
          <a:custGeom>
            <a:avLst/>
            <a:gdLst/>
            <a:ahLst/>
            <a:cxnLst/>
            <a:rect r="r" b="b" t="t" l="l"/>
            <a:pathLst>
              <a:path h="4721159" w="5516703">
                <a:moveTo>
                  <a:pt x="0" y="0"/>
                </a:moveTo>
                <a:lnTo>
                  <a:pt x="5516704" y="0"/>
                </a:lnTo>
                <a:lnTo>
                  <a:pt x="5516704" y="4721159"/>
                </a:lnTo>
                <a:lnTo>
                  <a:pt x="0" y="4721159"/>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11326" r="0" b="0"/>
            </a:stretch>
          </a:blipFill>
        </p:spPr>
      </p:sp>
      <p:sp>
        <p:nvSpPr>
          <p:cNvPr name="Freeform 12" id="12"/>
          <p:cNvSpPr/>
          <p:nvPr/>
        </p:nvSpPr>
        <p:spPr>
          <a:xfrm flipH="false" flipV="false" rot="0">
            <a:off x="1144829" y="2486196"/>
            <a:ext cx="5183252" cy="4806649"/>
          </a:xfrm>
          <a:custGeom>
            <a:avLst/>
            <a:gdLst/>
            <a:ahLst/>
            <a:cxnLst/>
            <a:rect r="r" b="b" t="t" l="l"/>
            <a:pathLst>
              <a:path h="4806649" w="5183252">
                <a:moveTo>
                  <a:pt x="0" y="0"/>
                </a:moveTo>
                <a:lnTo>
                  <a:pt x="5183252" y="0"/>
                </a:lnTo>
                <a:lnTo>
                  <a:pt x="5183252" y="4806648"/>
                </a:lnTo>
                <a:lnTo>
                  <a:pt x="0" y="4806648"/>
                </a:lnTo>
                <a:lnTo>
                  <a:pt x="0" y="0"/>
                </a:lnTo>
                <a:close/>
              </a:path>
            </a:pathLst>
          </a:custGeom>
          <a:blipFill>
            <a:blip r:embed="rId4"/>
            <a:stretch>
              <a:fillRect l="0" t="0" r="0" b="0"/>
            </a:stretch>
          </a:blipFill>
        </p:spPr>
      </p:sp>
      <p:sp>
        <p:nvSpPr>
          <p:cNvPr name="Freeform 13" id="13"/>
          <p:cNvSpPr/>
          <p:nvPr/>
        </p:nvSpPr>
        <p:spPr>
          <a:xfrm flipH="false" flipV="false" rot="0">
            <a:off x="10661727" y="3062827"/>
            <a:ext cx="6597573" cy="3516768"/>
          </a:xfrm>
          <a:custGeom>
            <a:avLst/>
            <a:gdLst/>
            <a:ahLst/>
            <a:cxnLst/>
            <a:rect r="r" b="b" t="t" l="l"/>
            <a:pathLst>
              <a:path h="3516768" w="6597573">
                <a:moveTo>
                  <a:pt x="0" y="0"/>
                </a:moveTo>
                <a:lnTo>
                  <a:pt x="6597573" y="0"/>
                </a:lnTo>
                <a:lnTo>
                  <a:pt x="6597573" y="3516768"/>
                </a:lnTo>
                <a:lnTo>
                  <a:pt x="0" y="3516768"/>
                </a:lnTo>
                <a:lnTo>
                  <a:pt x="0" y="0"/>
                </a:lnTo>
                <a:close/>
              </a:path>
            </a:pathLst>
          </a:custGeom>
          <a:blipFill>
            <a:blip r:embed="rId5"/>
            <a:stretch>
              <a:fillRect l="0" t="0" r="0" b="0"/>
            </a:stretch>
          </a:blipFill>
        </p:spPr>
      </p:sp>
      <p:sp>
        <p:nvSpPr>
          <p:cNvPr name="TextBox 14" id="14"/>
          <p:cNvSpPr txBox="true"/>
          <p:nvPr/>
        </p:nvSpPr>
        <p:spPr>
          <a:xfrm rot="0">
            <a:off x="8525249" y="983552"/>
            <a:ext cx="8020305" cy="862076"/>
          </a:xfrm>
          <a:prstGeom prst="rect">
            <a:avLst/>
          </a:prstGeom>
        </p:spPr>
        <p:txBody>
          <a:bodyPr anchor="t" rtlCol="false" tIns="0" lIns="0" bIns="0" rIns="0">
            <a:spAutoFit/>
          </a:bodyPr>
          <a:lstStyle/>
          <a:p>
            <a:pPr algn="l" marL="0" indent="0" lvl="0">
              <a:lnSpc>
                <a:spcPts val="6591"/>
              </a:lnSpc>
              <a:spcBef>
                <a:spcPct val="0"/>
              </a:spcBef>
            </a:pPr>
            <a:r>
              <a:rPr lang="en-US" sz="6399">
                <a:solidFill>
                  <a:srgbClr val="1A160F"/>
                </a:solidFill>
                <a:latin typeface="Archivo Black"/>
                <a:ea typeface="Archivo Black"/>
                <a:cs typeface="Archivo Black"/>
                <a:sym typeface="Archivo Black"/>
              </a:rPr>
              <a:t>REZULTATE</a:t>
            </a:r>
          </a:p>
        </p:txBody>
      </p:sp>
      <p:sp>
        <p:nvSpPr>
          <p:cNvPr name="TextBox 15" id="15"/>
          <p:cNvSpPr txBox="true"/>
          <p:nvPr/>
        </p:nvSpPr>
        <p:spPr>
          <a:xfrm rot="0">
            <a:off x="7152769" y="3018429"/>
            <a:ext cx="8020305" cy="3627881"/>
          </a:xfrm>
          <a:prstGeom prst="rect">
            <a:avLst/>
          </a:prstGeom>
        </p:spPr>
        <p:txBody>
          <a:bodyPr anchor="t" rtlCol="false" tIns="0" lIns="0" bIns="0" rIns="0">
            <a:spAutoFit/>
          </a:bodyPr>
          <a:lstStyle/>
          <a:p>
            <a:pPr algn="just">
              <a:lnSpc>
                <a:spcPts val="3654"/>
              </a:lnSpc>
            </a:pPr>
            <a:r>
              <a:rPr lang="en-US" sz="2100" spc="52">
                <a:solidFill>
                  <a:srgbClr val="1A160F"/>
                </a:solidFill>
                <a:latin typeface="TT Hoves"/>
                <a:ea typeface="TT Hoves"/>
                <a:cs typeface="TT Hoves"/>
                <a:sym typeface="TT Hoves"/>
              </a:rPr>
              <a:t>Acuratete: 0.81</a:t>
            </a:r>
          </a:p>
          <a:p>
            <a:pPr algn="just">
              <a:lnSpc>
                <a:spcPts val="3654"/>
              </a:lnSpc>
            </a:pPr>
          </a:p>
          <a:p>
            <a:pPr algn="just">
              <a:lnSpc>
                <a:spcPts val="3654"/>
              </a:lnSpc>
            </a:pPr>
            <a:r>
              <a:rPr lang="en-US" sz="2100" spc="52">
                <a:solidFill>
                  <a:srgbClr val="1A160F"/>
                </a:solidFill>
                <a:latin typeface="TT Hoves"/>
                <a:ea typeface="TT Hoves"/>
                <a:cs typeface="TT Hoves"/>
                <a:sym typeface="TT Hoves"/>
              </a:rPr>
              <a:t>Precizie: 0.81</a:t>
            </a:r>
          </a:p>
          <a:p>
            <a:pPr algn="just">
              <a:lnSpc>
                <a:spcPts val="3654"/>
              </a:lnSpc>
            </a:pPr>
          </a:p>
          <a:p>
            <a:pPr algn="just">
              <a:lnSpc>
                <a:spcPts val="3654"/>
              </a:lnSpc>
            </a:pPr>
            <a:r>
              <a:rPr lang="en-US" sz="2100" spc="52">
                <a:solidFill>
                  <a:srgbClr val="1A160F"/>
                </a:solidFill>
                <a:latin typeface="TT Hoves"/>
                <a:ea typeface="TT Hoves"/>
                <a:cs typeface="TT Hoves"/>
                <a:sym typeface="TT Hoves"/>
              </a:rPr>
              <a:t>Recall: 0.80</a:t>
            </a:r>
          </a:p>
          <a:p>
            <a:pPr algn="just">
              <a:lnSpc>
                <a:spcPts val="3654"/>
              </a:lnSpc>
            </a:pPr>
          </a:p>
          <a:p>
            <a:pPr algn="just">
              <a:lnSpc>
                <a:spcPts val="3654"/>
              </a:lnSpc>
            </a:pPr>
            <a:r>
              <a:rPr lang="en-US" sz="2100" spc="52">
                <a:solidFill>
                  <a:srgbClr val="1A160F"/>
                </a:solidFill>
                <a:latin typeface="TT Hoves"/>
                <a:ea typeface="TT Hoves"/>
                <a:cs typeface="TT Hoves"/>
                <a:sym typeface="TT Hoves"/>
              </a:rPr>
              <a:t>F1-score: 0.80</a:t>
            </a:r>
          </a:p>
          <a:p>
            <a:pPr algn="just">
              <a:lnSpc>
                <a:spcPts val="3654"/>
              </a:lnSpc>
            </a:pPr>
          </a:p>
        </p:txBody>
      </p:sp>
      <p:sp>
        <p:nvSpPr>
          <p:cNvPr name="TextBox 16" id="16"/>
          <p:cNvSpPr txBox="true"/>
          <p:nvPr/>
        </p:nvSpPr>
        <p:spPr>
          <a:xfrm rot="0">
            <a:off x="2030704" y="7478514"/>
            <a:ext cx="5874632" cy="448310"/>
          </a:xfrm>
          <a:prstGeom prst="rect">
            <a:avLst/>
          </a:prstGeom>
        </p:spPr>
        <p:txBody>
          <a:bodyPr anchor="t" rtlCol="false" tIns="0" lIns="0" bIns="0" rIns="0">
            <a:spAutoFit/>
          </a:bodyPr>
          <a:lstStyle/>
          <a:p>
            <a:pPr algn="l">
              <a:lnSpc>
                <a:spcPts val="3639"/>
              </a:lnSpc>
              <a:spcBef>
                <a:spcPct val="0"/>
              </a:spcBef>
            </a:pPr>
            <a:r>
              <a:rPr lang="en-US" sz="2599">
                <a:solidFill>
                  <a:srgbClr val="F2F0E3"/>
                </a:solidFill>
                <a:latin typeface="TT Hoves"/>
                <a:ea typeface="TT Hoves"/>
                <a:cs typeface="TT Hoves"/>
                <a:sym typeface="TT Hoves"/>
              </a:rPr>
              <a:t>Matricea de confuzie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sp>
        <p:nvSpPr>
          <p:cNvPr name="AutoShape 2" id="2"/>
          <p:cNvSpPr/>
          <p:nvPr/>
        </p:nvSpPr>
        <p:spPr>
          <a:xfrm flipV="true">
            <a:off x="0" y="613170"/>
            <a:ext cx="18288000" cy="0"/>
          </a:xfrm>
          <a:prstGeom prst="line">
            <a:avLst/>
          </a:prstGeom>
          <a:ln cap="rnd" w="19050">
            <a:solidFill>
              <a:srgbClr val="000000"/>
            </a:solidFill>
            <a:prstDash val="solid"/>
            <a:headEnd type="none" len="sm" w="sm"/>
            <a:tailEnd type="none" len="sm" w="sm"/>
          </a:ln>
        </p:spPr>
      </p:sp>
      <p:sp>
        <p:nvSpPr>
          <p:cNvPr name="AutoShape 3" id="3"/>
          <p:cNvSpPr/>
          <p:nvPr/>
        </p:nvSpPr>
        <p:spPr>
          <a:xfrm>
            <a:off x="0" y="9688117"/>
            <a:ext cx="18288000" cy="0"/>
          </a:xfrm>
          <a:prstGeom prst="line">
            <a:avLst/>
          </a:prstGeom>
          <a:ln cap="rnd" w="19050">
            <a:solidFill>
              <a:srgbClr val="000000"/>
            </a:solidFill>
            <a:prstDash val="solid"/>
            <a:headEnd type="none" len="sm" w="sm"/>
            <a:tailEnd type="none" len="sm" w="sm"/>
          </a:ln>
        </p:spPr>
      </p:sp>
      <p:sp>
        <p:nvSpPr>
          <p:cNvPr name="AutoShape 4" id="4"/>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5" id="5"/>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AutoShape 6" id="6"/>
          <p:cNvSpPr/>
          <p:nvPr/>
        </p:nvSpPr>
        <p:spPr>
          <a:xfrm>
            <a:off x="598883" y="2419344"/>
            <a:ext cx="17104522" cy="0"/>
          </a:xfrm>
          <a:prstGeom prst="line">
            <a:avLst/>
          </a:prstGeom>
          <a:ln cap="rnd" w="19050">
            <a:solidFill>
              <a:srgbClr val="000000"/>
            </a:solidFill>
            <a:prstDash val="solid"/>
            <a:headEnd type="none" len="sm" w="sm"/>
            <a:tailEnd type="none" len="sm" w="sm"/>
          </a:ln>
        </p:spPr>
      </p:sp>
      <p:grpSp>
        <p:nvGrpSpPr>
          <p:cNvPr name="Group 7" id="7"/>
          <p:cNvGrpSpPr/>
          <p:nvPr/>
        </p:nvGrpSpPr>
        <p:grpSpPr>
          <a:xfrm rot="0">
            <a:off x="15898306" y="613170"/>
            <a:ext cx="1805099" cy="1806174"/>
            <a:chOff x="0" y="0"/>
            <a:chExt cx="475417" cy="475700"/>
          </a:xfrm>
        </p:grpSpPr>
        <p:sp>
          <p:nvSpPr>
            <p:cNvPr name="Freeform 8" id="8"/>
            <p:cNvSpPr/>
            <p:nvPr/>
          </p:nvSpPr>
          <p:spPr>
            <a:xfrm flipH="false" flipV="false" rot="0">
              <a:off x="0" y="0"/>
              <a:ext cx="475417" cy="475700"/>
            </a:xfrm>
            <a:custGeom>
              <a:avLst/>
              <a:gdLst/>
              <a:ahLst/>
              <a:cxnLst/>
              <a:rect r="r" b="b" t="t" l="l"/>
              <a:pathLst>
                <a:path h="475700" w="475417">
                  <a:moveTo>
                    <a:pt x="0" y="0"/>
                  </a:moveTo>
                  <a:lnTo>
                    <a:pt x="475417" y="0"/>
                  </a:lnTo>
                  <a:lnTo>
                    <a:pt x="475417" y="475700"/>
                  </a:lnTo>
                  <a:lnTo>
                    <a:pt x="0" y="475700"/>
                  </a:lnTo>
                  <a:close/>
                </a:path>
              </a:pathLst>
            </a:custGeom>
            <a:solidFill>
              <a:srgbClr val="4C5526"/>
            </a:solidFill>
            <a:ln cap="sq">
              <a:noFill/>
              <a:prstDash val="solid"/>
              <a:miter/>
            </a:ln>
          </p:spPr>
        </p:sp>
        <p:sp>
          <p:nvSpPr>
            <p:cNvPr name="TextBox 9" id="9"/>
            <p:cNvSpPr txBox="true"/>
            <p:nvPr/>
          </p:nvSpPr>
          <p:spPr>
            <a:xfrm>
              <a:off x="0" y="-28575"/>
              <a:ext cx="475417" cy="504275"/>
            </a:xfrm>
            <a:prstGeom prst="rect">
              <a:avLst/>
            </a:prstGeom>
          </p:spPr>
          <p:txBody>
            <a:bodyPr anchor="ctr" rtlCol="false" tIns="50800" lIns="50800" bIns="50800" rIns="50800"/>
            <a:lstStyle/>
            <a:p>
              <a:pPr algn="ctr">
                <a:lnSpc>
                  <a:spcPts val="2659"/>
                </a:lnSpc>
              </a:pPr>
            </a:p>
          </p:txBody>
        </p:sp>
      </p:grpSp>
      <p:sp>
        <p:nvSpPr>
          <p:cNvPr name="AutoShape 10" id="10"/>
          <p:cNvSpPr/>
          <p:nvPr/>
        </p:nvSpPr>
        <p:spPr>
          <a:xfrm>
            <a:off x="15907831" y="613170"/>
            <a:ext cx="0" cy="1806174"/>
          </a:xfrm>
          <a:prstGeom prst="line">
            <a:avLst/>
          </a:prstGeom>
          <a:ln cap="rnd" w="19050">
            <a:solidFill>
              <a:srgbClr val="000000"/>
            </a:solidFill>
            <a:prstDash val="solid"/>
            <a:headEnd type="none" len="sm" w="sm"/>
            <a:tailEnd type="none" len="sm" w="sm"/>
          </a:ln>
        </p:spPr>
      </p:sp>
      <p:sp>
        <p:nvSpPr>
          <p:cNvPr name="Freeform 11" id="11"/>
          <p:cNvSpPr/>
          <p:nvPr/>
        </p:nvSpPr>
        <p:spPr>
          <a:xfrm flipH="false" flipV="false" rot="8100000">
            <a:off x="16196047" y="1121760"/>
            <a:ext cx="1157193" cy="788995"/>
          </a:xfrm>
          <a:custGeom>
            <a:avLst/>
            <a:gdLst/>
            <a:ahLst/>
            <a:cxnLst/>
            <a:rect r="r" b="b" t="t" l="l"/>
            <a:pathLst>
              <a:path h="788995" w="1157193">
                <a:moveTo>
                  <a:pt x="0" y="0"/>
                </a:moveTo>
                <a:lnTo>
                  <a:pt x="1157193" y="0"/>
                </a:lnTo>
                <a:lnTo>
                  <a:pt x="1157193" y="788995"/>
                </a:lnTo>
                <a:lnTo>
                  <a:pt x="0" y="7889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0315090" y="3917901"/>
            <a:ext cx="6727021" cy="4271659"/>
          </a:xfrm>
          <a:custGeom>
            <a:avLst/>
            <a:gdLst/>
            <a:ahLst/>
            <a:cxnLst/>
            <a:rect r="r" b="b" t="t" l="l"/>
            <a:pathLst>
              <a:path h="4271659" w="6727021">
                <a:moveTo>
                  <a:pt x="0" y="0"/>
                </a:moveTo>
                <a:lnTo>
                  <a:pt x="6727022" y="0"/>
                </a:lnTo>
                <a:lnTo>
                  <a:pt x="6727022" y="4271659"/>
                </a:lnTo>
                <a:lnTo>
                  <a:pt x="0" y="4271659"/>
                </a:lnTo>
                <a:lnTo>
                  <a:pt x="0" y="0"/>
                </a:lnTo>
                <a:close/>
              </a:path>
            </a:pathLst>
          </a:custGeom>
          <a:blipFill>
            <a:blip r:embed="rId4"/>
            <a:stretch>
              <a:fillRect l="0" t="0" r="0" b="0"/>
            </a:stretch>
          </a:blipFill>
        </p:spPr>
      </p:sp>
      <p:sp>
        <p:nvSpPr>
          <p:cNvPr name="TextBox 13" id="13"/>
          <p:cNvSpPr txBox="true"/>
          <p:nvPr/>
        </p:nvSpPr>
        <p:spPr>
          <a:xfrm rot="0">
            <a:off x="927794" y="1137607"/>
            <a:ext cx="10858756" cy="862076"/>
          </a:xfrm>
          <a:prstGeom prst="rect">
            <a:avLst/>
          </a:prstGeom>
        </p:spPr>
        <p:txBody>
          <a:bodyPr anchor="t" rtlCol="false" tIns="0" lIns="0" bIns="0" rIns="0">
            <a:spAutoFit/>
          </a:bodyPr>
          <a:lstStyle/>
          <a:p>
            <a:pPr algn="l" marL="0" indent="0" lvl="0">
              <a:lnSpc>
                <a:spcPts val="6591"/>
              </a:lnSpc>
              <a:spcBef>
                <a:spcPct val="0"/>
              </a:spcBef>
            </a:pPr>
            <a:r>
              <a:rPr lang="en-US" sz="6399">
                <a:solidFill>
                  <a:srgbClr val="1A160F"/>
                </a:solidFill>
                <a:latin typeface="Archivo Black"/>
                <a:ea typeface="Archivo Black"/>
                <a:cs typeface="Archivo Black"/>
                <a:sym typeface="Archivo Black"/>
              </a:rPr>
              <a:t>ARHITECTURA RESNET</a:t>
            </a:r>
          </a:p>
        </p:txBody>
      </p:sp>
      <p:sp>
        <p:nvSpPr>
          <p:cNvPr name="TextBox 14" id="14"/>
          <p:cNvSpPr txBox="true"/>
          <p:nvPr/>
        </p:nvSpPr>
        <p:spPr>
          <a:xfrm rot="0">
            <a:off x="1226093" y="2732611"/>
            <a:ext cx="7016130" cy="2256281"/>
          </a:xfrm>
          <a:prstGeom prst="rect">
            <a:avLst/>
          </a:prstGeom>
        </p:spPr>
        <p:txBody>
          <a:bodyPr anchor="t" rtlCol="false" tIns="0" lIns="0" bIns="0" rIns="0">
            <a:spAutoFit/>
          </a:bodyPr>
          <a:lstStyle/>
          <a:p>
            <a:pPr algn="just">
              <a:lnSpc>
                <a:spcPts val="3654"/>
              </a:lnSpc>
            </a:pPr>
            <a:r>
              <a:rPr lang="en-US" sz="2100" spc="52">
                <a:solidFill>
                  <a:srgbClr val="1A160F"/>
                </a:solidFill>
                <a:latin typeface="TT Hoves"/>
                <a:ea typeface="TT Hoves"/>
                <a:cs typeface="TT Hoves"/>
                <a:sym typeface="TT Hoves"/>
              </a:rPr>
              <a:t>ResNet reprezinta o arhitectura de deep learning conceputa pentru a permite antrenarea eficienta a retelelor neuronale foarte adanci. Aceasta introduce conexiuni de tip skip, care permit modelului sa invete mapari reziduale in loc de transformari directe.</a:t>
            </a:r>
          </a:p>
        </p:txBody>
      </p:sp>
      <p:sp>
        <p:nvSpPr>
          <p:cNvPr name="TextBox 15" id="15"/>
          <p:cNvSpPr txBox="true"/>
          <p:nvPr/>
        </p:nvSpPr>
        <p:spPr>
          <a:xfrm rot="0">
            <a:off x="1226093" y="5293692"/>
            <a:ext cx="7016130" cy="3170681"/>
          </a:xfrm>
          <a:prstGeom prst="rect">
            <a:avLst/>
          </a:prstGeom>
        </p:spPr>
        <p:txBody>
          <a:bodyPr anchor="t" rtlCol="false" tIns="0" lIns="0" bIns="0" rIns="0">
            <a:spAutoFit/>
          </a:bodyPr>
          <a:lstStyle/>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Ajuta la prevenirea problemei disparitiei gradientului in modelele foarte adanci.</a:t>
            </a:r>
          </a:p>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Permite informatiei sa circule direct prin straturi folosind conexiunile de tip skip.</a:t>
            </a:r>
          </a:p>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Face posibila construirea de retele cu sute sau chiar mii de straturi.</a:t>
            </a:r>
          </a:p>
          <a:p>
            <a:pPr algn="just">
              <a:lnSpc>
                <a:spcPts val="3654"/>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sp>
        <p:nvSpPr>
          <p:cNvPr name="AutoShape 2" id="2"/>
          <p:cNvSpPr/>
          <p:nvPr/>
        </p:nvSpPr>
        <p:spPr>
          <a:xfrm flipV="true">
            <a:off x="0" y="613170"/>
            <a:ext cx="18288000" cy="0"/>
          </a:xfrm>
          <a:prstGeom prst="line">
            <a:avLst/>
          </a:prstGeom>
          <a:ln cap="rnd" w="19050">
            <a:solidFill>
              <a:srgbClr val="000000"/>
            </a:solidFill>
            <a:prstDash val="solid"/>
            <a:headEnd type="none" len="sm" w="sm"/>
            <a:tailEnd type="none" len="sm" w="sm"/>
          </a:ln>
        </p:spPr>
      </p:sp>
      <p:grpSp>
        <p:nvGrpSpPr>
          <p:cNvPr name="Group 3" id="3"/>
          <p:cNvGrpSpPr/>
          <p:nvPr/>
        </p:nvGrpSpPr>
        <p:grpSpPr>
          <a:xfrm rot="0">
            <a:off x="7092551" y="2419344"/>
            <a:ext cx="5305427" cy="7268773"/>
            <a:chOff x="0" y="0"/>
            <a:chExt cx="1397314" cy="1914409"/>
          </a:xfrm>
        </p:grpSpPr>
        <p:sp>
          <p:nvSpPr>
            <p:cNvPr name="Freeform 4" id="4"/>
            <p:cNvSpPr/>
            <p:nvPr/>
          </p:nvSpPr>
          <p:spPr>
            <a:xfrm flipH="false" flipV="false" rot="0">
              <a:off x="0" y="0"/>
              <a:ext cx="1397314" cy="1914409"/>
            </a:xfrm>
            <a:custGeom>
              <a:avLst/>
              <a:gdLst/>
              <a:ahLst/>
              <a:cxnLst/>
              <a:rect r="r" b="b" t="t" l="l"/>
              <a:pathLst>
                <a:path h="1914409" w="1397314">
                  <a:moveTo>
                    <a:pt x="0" y="0"/>
                  </a:moveTo>
                  <a:lnTo>
                    <a:pt x="1397314" y="0"/>
                  </a:lnTo>
                  <a:lnTo>
                    <a:pt x="1397314" y="1914409"/>
                  </a:lnTo>
                  <a:lnTo>
                    <a:pt x="0" y="1914409"/>
                  </a:lnTo>
                  <a:close/>
                </a:path>
              </a:pathLst>
            </a:custGeom>
            <a:solidFill>
              <a:srgbClr val="4C5526"/>
            </a:solidFill>
          </p:spPr>
        </p:sp>
        <p:sp>
          <p:nvSpPr>
            <p:cNvPr name="TextBox 5" id="5"/>
            <p:cNvSpPr txBox="true"/>
            <p:nvPr/>
          </p:nvSpPr>
          <p:spPr>
            <a:xfrm>
              <a:off x="0" y="47625"/>
              <a:ext cx="1397314" cy="1866784"/>
            </a:xfrm>
            <a:prstGeom prst="rect">
              <a:avLst/>
            </a:prstGeom>
          </p:spPr>
          <p:txBody>
            <a:bodyPr anchor="ctr" rtlCol="false" tIns="50800" lIns="50800" bIns="50800" rIns="50800"/>
            <a:lstStyle/>
            <a:p>
              <a:pPr algn="ctr">
                <a:lnSpc>
                  <a:spcPts val="2664"/>
                </a:lnSpc>
              </a:pPr>
            </a:p>
          </p:txBody>
        </p:sp>
      </p:grpSp>
      <p:sp>
        <p:nvSpPr>
          <p:cNvPr name="AutoShape 6" id="6"/>
          <p:cNvSpPr/>
          <p:nvPr/>
        </p:nvSpPr>
        <p:spPr>
          <a:xfrm>
            <a:off x="598883" y="2419344"/>
            <a:ext cx="17104522" cy="0"/>
          </a:xfrm>
          <a:prstGeom prst="line">
            <a:avLst/>
          </a:prstGeom>
          <a:ln cap="rnd" w="19050">
            <a:solidFill>
              <a:srgbClr val="000000"/>
            </a:solidFill>
            <a:prstDash val="solid"/>
            <a:headEnd type="none" len="sm" w="sm"/>
            <a:tailEnd type="none" len="sm" w="sm"/>
          </a:ln>
        </p:spPr>
      </p:sp>
      <p:sp>
        <p:nvSpPr>
          <p:cNvPr name="AutoShape 7" id="7"/>
          <p:cNvSpPr/>
          <p:nvPr/>
        </p:nvSpPr>
        <p:spPr>
          <a:xfrm>
            <a:off x="7092551" y="2419344"/>
            <a:ext cx="0" cy="7268773"/>
          </a:xfrm>
          <a:prstGeom prst="line">
            <a:avLst/>
          </a:prstGeom>
          <a:ln cap="rnd" w="19050">
            <a:solidFill>
              <a:srgbClr val="000000"/>
            </a:solidFill>
            <a:prstDash val="solid"/>
            <a:headEnd type="none" len="sm" w="sm"/>
            <a:tailEnd type="none" len="sm" w="sm"/>
          </a:ln>
        </p:spPr>
      </p:sp>
      <p:sp>
        <p:nvSpPr>
          <p:cNvPr name="AutoShape 8" id="8"/>
          <p:cNvSpPr/>
          <p:nvPr/>
        </p:nvSpPr>
        <p:spPr>
          <a:xfrm>
            <a:off x="12397978" y="2419344"/>
            <a:ext cx="0" cy="7268773"/>
          </a:xfrm>
          <a:prstGeom prst="line">
            <a:avLst/>
          </a:prstGeom>
          <a:ln cap="rnd" w="19050">
            <a:solidFill>
              <a:srgbClr val="000000"/>
            </a:solidFill>
            <a:prstDash val="solid"/>
            <a:headEnd type="none" len="sm" w="sm"/>
            <a:tailEnd type="none" len="sm" w="sm"/>
          </a:ln>
        </p:spPr>
      </p:sp>
      <p:sp>
        <p:nvSpPr>
          <p:cNvPr name="AutoShape 9" id="9"/>
          <p:cNvSpPr/>
          <p:nvPr/>
        </p:nvSpPr>
        <p:spPr>
          <a:xfrm>
            <a:off x="0" y="9688117"/>
            <a:ext cx="18288000" cy="0"/>
          </a:xfrm>
          <a:prstGeom prst="line">
            <a:avLst/>
          </a:prstGeom>
          <a:ln cap="rnd" w="19050">
            <a:solidFill>
              <a:srgbClr val="000000"/>
            </a:solidFill>
            <a:prstDash val="solid"/>
            <a:headEnd type="none" len="sm" w="sm"/>
            <a:tailEnd type="none" len="sm" w="sm"/>
          </a:ln>
        </p:spPr>
      </p:sp>
      <p:sp>
        <p:nvSpPr>
          <p:cNvPr name="AutoShape 10" id="10"/>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11" id="11"/>
          <p:cNvSpPr/>
          <p:nvPr/>
        </p:nvSpPr>
        <p:spPr>
          <a:xfrm>
            <a:off x="1787124" y="613170"/>
            <a:ext cx="0" cy="9074947"/>
          </a:xfrm>
          <a:prstGeom prst="line">
            <a:avLst/>
          </a:prstGeom>
          <a:ln cap="rnd" w="19050">
            <a:solidFill>
              <a:srgbClr val="000000"/>
            </a:solidFill>
            <a:prstDash val="solid"/>
            <a:headEnd type="none" len="sm" w="sm"/>
            <a:tailEnd type="none" len="sm" w="sm"/>
          </a:ln>
        </p:spPr>
      </p:sp>
      <p:sp>
        <p:nvSpPr>
          <p:cNvPr name="AutoShape 12" id="12"/>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TextBox 13" id="13"/>
          <p:cNvSpPr txBox="true"/>
          <p:nvPr/>
        </p:nvSpPr>
        <p:spPr>
          <a:xfrm rot="0">
            <a:off x="1850122" y="1184937"/>
            <a:ext cx="14057709" cy="862076"/>
          </a:xfrm>
          <a:prstGeom prst="rect">
            <a:avLst/>
          </a:prstGeom>
        </p:spPr>
        <p:txBody>
          <a:bodyPr anchor="t" rtlCol="false" tIns="0" lIns="0" bIns="0" rIns="0">
            <a:spAutoFit/>
          </a:bodyPr>
          <a:lstStyle/>
          <a:p>
            <a:pPr algn="ctr" marL="0" indent="0" lvl="0">
              <a:lnSpc>
                <a:spcPts val="6591"/>
              </a:lnSpc>
              <a:spcBef>
                <a:spcPct val="0"/>
              </a:spcBef>
            </a:pPr>
            <a:r>
              <a:rPr lang="en-US" sz="6399">
                <a:solidFill>
                  <a:srgbClr val="1A160F"/>
                </a:solidFill>
                <a:latin typeface="Archivo Black"/>
                <a:ea typeface="Archivo Black"/>
                <a:cs typeface="Archivo Black"/>
                <a:sym typeface="Archivo Black"/>
              </a:rPr>
              <a:t>IMPLEMENTAREA IN PYTHON</a:t>
            </a:r>
          </a:p>
        </p:txBody>
      </p:sp>
      <p:grpSp>
        <p:nvGrpSpPr>
          <p:cNvPr name="Group 14" id="14"/>
          <p:cNvGrpSpPr/>
          <p:nvPr/>
        </p:nvGrpSpPr>
        <p:grpSpPr>
          <a:xfrm rot="0">
            <a:off x="15898306" y="613170"/>
            <a:ext cx="1805099" cy="1806174"/>
            <a:chOff x="0" y="0"/>
            <a:chExt cx="475417" cy="475700"/>
          </a:xfrm>
        </p:grpSpPr>
        <p:sp>
          <p:nvSpPr>
            <p:cNvPr name="Freeform 15" id="15"/>
            <p:cNvSpPr/>
            <p:nvPr/>
          </p:nvSpPr>
          <p:spPr>
            <a:xfrm flipH="false" flipV="false" rot="0">
              <a:off x="0" y="0"/>
              <a:ext cx="475417" cy="475700"/>
            </a:xfrm>
            <a:custGeom>
              <a:avLst/>
              <a:gdLst/>
              <a:ahLst/>
              <a:cxnLst/>
              <a:rect r="r" b="b" t="t" l="l"/>
              <a:pathLst>
                <a:path h="475700" w="475417">
                  <a:moveTo>
                    <a:pt x="0" y="0"/>
                  </a:moveTo>
                  <a:lnTo>
                    <a:pt x="475417" y="0"/>
                  </a:lnTo>
                  <a:lnTo>
                    <a:pt x="475417" y="475700"/>
                  </a:lnTo>
                  <a:lnTo>
                    <a:pt x="0" y="475700"/>
                  </a:lnTo>
                  <a:close/>
                </a:path>
              </a:pathLst>
            </a:custGeom>
            <a:solidFill>
              <a:srgbClr val="4C5526"/>
            </a:solidFill>
            <a:ln cap="sq">
              <a:noFill/>
              <a:prstDash val="solid"/>
              <a:miter/>
            </a:ln>
          </p:spPr>
        </p:sp>
        <p:sp>
          <p:nvSpPr>
            <p:cNvPr name="TextBox 16" id="16"/>
            <p:cNvSpPr txBox="true"/>
            <p:nvPr/>
          </p:nvSpPr>
          <p:spPr>
            <a:xfrm>
              <a:off x="0" y="-28575"/>
              <a:ext cx="475417" cy="504275"/>
            </a:xfrm>
            <a:prstGeom prst="rect">
              <a:avLst/>
            </a:prstGeom>
          </p:spPr>
          <p:txBody>
            <a:bodyPr anchor="ctr" rtlCol="false" tIns="50800" lIns="50800" bIns="50800" rIns="50800"/>
            <a:lstStyle/>
            <a:p>
              <a:pPr algn="ctr">
                <a:lnSpc>
                  <a:spcPts val="2659"/>
                </a:lnSpc>
              </a:pPr>
            </a:p>
          </p:txBody>
        </p:sp>
      </p:grpSp>
      <p:sp>
        <p:nvSpPr>
          <p:cNvPr name="AutoShape 17" id="17"/>
          <p:cNvSpPr/>
          <p:nvPr/>
        </p:nvSpPr>
        <p:spPr>
          <a:xfrm>
            <a:off x="15907831" y="613170"/>
            <a:ext cx="0" cy="1806174"/>
          </a:xfrm>
          <a:prstGeom prst="line">
            <a:avLst/>
          </a:prstGeom>
          <a:ln cap="rnd" w="19050">
            <a:solidFill>
              <a:srgbClr val="000000"/>
            </a:solidFill>
            <a:prstDash val="solid"/>
            <a:headEnd type="none" len="sm" w="sm"/>
            <a:tailEnd type="none" len="sm" w="sm"/>
          </a:ln>
        </p:spPr>
      </p:sp>
      <p:sp>
        <p:nvSpPr>
          <p:cNvPr name="Freeform 18" id="18"/>
          <p:cNvSpPr/>
          <p:nvPr/>
        </p:nvSpPr>
        <p:spPr>
          <a:xfrm flipH="false" flipV="false" rot="8100000">
            <a:off x="16196047" y="1121760"/>
            <a:ext cx="1157193" cy="788995"/>
          </a:xfrm>
          <a:custGeom>
            <a:avLst/>
            <a:gdLst/>
            <a:ahLst/>
            <a:cxnLst/>
            <a:rect r="r" b="b" t="t" l="l"/>
            <a:pathLst>
              <a:path h="788995" w="1157193">
                <a:moveTo>
                  <a:pt x="0" y="0"/>
                </a:moveTo>
                <a:lnTo>
                  <a:pt x="1157193" y="0"/>
                </a:lnTo>
                <a:lnTo>
                  <a:pt x="1157193" y="788995"/>
                </a:lnTo>
                <a:lnTo>
                  <a:pt x="0" y="7889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9" id="19"/>
          <p:cNvSpPr/>
          <p:nvPr/>
        </p:nvSpPr>
        <p:spPr>
          <a:xfrm>
            <a:off x="12551541" y="4121079"/>
            <a:ext cx="1734797" cy="0"/>
          </a:xfrm>
          <a:prstGeom prst="line">
            <a:avLst/>
          </a:prstGeom>
          <a:ln cap="flat" w="19050">
            <a:solidFill>
              <a:srgbClr val="4C5526"/>
            </a:solidFill>
            <a:prstDash val="solid"/>
            <a:headEnd type="none" len="sm" w="sm"/>
            <a:tailEnd type="none" len="sm" w="sm"/>
          </a:ln>
        </p:spPr>
      </p:sp>
      <p:sp>
        <p:nvSpPr>
          <p:cNvPr name="TextBox 20" id="20"/>
          <p:cNvSpPr txBox="true"/>
          <p:nvPr/>
        </p:nvSpPr>
        <p:spPr>
          <a:xfrm rot="0">
            <a:off x="12674203" y="4174660"/>
            <a:ext cx="4788523" cy="3170681"/>
          </a:xfrm>
          <a:prstGeom prst="rect">
            <a:avLst/>
          </a:prstGeom>
        </p:spPr>
        <p:txBody>
          <a:bodyPr anchor="t" rtlCol="false" tIns="0" lIns="0" bIns="0" rIns="0">
            <a:spAutoFit/>
          </a:bodyPr>
          <a:lstStyle/>
          <a:p>
            <a:pPr algn="l">
              <a:lnSpc>
                <a:spcPts val="3654"/>
              </a:lnSpc>
            </a:pPr>
            <a:r>
              <a:rPr lang="en-US" sz="2100" spc="52">
                <a:solidFill>
                  <a:srgbClr val="1A160F"/>
                </a:solidFill>
                <a:latin typeface="TT Hoves"/>
                <a:ea typeface="TT Hoves"/>
                <a:cs typeface="TT Hoves"/>
                <a:sym typeface="TT Hoves"/>
              </a:rPr>
              <a:t>Se incarca modelul ResNet default</a:t>
            </a:r>
          </a:p>
          <a:p>
            <a:pPr algn="l">
              <a:lnSpc>
                <a:spcPts val="3654"/>
              </a:lnSpc>
            </a:pPr>
          </a:p>
          <a:p>
            <a:pPr algn="l">
              <a:lnSpc>
                <a:spcPts val="3654"/>
              </a:lnSpc>
            </a:pPr>
            <a:r>
              <a:rPr lang="en-US" sz="2100" spc="52">
                <a:solidFill>
                  <a:srgbClr val="1A160F"/>
                </a:solidFill>
                <a:latin typeface="TT Hoves"/>
                <a:ea typeface="TT Hoves"/>
                <a:cs typeface="TT Hoves"/>
                <a:sym typeface="TT Hoves"/>
              </a:rPr>
              <a:t>Se ingheata majoritatea straturilor retelei, iar ultimul bloc functional si clasificatorul vor invata trasaturile specifice solului</a:t>
            </a:r>
          </a:p>
          <a:p>
            <a:pPr algn="l">
              <a:lnSpc>
                <a:spcPts val="3654"/>
              </a:lnSpc>
            </a:pPr>
          </a:p>
        </p:txBody>
      </p:sp>
      <p:sp>
        <p:nvSpPr>
          <p:cNvPr name="TextBox 21" id="21"/>
          <p:cNvSpPr txBox="true"/>
          <p:nvPr/>
        </p:nvSpPr>
        <p:spPr>
          <a:xfrm rot="0">
            <a:off x="12551541" y="2591322"/>
            <a:ext cx="5465900" cy="1520232"/>
          </a:xfrm>
          <a:prstGeom prst="rect">
            <a:avLst/>
          </a:prstGeom>
        </p:spPr>
        <p:txBody>
          <a:bodyPr anchor="t" rtlCol="false" tIns="0" lIns="0" bIns="0" rIns="0">
            <a:spAutoFit/>
          </a:bodyPr>
          <a:lstStyle/>
          <a:p>
            <a:pPr algn="l">
              <a:lnSpc>
                <a:spcPts val="3909"/>
              </a:lnSpc>
            </a:pPr>
            <a:r>
              <a:rPr lang="en-US" sz="3796">
                <a:solidFill>
                  <a:srgbClr val="1A160F"/>
                </a:solidFill>
                <a:latin typeface="Archivo Black"/>
                <a:ea typeface="Archivo Black"/>
                <a:cs typeface="Archivo Black"/>
                <a:sym typeface="Archivo Black"/>
              </a:rPr>
              <a:t>CONFIGURAREA ARHITECTURII RESNET</a:t>
            </a:r>
          </a:p>
        </p:txBody>
      </p:sp>
      <p:sp>
        <p:nvSpPr>
          <p:cNvPr name="TextBox 22" id="22"/>
          <p:cNvSpPr txBox="true"/>
          <p:nvPr/>
        </p:nvSpPr>
        <p:spPr>
          <a:xfrm rot="0">
            <a:off x="2196319" y="2617217"/>
            <a:ext cx="3947029" cy="1671743"/>
          </a:xfrm>
          <a:prstGeom prst="rect">
            <a:avLst/>
          </a:prstGeom>
        </p:spPr>
        <p:txBody>
          <a:bodyPr anchor="t" rtlCol="false" tIns="0" lIns="0" bIns="0" rIns="0">
            <a:spAutoFit/>
          </a:bodyPr>
          <a:lstStyle/>
          <a:p>
            <a:pPr algn="l">
              <a:lnSpc>
                <a:spcPts val="4321"/>
              </a:lnSpc>
            </a:pPr>
            <a:r>
              <a:rPr lang="en-US" sz="4196">
                <a:solidFill>
                  <a:srgbClr val="1A160F"/>
                </a:solidFill>
                <a:latin typeface="Archivo Black"/>
                <a:ea typeface="Archivo Black"/>
                <a:cs typeface="Archivo Black"/>
                <a:sym typeface="Archivo Black"/>
              </a:rPr>
              <a:t>IMPARTIREA SETULUI DE DATE</a:t>
            </a:r>
          </a:p>
        </p:txBody>
      </p:sp>
      <p:sp>
        <p:nvSpPr>
          <p:cNvPr name="TextBox 23" id="23"/>
          <p:cNvSpPr txBox="true"/>
          <p:nvPr/>
        </p:nvSpPr>
        <p:spPr>
          <a:xfrm rot="0">
            <a:off x="2196319" y="4450420"/>
            <a:ext cx="4619473" cy="1985362"/>
          </a:xfrm>
          <a:prstGeom prst="rect">
            <a:avLst/>
          </a:prstGeom>
        </p:spPr>
        <p:txBody>
          <a:bodyPr anchor="t" rtlCol="false" tIns="0" lIns="0" bIns="0" rIns="0">
            <a:spAutoFit/>
          </a:bodyPr>
          <a:lstStyle/>
          <a:p>
            <a:pPr algn="l">
              <a:lnSpc>
                <a:spcPts val="4002"/>
              </a:lnSpc>
            </a:pPr>
            <a:r>
              <a:rPr lang="en-US" sz="2300" spc="57">
                <a:solidFill>
                  <a:srgbClr val="1A160F"/>
                </a:solidFill>
                <a:latin typeface="TT Hoves"/>
                <a:ea typeface="TT Hoves"/>
                <a:cs typeface="TT Hoves"/>
                <a:sym typeface="TT Hoves"/>
              </a:rPr>
              <a:t>Setul de date este impartit in: </a:t>
            </a:r>
          </a:p>
          <a:p>
            <a:pPr algn="l" marL="496661" indent="-248331" lvl="1">
              <a:lnSpc>
                <a:spcPts val="4002"/>
              </a:lnSpc>
              <a:buFont typeface="Arial"/>
              <a:buChar char="•"/>
            </a:pPr>
            <a:r>
              <a:rPr lang="en-US" sz="2300" spc="57">
                <a:solidFill>
                  <a:srgbClr val="1A160F"/>
                </a:solidFill>
                <a:latin typeface="TT Hoves"/>
                <a:ea typeface="TT Hoves"/>
                <a:cs typeface="TT Hoves"/>
                <a:sym typeface="TT Hoves"/>
              </a:rPr>
              <a:t>date de antrenament (70%)</a:t>
            </a:r>
          </a:p>
          <a:p>
            <a:pPr algn="l" marL="496661" indent="-248331" lvl="1">
              <a:lnSpc>
                <a:spcPts val="4002"/>
              </a:lnSpc>
              <a:buFont typeface="Arial"/>
              <a:buChar char="•"/>
            </a:pPr>
            <a:r>
              <a:rPr lang="en-US" sz="2300" spc="57">
                <a:solidFill>
                  <a:srgbClr val="1A160F"/>
                </a:solidFill>
                <a:latin typeface="TT Hoves"/>
                <a:ea typeface="TT Hoves"/>
                <a:cs typeface="TT Hoves"/>
                <a:sym typeface="TT Hoves"/>
              </a:rPr>
              <a:t>date de validare (15%)</a:t>
            </a:r>
          </a:p>
          <a:p>
            <a:pPr algn="l" marL="496661" indent="-248331" lvl="1">
              <a:lnSpc>
                <a:spcPts val="4002"/>
              </a:lnSpc>
              <a:buFont typeface="Arial"/>
              <a:buChar char="•"/>
            </a:pPr>
            <a:r>
              <a:rPr lang="en-US" sz="2300" spc="57">
                <a:solidFill>
                  <a:srgbClr val="1A160F"/>
                </a:solidFill>
                <a:latin typeface="TT Hoves"/>
                <a:ea typeface="TT Hoves"/>
                <a:cs typeface="TT Hoves"/>
                <a:sym typeface="TT Hoves"/>
              </a:rPr>
              <a:t>date de test (15%)</a:t>
            </a:r>
          </a:p>
        </p:txBody>
      </p:sp>
      <p:sp>
        <p:nvSpPr>
          <p:cNvPr name="TextBox 24" id="24"/>
          <p:cNvSpPr txBox="true"/>
          <p:nvPr/>
        </p:nvSpPr>
        <p:spPr>
          <a:xfrm rot="0">
            <a:off x="7409203" y="2591322"/>
            <a:ext cx="4607558" cy="1004690"/>
          </a:xfrm>
          <a:prstGeom prst="rect">
            <a:avLst/>
          </a:prstGeom>
        </p:spPr>
        <p:txBody>
          <a:bodyPr anchor="t" rtlCol="false" tIns="0" lIns="0" bIns="0" rIns="0">
            <a:spAutoFit/>
          </a:bodyPr>
          <a:lstStyle/>
          <a:p>
            <a:pPr algn="l">
              <a:lnSpc>
                <a:spcPts val="3853"/>
              </a:lnSpc>
            </a:pPr>
            <a:r>
              <a:rPr lang="en-US" sz="3740">
                <a:solidFill>
                  <a:srgbClr val="F2F0E3"/>
                </a:solidFill>
                <a:latin typeface="Archivo Black"/>
                <a:ea typeface="Archivo Black"/>
                <a:cs typeface="Archivo Black"/>
                <a:sym typeface="Archivo Black"/>
              </a:rPr>
              <a:t>AUGUMENTAREA DATELOR</a:t>
            </a:r>
          </a:p>
        </p:txBody>
      </p:sp>
      <p:sp>
        <p:nvSpPr>
          <p:cNvPr name="TextBox 25" id="25"/>
          <p:cNvSpPr txBox="true"/>
          <p:nvPr/>
        </p:nvSpPr>
        <p:spPr>
          <a:xfrm rot="0">
            <a:off x="7638020" y="3997254"/>
            <a:ext cx="4217033" cy="5913881"/>
          </a:xfrm>
          <a:prstGeom prst="rect">
            <a:avLst/>
          </a:prstGeom>
        </p:spPr>
        <p:txBody>
          <a:bodyPr anchor="t" rtlCol="false" tIns="0" lIns="0" bIns="0" rIns="0">
            <a:spAutoFit/>
          </a:bodyPr>
          <a:lstStyle/>
          <a:p>
            <a:pPr algn="l">
              <a:lnSpc>
                <a:spcPts val="3654"/>
              </a:lnSpc>
            </a:pPr>
            <a:r>
              <a:rPr lang="en-US" sz="2100" spc="52">
                <a:solidFill>
                  <a:srgbClr val="F2F0E3"/>
                </a:solidFill>
                <a:latin typeface="TT Hoves"/>
                <a:ea typeface="TT Hoves"/>
                <a:cs typeface="TT Hoves"/>
                <a:sym typeface="TT Hoves"/>
              </a:rPr>
              <a:t>Imaginile sunt redimensionate la dimensiunea de 224x224</a:t>
            </a:r>
          </a:p>
          <a:p>
            <a:pPr algn="l">
              <a:lnSpc>
                <a:spcPts val="3654"/>
              </a:lnSpc>
            </a:pPr>
          </a:p>
          <a:p>
            <a:pPr algn="l">
              <a:lnSpc>
                <a:spcPts val="3654"/>
              </a:lnSpc>
            </a:pPr>
            <a:r>
              <a:rPr lang="en-US" sz="2100" spc="52">
                <a:solidFill>
                  <a:srgbClr val="F2F0E3"/>
                </a:solidFill>
                <a:latin typeface="TT Hoves"/>
                <a:ea typeface="TT Hoves"/>
                <a:cs typeface="TT Hoves"/>
                <a:sym typeface="TT Hoves"/>
              </a:rPr>
              <a:t>Pentru setul de antrenare se aplica tehnici de augumentare pentru prevenirea over-fittingului:</a:t>
            </a:r>
          </a:p>
          <a:p>
            <a:pPr algn="l">
              <a:lnSpc>
                <a:spcPts val="3654"/>
              </a:lnSpc>
            </a:pPr>
            <a:r>
              <a:rPr lang="en-US" sz="2100" spc="52">
                <a:solidFill>
                  <a:srgbClr val="F2F0E3"/>
                </a:solidFill>
                <a:latin typeface="TT Hoves"/>
                <a:ea typeface="TT Hoves"/>
                <a:cs typeface="TT Hoves"/>
                <a:sym typeface="TT Hoves"/>
              </a:rPr>
              <a:t>taiere aleatoare, intoarcere pe orizontala, ajustarea contrastului. Pe setul de validare se aplica transformari adaptate ponderilor ImageNet</a:t>
            </a:r>
          </a:p>
          <a:p>
            <a:pPr algn="l">
              <a:lnSpc>
                <a:spcPts val="3654"/>
              </a:lnSpc>
            </a:pPr>
          </a:p>
          <a:p>
            <a:pPr algn="l">
              <a:lnSpc>
                <a:spcPts val="3654"/>
              </a:lnSpc>
            </a:pPr>
          </a:p>
        </p:txBody>
      </p:sp>
      <p:sp>
        <p:nvSpPr>
          <p:cNvPr name="AutoShape 26" id="26"/>
          <p:cNvSpPr/>
          <p:nvPr/>
        </p:nvSpPr>
        <p:spPr>
          <a:xfrm>
            <a:off x="7409203" y="3740079"/>
            <a:ext cx="1734797" cy="0"/>
          </a:xfrm>
          <a:prstGeom prst="line">
            <a:avLst/>
          </a:prstGeom>
          <a:ln cap="flat" w="19050">
            <a:solidFill>
              <a:srgbClr val="F2F0E3"/>
            </a:solidFill>
            <a:prstDash val="solid"/>
            <a:headEnd type="none" len="sm" w="sm"/>
            <a:tailEnd type="none" len="sm" w="sm"/>
          </a:ln>
        </p:spPr>
      </p:sp>
      <p:sp>
        <p:nvSpPr>
          <p:cNvPr name="AutoShape 27" id="27"/>
          <p:cNvSpPr/>
          <p:nvPr/>
        </p:nvSpPr>
        <p:spPr>
          <a:xfrm>
            <a:off x="2196319" y="4288960"/>
            <a:ext cx="1734797" cy="0"/>
          </a:xfrm>
          <a:prstGeom prst="line">
            <a:avLst/>
          </a:prstGeom>
          <a:ln cap="flat" w="19050">
            <a:solidFill>
              <a:srgbClr val="4C5526"/>
            </a:solidFill>
            <a:prstDash val="solid"/>
            <a:headEnd type="none" len="sm" w="sm"/>
            <a:tailEnd type="none" len="sm" w="sm"/>
          </a:ln>
        </p:spPr>
      </p:sp>
      <p:sp>
        <p:nvSpPr>
          <p:cNvPr name="TextBox 28" id="28"/>
          <p:cNvSpPr txBox="true"/>
          <p:nvPr/>
        </p:nvSpPr>
        <p:spPr>
          <a:xfrm rot="0">
            <a:off x="2196319" y="6587716"/>
            <a:ext cx="4619473" cy="2995012"/>
          </a:xfrm>
          <a:prstGeom prst="rect">
            <a:avLst/>
          </a:prstGeom>
        </p:spPr>
        <p:txBody>
          <a:bodyPr anchor="t" rtlCol="false" tIns="0" lIns="0" bIns="0" rIns="0">
            <a:spAutoFit/>
          </a:bodyPr>
          <a:lstStyle/>
          <a:p>
            <a:pPr algn="l">
              <a:lnSpc>
                <a:spcPts val="4002"/>
              </a:lnSpc>
            </a:pPr>
            <a:r>
              <a:rPr lang="en-US" sz="2300" spc="57">
                <a:solidFill>
                  <a:srgbClr val="1A160F"/>
                </a:solidFill>
                <a:latin typeface="TT Hoves"/>
                <a:ea typeface="TT Hoves"/>
                <a:cs typeface="TT Hoves"/>
                <a:sym typeface="TT Hoves"/>
              </a:rPr>
              <a:t>Deoarece este o usoara diferenta intre numarul de imagini, se foloseste functia WeightedRandomSampler pentru a corecta ponderile in functie de numarul de imagini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sp>
        <p:nvSpPr>
          <p:cNvPr name="AutoShape 2" id="2"/>
          <p:cNvSpPr/>
          <p:nvPr/>
        </p:nvSpPr>
        <p:spPr>
          <a:xfrm flipV="true">
            <a:off x="0" y="613170"/>
            <a:ext cx="18288000" cy="0"/>
          </a:xfrm>
          <a:prstGeom prst="line">
            <a:avLst/>
          </a:prstGeom>
          <a:ln cap="rnd" w="19050">
            <a:solidFill>
              <a:srgbClr val="000000"/>
            </a:solidFill>
            <a:prstDash val="solid"/>
            <a:headEnd type="none" len="sm" w="sm"/>
            <a:tailEnd type="none" len="sm" w="sm"/>
          </a:ln>
        </p:spPr>
      </p:sp>
      <p:grpSp>
        <p:nvGrpSpPr>
          <p:cNvPr name="Group 3" id="3"/>
          <p:cNvGrpSpPr/>
          <p:nvPr/>
        </p:nvGrpSpPr>
        <p:grpSpPr>
          <a:xfrm rot="0">
            <a:off x="7078453" y="2419344"/>
            <a:ext cx="5305427" cy="7268773"/>
            <a:chOff x="0" y="0"/>
            <a:chExt cx="1397314" cy="1914409"/>
          </a:xfrm>
        </p:grpSpPr>
        <p:sp>
          <p:nvSpPr>
            <p:cNvPr name="Freeform 4" id="4"/>
            <p:cNvSpPr/>
            <p:nvPr/>
          </p:nvSpPr>
          <p:spPr>
            <a:xfrm flipH="false" flipV="false" rot="0">
              <a:off x="0" y="0"/>
              <a:ext cx="1397314" cy="1914409"/>
            </a:xfrm>
            <a:custGeom>
              <a:avLst/>
              <a:gdLst/>
              <a:ahLst/>
              <a:cxnLst/>
              <a:rect r="r" b="b" t="t" l="l"/>
              <a:pathLst>
                <a:path h="1914409" w="1397314">
                  <a:moveTo>
                    <a:pt x="0" y="0"/>
                  </a:moveTo>
                  <a:lnTo>
                    <a:pt x="1397314" y="0"/>
                  </a:lnTo>
                  <a:lnTo>
                    <a:pt x="1397314" y="1914409"/>
                  </a:lnTo>
                  <a:lnTo>
                    <a:pt x="0" y="1914409"/>
                  </a:lnTo>
                  <a:close/>
                </a:path>
              </a:pathLst>
            </a:custGeom>
            <a:solidFill>
              <a:srgbClr val="4C5526"/>
            </a:solidFill>
          </p:spPr>
        </p:sp>
        <p:sp>
          <p:nvSpPr>
            <p:cNvPr name="TextBox 5" id="5"/>
            <p:cNvSpPr txBox="true"/>
            <p:nvPr/>
          </p:nvSpPr>
          <p:spPr>
            <a:xfrm>
              <a:off x="0" y="47625"/>
              <a:ext cx="1397314" cy="1866784"/>
            </a:xfrm>
            <a:prstGeom prst="rect">
              <a:avLst/>
            </a:prstGeom>
          </p:spPr>
          <p:txBody>
            <a:bodyPr anchor="ctr" rtlCol="false" tIns="50800" lIns="50800" bIns="50800" rIns="50800"/>
            <a:lstStyle/>
            <a:p>
              <a:pPr algn="ctr">
                <a:lnSpc>
                  <a:spcPts val="2664"/>
                </a:lnSpc>
              </a:pPr>
            </a:p>
          </p:txBody>
        </p:sp>
      </p:grpSp>
      <p:sp>
        <p:nvSpPr>
          <p:cNvPr name="AutoShape 6" id="6"/>
          <p:cNvSpPr/>
          <p:nvPr/>
        </p:nvSpPr>
        <p:spPr>
          <a:xfrm>
            <a:off x="598883" y="2419344"/>
            <a:ext cx="17104522" cy="0"/>
          </a:xfrm>
          <a:prstGeom prst="line">
            <a:avLst/>
          </a:prstGeom>
          <a:ln cap="rnd" w="19050">
            <a:solidFill>
              <a:srgbClr val="000000"/>
            </a:solidFill>
            <a:prstDash val="solid"/>
            <a:headEnd type="none" len="sm" w="sm"/>
            <a:tailEnd type="none" len="sm" w="sm"/>
          </a:ln>
        </p:spPr>
      </p:sp>
      <p:sp>
        <p:nvSpPr>
          <p:cNvPr name="AutoShape 7" id="7"/>
          <p:cNvSpPr/>
          <p:nvPr/>
        </p:nvSpPr>
        <p:spPr>
          <a:xfrm>
            <a:off x="7092551" y="2419344"/>
            <a:ext cx="0" cy="7268773"/>
          </a:xfrm>
          <a:prstGeom prst="line">
            <a:avLst/>
          </a:prstGeom>
          <a:ln cap="rnd" w="19050">
            <a:solidFill>
              <a:srgbClr val="000000"/>
            </a:solidFill>
            <a:prstDash val="solid"/>
            <a:headEnd type="none" len="sm" w="sm"/>
            <a:tailEnd type="none" len="sm" w="sm"/>
          </a:ln>
        </p:spPr>
      </p:sp>
      <p:sp>
        <p:nvSpPr>
          <p:cNvPr name="AutoShape 8" id="8"/>
          <p:cNvSpPr/>
          <p:nvPr/>
        </p:nvSpPr>
        <p:spPr>
          <a:xfrm>
            <a:off x="12397978" y="2419344"/>
            <a:ext cx="0" cy="7268773"/>
          </a:xfrm>
          <a:prstGeom prst="line">
            <a:avLst/>
          </a:prstGeom>
          <a:ln cap="rnd" w="19050">
            <a:solidFill>
              <a:srgbClr val="000000"/>
            </a:solidFill>
            <a:prstDash val="solid"/>
            <a:headEnd type="none" len="sm" w="sm"/>
            <a:tailEnd type="none" len="sm" w="sm"/>
          </a:ln>
        </p:spPr>
      </p:sp>
      <p:sp>
        <p:nvSpPr>
          <p:cNvPr name="AutoShape 9" id="9"/>
          <p:cNvSpPr/>
          <p:nvPr/>
        </p:nvSpPr>
        <p:spPr>
          <a:xfrm>
            <a:off x="0" y="9688117"/>
            <a:ext cx="18288000" cy="0"/>
          </a:xfrm>
          <a:prstGeom prst="line">
            <a:avLst/>
          </a:prstGeom>
          <a:ln cap="rnd" w="19050">
            <a:solidFill>
              <a:srgbClr val="000000"/>
            </a:solidFill>
            <a:prstDash val="solid"/>
            <a:headEnd type="none" len="sm" w="sm"/>
            <a:tailEnd type="none" len="sm" w="sm"/>
          </a:ln>
        </p:spPr>
      </p:sp>
      <p:sp>
        <p:nvSpPr>
          <p:cNvPr name="AutoShape 10" id="10"/>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11" id="11"/>
          <p:cNvSpPr/>
          <p:nvPr/>
        </p:nvSpPr>
        <p:spPr>
          <a:xfrm>
            <a:off x="1787124" y="613170"/>
            <a:ext cx="0" cy="9074947"/>
          </a:xfrm>
          <a:prstGeom prst="line">
            <a:avLst/>
          </a:prstGeom>
          <a:ln cap="rnd" w="19050">
            <a:solidFill>
              <a:srgbClr val="000000"/>
            </a:solidFill>
            <a:prstDash val="solid"/>
            <a:headEnd type="none" len="sm" w="sm"/>
            <a:tailEnd type="none" len="sm" w="sm"/>
          </a:ln>
        </p:spPr>
      </p:sp>
      <p:sp>
        <p:nvSpPr>
          <p:cNvPr name="AutoShape 12" id="12"/>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TextBox 13" id="13"/>
          <p:cNvSpPr txBox="true"/>
          <p:nvPr/>
        </p:nvSpPr>
        <p:spPr>
          <a:xfrm rot="0">
            <a:off x="1850122" y="1184937"/>
            <a:ext cx="14057709" cy="862076"/>
          </a:xfrm>
          <a:prstGeom prst="rect">
            <a:avLst/>
          </a:prstGeom>
        </p:spPr>
        <p:txBody>
          <a:bodyPr anchor="t" rtlCol="false" tIns="0" lIns="0" bIns="0" rIns="0">
            <a:spAutoFit/>
          </a:bodyPr>
          <a:lstStyle/>
          <a:p>
            <a:pPr algn="ctr" marL="0" indent="0" lvl="0">
              <a:lnSpc>
                <a:spcPts val="6591"/>
              </a:lnSpc>
              <a:spcBef>
                <a:spcPct val="0"/>
              </a:spcBef>
            </a:pPr>
            <a:r>
              <a:rPr lang="en-US" sz="6399">
                <a:solidFill>
                  <a:srgbClr val="1A160F"/>
                </a:solidFill>
                <a:latin typeface="Archivo Black"/>
                <a:ea typeface="Archivo Black"/>
                <a:cs typeface="Archivo Black"/>
                <a:sym typeface="Archivo Black"/>
              </a:rPr>
              <a:t>IMPLEMENTAREA IN PYTHON</a:t>
            </a:r>
          </a:p>
        </p:txBody>
      </p:sp>
      <p:grpSp>
        <p:nvGrpSpPr>
          <p:cNvPr name="Group 14" id="14"/>
          <p:cNvGrpSpPr/>
          <p:nvPr/>
        </p:nvGrpSpPr>
        <p:grpSpPr>
          <a:xfrm rot="0">
            <a:off x="15898306" y="613170"/>
            <a:ext cx="1805099" cy="1806174"/>
            <a:chOff x="0" y="0"/>
            <a:chExt cx="475417" cy="475700"/>
          </a:xfrm>
        </p:grpSpPr>
        <p:sp>
          <p:nvSpPr>
            <p:cNvPr name="Freeform 15" id="15"/>
            <p:cNvSpPr/>
            <p:nvPr/>
          </p:nvSpPr>
          <p:spPr>
            <a:xfrm flipH="false" flipV="false" rot="0">
              <a:off x="0" y="0"/>
              <a:ext cx="475417" cy="475700"/>
            </a:xfrm>
            <a:custGeom>
              <a:avLst/>
              <a:gdLst/>
              <a:ahLst/>
              <a:cxnLst/>
              <a:rect r="r" b="b" t="t" l="l"/>
              <a:pathLst>
                <a:path h="475700" w="475417">
                  <a:moveTo>
                    <a:pt x="0" y="0"/>
                  </a:moveTo>
                  <a:lnTo>
                    <a:pt x="475417" y="0"/>
                  </a:lnTo>
                  <a:lnTo>
                    <a:pt x="475417" y="475700"/>
                  </a:lnTo>
                  <a:lnTo>
                    <a:pt x="0" y="475700"/>
                  </a:lnTo>
                  <a:close/>
                </a:path>
              </a:pathLst>
            </a:custGeom>
            <a:solidFill>
              <a:srgbClr val="4C5526"/>
            </a:solidFill>
            <a:ln cap="sq">
              <a:noFill/>
              <a:prstDash val="solid"/>
              <a:miter/>
            </a:ln>
          </p:spPr>
        </p:sp>
        <p:sp>
          <p:nvSpPr>
            <p:cNvPr name="TextBox 16" id="16"/>
            <p:cNvSpPr txBox="true"/>
            <p:nvPr/>
          </p:nvSpPr>
          <p:spPr>
            <a:xfrm>
              <a:off x="0" y="-28575"/>
              <a:ext cx="475417" cy="504275"/>
            </a:xfrm>
            <a:prstGeom prst="rect">
              <a:avLst/>
            </a:prstGeom>
          </p:spPr>
          <p:txBody>
            <a:bodyPr anchor="ctr" rtlCol="false" tIns="50800" lIns="50800" bIns="50800" rIns="50800"/>
            <a:lstStyle/>
            <a:p>
              <a:pPr algn="ctr">
                <a:lnSpc>
                  <a:spcPts val="2659"/>
                </a:lnSpc>
              </a:pPr>
            </a:p>
          </p:txBody>
        </p:sp>
      </p:grpSp>
      <p:sp>
        <p:nvSpPr>
          <p:cNvPr name="AutoShape 17" id="17"/>
          <p:cNvSpPr/>
          <p:nvPr/>
        </p:nvSpPr>
        <p:spPr>
          <a:xfrm>
            <a:off x="15907831" y="613170"/>
            <a:ext cx="0" cy="1806174"/>
          </a:xfrm>
          <a:prstGeom prst="line">
            <a:avLst/>
          </a:prstGeom>
          <a:ln cap="rnd" w="19050">
            <a:solidFill>
              <a:srgbClr val="000000"/>
            </a:solidFill>
            <a:prstDash val="solid"/>
            <a:headEnd type="none" len="sm" w="sm"/>
            <a:tailEnd type="none" len="sm" w="sm"/>
          </a:ln>
        </p:spPr>
      </p:sp>
      <p:sp>
        <p:nvSpPr>
          <p:cNvPr name="Freeform 18" id="18"/>
          <p:cNvSpPr/>
          <p:nvPr/>
        </p:nvSpPr>
        <p:spPr>
          <a:xfrm flipH="false" flipV="false" rot="8100000">
            <a:off x="16196047" y="1121760"/>
            <a:ext cx="1157193" cy="788995"/>
          </a:xfrm>
          <a:custGeom>
            <a:avLst/>
            <a:gdLst/>
            <a:ahLst/>
            <a:cxnLst/>
            <a:rect r="r" b="b" t="t" l="l"/>
            <a:pathLst>
              <a:path h="788995" w="1157193">
                <a:moveTo>
                  <a:pt x="0" y="0"/>
                </a:moveTo>
                <a:lnTo>
                  <a:pt x="1157193" y="0"/>
                </a:lnTo>
                <a:lnTo>
                  <a:pt x="1157193" y="788995"/>
                </a:lnTo>
                <a:lnTo>
                  <a:pt x="0" y="7889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9" id="19"/>
          <p:cNvSpPr/>
          <p:nvPr/>
        </p:nvSpPr>
        <p:spPr>
          <a:xfrm>
            <a:off x="12551541" y="3616254"/>
            <a:ext cx="1734797" cy="0"/>
          </a:xfrm>
          <a:prstGeom prst="line">
            <a:avLst/>
          </a:prstGeom>
          <a:ln cap="flat" w="19050">
            <a:solidFill>
              <a:srgbClr val="4C5526"/>
            </a:solidFill>
            <a:prstDash val="solid"/>
            <a:headEnd type="none" len="sm" w="sm"/>
            <a:tailEnd type="none" len="sm" w="sm"/>
          </a:ln>
        </p:spPr>
      </p:sp>
      <p:sp>
        <p:nvSpPr>
          <p:cNvPr name="TextBox 20" id="20"/>
          <p:cNvSpPr txBox="true"/>
          <p:nvPr/>
        </p:nvSpPr>
        <p:spPr>
          <a:xfrm rot="0">
            <a:off x="12674203" y="4323895"/>
            <a:ext cx="4788523" cy="4541976"/>
          </a:xfrm>
          <a:prstGeom prst="rect">
            <a:avLst/>
          </a:prstGeom>
        </p:spPr>
        <p:txBody>
          <a:bodyPr anchor="t" rtlCol="false" tIns="0" lIns="0" bIns="0" rIns="0">
            <a:spAutoFit/>
          </a:bodyPr>
          <a:lstStyle/>
          <a:p>
            <a:pPr algn="l">
              <a:lnSpc>
                <a:spcPts val="3654"/>
              </a:lnSpc>
            </a:pPr>
            <a:r>
              <a:rPr lang="en-US" sz="2100" spc="52">
                <a:solidFill>
                  <a:srgbClr val="1A160F"/>
                </a:solidFill>
                <a:latin typeface="TT Hoves"/>
                <a:ea typeface="TT Hoves"/>
                <a:cs typeface="TT Hoves"/>
                <a:sym typeface="TT Hoves"/>
              </a:rPr>
              <a:t>Se obtin urmatoarele metrici: </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Train loss</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Train accuracy</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Validation loss</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Validation accuracy</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Precizie</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Recall</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Scor F1</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matricea de confuzie</a:t>
            </a:r>
          </a:p>
          <a:p>
            <a:pPr algn="l">
              <a:lnSpc>
                <a:spcPts val="3654"/>
              </a:lnSpc>
            </a:pPr>
          </a:p>
        </p:txBody>
      </p:sp>
      <p:sp>
        <p:nvSpPr>
          <p:cNvPr name="TextBox 21" id="21"/>
          <p:cNvSpPr txBox="true"/>
          <p:nvPr/>
        </p:nvSpPr>
        <p:spPr>
          <a:xfrm rot="0">
            <a:off x="12551541" y="2591322"/>
            <a:ext cx="5465900" cy="1024932"/>
          </a:xfrm>
          <a:prstGeom prst="rect">
            <a:avLst/>
          </a:prstGeom>
        </p:spPr>
        <p:txBody>
          <a:bodyPr anchor="t" rtlCol="false" tIns="0" lIns="0" bIns="0" rIns="0">
            <a:spAutoFit/>
          </a:bodyPr>
          <a:lstStyle/>
          <a:p>
            <a:pPr algn="l">
              <a:lnSpc>
                <a:spcPts val="3909"/>
              </a:lnSpc>
            </a:pPr>
            <a:r>
              <a:rPr lang="en-US" sz="3796">
                <a:solidFill>
                  <a:srgbClr val="1A160F"/>
                </a:solidFill>
                <a:latin typeface="Archivo Black"/>
                <a:ea typeface="Archivo Black"/>
                <a:cs typeface="Archivo Black"/>
                <a:sym typeface="Archivo Black"/>
              </a:rPr>
              <a:t>OBTINEREA REZULTATELOR</a:t>
            </a:r>
          </a:p>
        </p:txBody>
      </p:sp>
      <p:sp>
        <p:nvSpPr>
          <p:cNvPr name="TextBox 22" id="22"/>
          <p:cNvSpPr txBox="true"/>
          <p:nvPr/>
        </p:nvSpPr>
        <p:spPr>
          <a:xfrm rot="0">
            <a:off x="1991721" y="2591322"/>
            <a:ext cx="4896232" cy="1128818"/>
          </a:xfrm>
          <a:prstGeom prst="rect">
            <a:avLst/>
          </a:prstGeom>
        </p:spPr>
        <p:txBody>
          <a:bodyPr anchor="t" rtlCol="false" tIns="0" lIns="0" bIns="0" rIns="0">
            <a:spAutoFit/>
          </a:bodyPr>
          <a:lstStyle/>
          <a:p>
            <a:pPr algn="l">
              <a:lnSpc>
                <a:spcPts val="4321"/>
              </a:lnSpc>
            </a:pPr>
            <a:r>
              <a:rPr lang="en-US" sz="4196">
                <a:solidFill>
                  <a:srgbClr val="1A160F"/>
                </a:solidFill>
                <a:latin typeface="Archivo Black"/>
                <a:ea typeface="Archivo Black"/>
                <a:cs typeface="Archivo Black"/>
                <a:sym typeface="Archivo Black"/>
              </a:rPr>
              <a:t>SELECTAREA PARAMETRILOR</a:t>
            </a:r>
          </a:p>
        </p:txBody>
      </p:sp>
      <p:sp>
        <p:nvSpPr>
          <p:cNvPr name="TextBox 23" id="23"/>
          <p:cNvSpPr txBox="true"/>
          <p:nvPr/>
        </p:nvSpPr>
        <p:spPr>
          <a:xfrm rot="0">
            <a:off x="1982730" y="3987729"/>
            <a:ext cx="4619473" cy="4005028"/>
          </a:xfrm>
          <a:prstGeom prst="rect">
            <a:avLst/>
          </a:prstGeom>
        </p:spPr>
        <p:txBody>
          <a:bodyPr anchor="t" rtlCol="false" tIns="0" lIns="0" bIns="0" rIns="0">
            <a:spAutoFit/>
          </a:bodyPr>
          <a:lstStyle/>
          <a:p>
            <a:pPr algn="l">
              <a:lnSpc>
                <a:spcPts val="4002"/>
              </a:lnSpc>
            </a:pPr>
            <a:r>
              <a:rPr lang="en-US" sz="2300" spc="57">
                <a:solidFill>
                  <a:srgbClr val="1A160F"/>
                </a:solidFill>
                <a:latin typeface="TT Hoves"/>
                <a:ea typeface="TT Hoves"/>
                <a:cs typeface="TT Hoves"/>
                <a:sym typeface="TT Hoves"/>
              </a:rPr>
              <a:t>Se alege optimizatorul Adam </a:t>
            </a:r>
          </a:p>
          <a:p>
            <a:pPr algn="l">
              <a:lnSpc>
                <a:spcPts val="4002"/>
              </a:lnSpc>
            </a:pPr>
          </a:p>
          <a:p>
            <a:pPr algn="l">
              <a:lnSpc>
                <a:spcPts val="4002"/>
              </a:lnSpc>
            </a:pPr>
            <a:r>
              <a:rPr lang="en-US" sz="2300" spc="57">
                <a:solidFill>
                  <a:srgbClr val="1A160F"/>
                </a:solidFill>
                <a:latin typeface="TT Hoves"/>
                <a:ea typeface="TT Hoves"/>
                <a:cs typeface="TT Hoves"/>
                <a:sym typeface="TT Hoves"/>
              </a:rPr>
              <a:t>Functia de cost CrossEntropyLoss si label smoothing </a:t>
            </a:r>
          </a:p>
          <a:p>
            <a:pPr algn="l">
              <a:lnSpc>
                <a:spcPts val="4002"/>
              </a:lnSpc>
            </a:pPr>
          </a:p>
          <a:p>
            <a:pPr algn="l">
              <a:lnSpc>
                <a:spcPts val="4002"/>
              </a:lnSpc>
            </a:pPr>
            <a:r>
              <a:rPr lang="en-US" sz="2300" spc="57">
                <a:solidFill>
                  <a:srgbClr val="1A160F"/>
                </a:solidFill>
                <a:latin typeface="TT Hoves"/>
                <a:ea typeface="TT Hoves"/>
                <a:cs typeface="TT Hoves"/>
                <a:sym typeface="TT Hoves"/>
              </a:rPr>
              <a:t>CosineAnnealingLR care va scadea rata de invatare treptat</a:t>
            </a:r>
          </a:p>
        </p:txBody>
      </p:sp>
      <p:sp>
        <p:nvSpPr>
          <p:cNvPr name="TextBox 24" id="24"/>
          <p:cNvSpPr txBox="true"/>
          <p:nvPr/>
        </p:nvSpPr>
        <p:spPr>
          <a:xfrm rot="0">
            <a:off x="7286542" y="2636267"/>
            <a:ext cx="5265000" cy="568031"/>
          </a:xfrm>
          <a:prstGeom prst="rect">
            <a:avLst/>
          </a:prstGeom>
        </p:spPr>
        <p:txBody>
          <a:bodyPr anchor="t" rtlCol="false" tIns="0" lIns="0" bIns="0" rIns="0">
            <a:spAutoFit/>
          </a:bodyPr>
          <a:lstStyle/>
          <a:p>
            <a:pPr algn="l">
              <a:lnSpc>
                <a:spcPts val="4265"/>
              </a:lnSpc>
            </a:pPr>
            <a:r>
              <a:rPr lang="en-US" sz="4140">
                <a:solidFill>
                  <a:srgbClr val="F2F0E3"/>
                </a:solidFill>
                <a:latin typeface="Archivo Black"/>
                <a:ea typeface="Archivo Black"/>
                <a:cs typeface="Archivo Black"/>
                <a:sym typeface="Archivo Black"/>
              </a:rPr>
              <a:t>ANTRENAREA</a:t>
            </a:r>
          </a:p>
        </p:txBody>
      </p:sp>
      <p:sp>
        <p:nvSpPr>
          <p:cNvPr name="TextBox 25" id="25"/>
          <p:cNvSpPr txBox="true"/>
          <p:nvPr/>
        </p:nvSpPr>
        <p:spPr>
          <a:xfrm rot="0">
            <a:off x="7578326" y="3997254"/>
            <a:ext cx="4217033" cy="1341881"/>
          </a:xfrm>
          <a:prstGeom prst="rect">
            <a:avLst/>
          </a:prstGeom>
        </p:spPr>
        <p:txBody>
          <a:bodyPr anchor="t" rtlCol="false" tIns="0" lIns="0" bIns="0" rIns="0">
            <a:spAutoFit/>
          </a:bodyPr>
          <a:lstStyle/>
          <a:p>
            <a:pPr algn="l">
              <a:lnSpc>
                <a:spcPts val="3654"/>
              </a:lnSpc>
            </a:pPr>
            <a:r>
              <a:rPr lang="en-US" sz="2100" spc="52">
                <a:solidFill>
                  <a:srgbClr val="F2F0E3"/>
                </a:solidFill>
                <a:latin typeface="TT Hoves"/>
                <a:ea typeface="TT Hoves"/>
                <a:cs typeface="TT Hoves"/>
                <a:sym typeface="TT Hoves"/>
              </a:rPr>
              <a:t>Se ruleaza 20 de epoci cu parametrii setati, pe un batch de 32 imagini.</a:t>
            </a:r>
          </a:p>
        </p:txBody>
      </p:sp>
      <p:sp>
        <p:nvSpPr>
          <p:cNvPr name="AutoShape 26" id="26"/>
          <p:cNvSpPr/>
          <p:nvPr/>
        </p:nvSpPr>
        <p:spPr>
          <a:xfrm>
            <a:off x="7292576" y="3327625"/>
            <a:ext cx="1734797" cy="0"/>
          </a:xfrm>
          <a:prstGeom prst="line">
            <a:avLst/>
          </a:prstGeom>
          <a:ln cap="flat" w="19050">
            <a:solidFill>
              <a:srgbClr val="F2F0E3"/>
            </a:solidFill>
            <a:prstDash val="solid"/>
            <a:headEnd type="none" len="sm" w="sm"/>
            <a:tailEnd type="none" len="sm" w="sm"/>
          </a:ln>
        </p:spPr>
      </p:sp>
      <p:sp>
        <p:nvSpPr>
          <p:cNvPr name="AutoShape 27" id="27"/>
          <p:cNvSpPr/>
          <p:nvPr/>
        </p:nvSpPr>
        <p:spPr>
          <a:xfrm>
            <a:off x="1991721" y="3740079"/>
            <a:ext cx="1734797" cy="0"/>
          </a:xfrm>
          <a:prstGeom prst="line">
            <a:avLst/>
          </a:prstGeom>
          <a:ln cap="flat" w="19050">
            <a:solidFill>
              <a:srgbClr val="4C5526"/>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grpSp>
        <p:nvGrpSpPr>
          <p:cNvPr name="Group 2" id="2"/>
          <p:cNvGrpSpPr/>
          <p:nvPr/>
        </p:nvGrpSpPr>
        <p:grpSpPr>
          <a:xfrm rot="0">
            <a:off x="663174" y="613170"/>
            <a:ext cx="6222763" cy="9074947"/>
            <a:chOff x="0" y="0"/>
            <a:chExt cx="1638917" cy="2390109"/>
          </a:xfrm>
        </p:grpSpPr>
        <p:sp>
          <p:nvSpPr>
            <p:cNvPr name="Freeform 3" id="3"/>
            <p:cNvSpPr/>
            <p:nvPr/>
          </p:nvSpPr>
          <p:spPr>
            <a:xfrm flipH="false" flipV="false" rot="0">
              <a:off x="0" y="0"/>
              <a:ext cx="1638917" cy="2390109"/>
            </a:xfrm>
            <a:custGeom>
              <a:avLst/>
              <a:gdLst/>
              <a:ahLst/>
              <a:cxnLst/>
              <a:rect r="r" b="b" t="t" l="l"/>
              <a:pathLst>
                <a:path h="2390109" w="1638917">
                  <a:moveTo>
                    <a:pt x="0" y="0"/>
                  </a:moveTo>
                  <a:lnTo>
                    <a:pt x="1638917" y="0"/>
                  </a:lnTo>
                  <a:lnTo>
                    <a:pt x="1638917" y="2390109"/>
                  </a:lnTo>
                  <a:lnTo>
                    <a:pt x="0" y="2390109"/>
                  </a:lnTo>
                  <a:close/>
                </a:path>
              </a:pathLst>
            </a:custGeom>
            <a:solidFill>
              <a:srgbClr val="4C5526"/>
            </a:solidFill>
          </p:spPr>
        </p:sp>
        <p:sp>
          <p:nvSpPr>
            <p:cNvPr name="TextBox 4" id="4"/>
            <p:cNvSpPr txBox="true"/>
            <p:nvPr/>
          </p:nvSpPr>
          <p:spPr>
            <a:xfrm>
              <a:off x="0" y="47625"/>
              <a:ext cx="1638917" cy="2342484"/>
            </a:xfrm>
            <a:prstGeom prst="rect">
              <a:avLst/>
            </a:prstGeom>
          </p:spPr>
          <p:txBody>
            <a:bodyPr anchor="ctr" rtlCol="false" tIns="50800" lIns="50800" bIns="50800" rIns="50800"/>
            <a:lstStyle/>
            <a:p>
              <a:pPr algn="ctr">
                <a:lnSpc>
                  <a:spcPts val="2664"/>
                </a:lnSpc>
              </a:pPr>
            </a:p>
          </p:txBody>
        </p:sp>
      </p:grpSp>
      <p:sp>
        <p:nvSpPr>
          <p:cNvPr name="AutoShape 5" id="5"/>
          <p:cNvSpPr/>
          <p:nvPr/>
        </p:nvSpPr>
        <p:spPr>
          <a:xfrm flipV="true">
            <a:off x="0" y="613170"/>
            <a:ext cx="18288000" cy="0"/>
          </a:xfrm>
          <a:prstGeom prst="line">
            <a:avLst/>
          </a:prstGeom>
          <a:ln cap="rnd" w="19050">
            <a:solidFill>
              <a:srgbClr val="000000"/>
            </a:solidFill>
            <a:prstDash val="solid"/>
            <a:headEnd type="none" len="sm" w="sm"/>
            <a:tailEnd type="none" len="sm" w="sm"/>
          </a:ln>
        </p:spPr>
      </p:sp>
      <p:sp>
        <p:nvSpPr>
          <p:cNvPr name="AutoShape 6" id="6"/>
          <p:cNvSpPr/>
          <p:nvPr/>
        </p:nvSpPr>
        <p:spPr>
          <a:xfrm>
            <a:off x="0" y="9688117"/>
            <a:ext cx="18288000" cy="0"/>
          </a:xfrm>
          <a:prstGeom prst="line">
            <a:avLst/>
          </a:prstGeom>
          <a:ln cap="rnd" w="19050">
            <a:solidFill>
              <a:srgbClr val="000000"/>
            </a:solidFill>
            <a:prstDash val="solid"/>
            <a:headEnd type="none" len="sm" w="sm"/>
            <a:tailEnd type="none" len="sm" w="sm"/>
          </a:ln>
        </p:spPr>
      </p:sp>
      <p:sp>
        <p:nvSpPr>
          <p:cNvPr name="AutoShape 7" id="7"/>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8" id="8"/>
          <p:cNvSpPr/>
          <p:nvPr/>
        </p:nvSpPr>
        <p:spPr>
          <a:xfrm>
            <a:off x="634599" y="780328"/>
            <a:ext cx="0" cy="9074947"/>
          </a:xfrm>
          <a:prstGeom prst="line">
            <a:avLst/>
          </a:prstGeom>
          <a:ln cap="rnd" w="19050">
            <a:solidFill>
              <a:srgbClr val="000000"/>
            </a:solidFill>
            <a:prstDash val="solid"/>
            <a:headEnd type="none" len="sm" w="sm"/>
            <a:tailEnd type="none" len="sm" w="sm"/>
          </a:ln>
        </p:spPr>
      </p:sp>
      <p:sp>
        <p:nvSpPr>
          <p:cNvPr name="AutoShape 9" id="9"/>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AutoShape 10" id="10"/>
          <p:cNvSpPr/>
          <p:nvPr/>
        </p:nvSpPr>
        <p:spPr>
          <a:xfrm>
            <a:off x="6876412" y="596642"/>
            <a:ext cx="0" cy="9074947"/>
          </a:xfrm>
          <a:prstGeom prst="line">
            <a:avLst/>
          </a:prstGeom>
          <a:ln cap="rnd" w="19050">
            <a:solidFill>
              <a:srgbClr val="000000"/>
            </a:solidFill>
            <a:prstDash val="solid"/>
            <a:headEnd type="none" len="sm" w="sm"/>
            <a:tailEnd type="none" len="sm" w="sm"/>
          </a:ln>
        </p:spPr>
      </p:sp>
      <p:sp>
        <p:nvSpPr>
          <p:cNvPr name="Freeform 11" id="11"/>
          <p:cNvSpPr/>
          <p:nvPr/>
        </p:nvSpPr>
        <p:spPr>
          <a:xfrm flipH="false" flipV="false" rot="0">
            <a:off x="12186701" y="596642"/>
            <a:ext cx="5516703" cy="4721159"/>
          </a:xfrm>
          <a:custGeom>
            <a:avLst/>
            <a:gdLst/>
            <a:ahLst/>
            <a:cxnLst/>
            <a:rect r="r" b="b" t="t" l="l"/>
            <a:pathLst>
              <a:path h="4721159" w="5516703">
                <a:moveTo>
                  <a:pt x="0" y="0"/>
                </a:moveTo>
                <a:lnTo>
                  <a:pt x="5516704" y="0"/>
                </a:lnTo>
                <a:lnTo>
                  <a:pt x="5516704" y="4721159"/>
                </a:lnTo>
                <a:lnTo>
                  <a:pt x="0" y="4721159"/>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11326" r="0" b="0"/>
            </a:stretch>
          </a:blipFill>
        </p:spPr>
      </p:sp>
      <p:sp>
        <p:nvSpPr>
          <p:cNvPr name="Freeform 12" id="12"/>
          <p:cNvSpPr/>
          <p:nvPr/>
        </p:nvSpPr>
        <p:spPr>
          <a:xfrm flipH="false" flipV="false" rot="0">
            <a:off x="1028700" y="2148479"/>
            <a:ext cx="5320099" cy="4910861"/>
          </a:xfrm>
          <a:custGeom>
            <a:avLst/>
            <a:gdLst/>
            <a:ahLst/>
            <a:cxnLst/>
            <a:rect r="r" b="b" t="t" l="l"/>
            <a:pathLst>
              <a:path h="4910861" w="5320099">
                <a:moveTo>
                  <a:pt x="0" y="0"/>
                </a:moveTo>
                <a:lnTo>
                  <a:pt x="5320099" y="0"/>
                </a:lnTo>
                <a:lnTo>
                  <a:pt x="5320099" y="4910860"/>
                </a:lnTo>
                <a:lnTo>
                  <a:pt x="0" y="4910860"/>
                </a:lnTo>
                <a:lnTo>
                  <a:pt x="0" y="0"/>
                </a:lnTo>
                <a:close/>
              </a:path>
            </a:pathLst>
          </a:custGeom>
          <a:blipFill>
            <a:blip r:embed="rId4"/>
            <a:stretch>
              <a:fillRect l="0" t="0" r="0" b="0"/>
            </a:stretch>
          </a:blipFill>
        </p:spPr>
      </p:sp>
      <p:sp>
        <p:nvSpPr>
          <p:cNvPr name="Freeform 13" id="13"/>
          <p:cNvSpPr/>
          <p:nvPr/>
        </p:nvSpPr>
        <p:spPr>
          <a:xfrm flipH="false" flipV="false" rot="0">
            <a:off x="11162921" y="2102803"/>
            <a:ext cx="6263205" cy="2970468"/>
          </a:xfrm>
          <a:custGeom>
            <a:avLst/>
            <a:gdLst/>
            <a:ahLst/>
            <a:cxnLst/>
            <a:rect r="r" b="b" t="t" l="l"/>
            <a:pathLst>
              <a:path h="2970468" w="6263205">
                <a:moveTo>
                  <a:pt x="0" y="0"/>
                </a:moveTo>
                <a:lnTo>
                  <a:pt x="6263205" y="0"/>
                </a:lnTo>
                <a:lnTo>
                  <a:pt x="6263205" y="2970469"/>
                </a:lnTo>
                <a:lnTo>
                  <a:pt x="0" y="2970469"/>
                </a:lnTo>
                <a:lnTo>
                  <a:pt x="0" y="0"/>
                </a:lnTo>
                <a:close/>
              </a:path>
            </a:pathLst>
          </a:custGeom>
          <a:blipFill>
            <a:blip r:embed="rId5"/>
            <a:stretch>
              <a:fillRect l="0" t="0" r="0" b="0"/>
            </a:stretch>
          </a:blipFill>
        </p:spPr>
      </p:sp>
      <p:sp>
        <p:nvSpPr>
          <p:cNvPr name="Freeform 14" id="14"/>
          <p:cNvSpPr/>
          <p:nvPr/>
        </p:nvSpPr>
        <p:spPr>
          <a:xfrm flipH="false" flipV="false" rot="0">
            <a:off x="9959627" y="5696904"/>
            <a:ext cx="7466498" cy="3602585"/>
          </a:xfrm>
          <a:custGeom>
            <a:avLst/>
            <a:gdLst/>
            <a:ahLst/>
            <a:cxnLst/>
            <a:rect r="r" b="b" t="t" l="l"/>
            <a:pathLst>
              <a:path h="3602585" w="7466498">
                <a:moveTo>
                  <a:pt x="0" y="0"/>
                </a:moveTo>
                <a:lnTo>
                  <a:pt x="7466499" y="0"/>
                </a:lnTo>
                <a:lnTo>
                  <a:pt x="7466499" y="3602585"/>
                </a:lnTo>
                <a:lnTo>
                  <a:pt x="0" y="3602585"/>
                </a:lnTo>
                <a:lnTo>
                  <a:pt x="0" y="0"/>
                </a:lnTo>
                <a:close/>
              </a:path>
            </a:pathLst>
          </a:custGeom>
          <a:blipFill>
            <a:blip r:embed="rId6"/>
            <a:stretch>
              <a:fillRect l="0" t="0" r="0" b="0"/>
            </a:stretch>
          </a:blipFill>
        </p:spPr>
      </p:sp>
      <p:sp>
        <p:nvSpPr>
          <p:cNvPr name="TextBox 15" id="15"/>
          <p:cNvSpPr txBox="true"/>
          <p:nvPr/>
        </p:nvSpPr>
        <p:spPr>
          <a:xfrm rot="0">
            <a:off x="8525249" y="983552"/>
            <a:ext cx="8020305" cy="862076"/>
          </a:xfrm>
          <a:prstGeom prst="rect">
            <a:avLst/>
          </a:prstGeom>
        </p:spPr>
        <p:txBody>
          <a:bodyPr anchor="t" rtlCol="false" tIns="0" lIns="0" bIns="0" rIns="0">
            <a:spAutoFit/>
          </a:bodyPr>
          <a:lstStyle/>
          <a:p>
            <a:pPr algn="l" marL="0" indent="0" lvl="0">
              <a:lnSpc>
                <a:spcPts val="6591"/>
              </a:lnSpc>
              <a:spcBef>
                <a:spcPct val="0"/>
              </a:spcBef>
            </a:pPr>
            <a:r>
              <a:rPr lang="en-US" sz="6399">
                <a:solidFill>
                  <a:srgbClr val="1A160F"/>
                </a:solidFill>
                <a:latin typeface="Archivo Black"/>
                <a:ea typeface="Archivo Black"/>
                <a:cs typeface="Archivo Black"/>
                <a:sym typeface="Archivo Black"/>
              </a:rPr>
              <a:t>REZULTATE</a:t>
            </a:r>
          </a:p>
        </p:txBody>
      </p:sp>
      <p:sp>
        <p:nvSpPr>
          <p:cNvPr name="TextBox 16" id="16"/>
          <p:cNvSpPr txBox="true"/>
          <p:nvPr/>
        </p:nvSpPr>
        <p:spPr>
          <a:xfrm rot="0">
            <a:off x="7152769" y="3018429"/>
            <a:ext cx="4010153" cy="2713481"/>
          </a:xfrm>
          <a:prstGeom prst="rect">
            <a:avLst/>
          </a:prstGeom>
        </p:spPr>
        <p:txBody>
          <a:bodyPr anchor="t" rtlCol="false" tIns="0" lIns="0" bIns="0" rIns="0">
            <a:spAutoFit/>
          </a:bodyPr>
          <a:lstStyle/>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Train loss: 0.6786 </a:t>
            </a:r>
          </a:p>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Train ac</a:t>
            </a:r>
            <a:r>
              <a:rPr lang="en-US" sz="2100" spc="52">
                <a:solidFill>
                  <a:srgbClr val="1A160F"/>
                </a:solidFill>
                <a:latin typeface="TT Hoves"/>
                <a:ea typeface="TT Hoves"/>
                <a:cs typeface="TT Hoves"/>
                <a:sym typeface="TT Hoves"/>
              </a:rPr>
              <a:t>curacy: 89.91%</a:t>
            </a:r>
          </a:p>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Validation loss: 0.7193</a:t>
            </a:r>
          </a:p>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Validation accuracy: 91.30%</a:t>
            </a:r>
          </a:p>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Accuracy: 75%</a:t>
            </a:r>
          </a:p>
          <a:p>
            <a:pPr algn="just">
              <a:lnSpc>
                <a:spcPts val="3654"/>
              </a:lnSpc>
            </a:pPr>
          </a:p>
        </p:txBody>
      </p:sp>
      <p:sp>
        <p:nvSpPr>
          <p:cNvPr name="TextBox 17" id="17"/>
          <p:cNvSpPr txBox="true"/>
          <p:nvPr/>
        </p:nvSpPr>
        <p:spPr>
          <a:xfrm rot="0">
            <a:off x="2076596" y="7245466"/>
            <a:ext cx="5874632" cy="448310"/>
          </a:xfrm>
          <a:prstGeom prst="rect">
            <a:avLst/>
          </a:prstGeom>
        </p:spPr>
        <p:txBody>
          <a:bodyPr anchor="t" rtlCol="false" tIns="0" lIns="0" bIns="0" rIns="0">
            <a:spAutoFit/>
          </a:bodyPr>
          <a:lstStyle/>
          <a:p>
            <a:pPr algn="l">
              <a:lnSpc>
                <a:spcPts val="3639"/>
              </a:lnSpc>
              <a:spcBef>
                <a:spcPct val="0"/>
              </a:spcBef>
            </a:pPr>
            <a:r>
              <a:rPr lang="en-US" sz="2599" i="true">
                <a:solidFill>
                  <a:srgbClr val="F2F0E3"/>
                </a:solidFill>
                <a:latin typeface="TT Hoves Italics"/>
                <a:ea typeface="TT Hoves Italics"/>
                <a:cs typeface="TT Hoves Italics"/>
                <a:sym typeface="TT Hoves Italics"/>
              </a:rPr>
              <a:t>Matricea de confuzie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sp>
        <p:nvSpPr>
          <p:cNvPr name="AutoShape 2" id="2"/>
          <p:cNvSpPr/>
          <p:nvPr/>
        </p:nvSpPr>
        <p:spPr>
          <a:xfrm flipV="true">
            <a:off x="0" y="613170"/>
            <a:ext cx="18288000" cy="0"/>
          </a:xfrm>
          <a:prstGeom prst="line">
            <a:avLst/>
          </a:prstGeom>
          <a:ln cap="rnd" w="19050">
            <a:solidFill>
              <a:srgbClr val="000000"/>
            </a:solidFill>
            <a:prstDash val="solid"/>
            <a:headEnd type="none" len="sm" w="sm"/>
            <a:tailEnd type="none" len="sm" w="sm"/>
          </a:ln>
        </p:spPr>
      </p:sp>
      <p:sp>
        <p:nvSpPr>
          <p:cNvPr name="AutoShape 3" id="3"/>
          <p:cNvSpPr/>
          <p:nvPr/>
        </p:nvSpPr>
        <p:spPr>
          <a:xfrm>
            <a:off x="0" y="9688117"/>
            <a:ext cx="18288000" cy="0"/>
          </a:xfrm>
          <a:prstGeom prst="line">
            <a:avLst/>
          </a:prstGeom>
          <a:ln cap="rnd" w="19050">
            <a:solidFill>
              <a:srgbClr val="000000"/>
            </a:solidFill>
            <a:prstDash val="solid"/>
            <a:headEnd type="none" len="sm" w="sm"/>
            <a:tailEnd type="none" len="sm" w="sm"/>
          </a:ln>
        </p:spPr>
      </p:sp>
      <p:sp>
        <p:nvSpPr>
          <p:cNvPr name="AutoShape 4" id="4"/>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5" id="5"/>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AutoShape 6" id="6"/>
          <p:cNvSpPr/>
          <p:nvPr/>
        </p:nvSpPr>
        <p:spPr>
          <a:xfrm>
            <a:off x="598883" y="2419344"/>
            <a:ext cx="17104522" cy="0"/>
          </a:xfrm>
          <a:prstGeom prst="line">
            <a:avLst/>
          </a:prstGeom>
          <a:ln cap="rnd" w="19050">
            <a:solidFill>
              <a:srgbClr val="000000"/>
            </a:solidFill>
            <a:prstDash val="solid"/>
            <a:headEnd type="none" len="sm" w="sm"/>
            <a:tailEnd type="none" len="sm" w="sm"/>
          </a:ln>
        </p:spPr>
      </p:sp>
      <p:grpSp>
        <p:nvGrpSpPr>
          <p:cNvPr name="Group 7" id="7"/>
          <p:cNvGrpSpPr/>
          <p:nvPr/>
        </p:nvGrpSpPr>
        <p:grpSpPr>
          <a:xfrm rot="0">
            <a:off x="15898306" y="613170"/>
            <a:ext cx="1805099" cy="1806174"/>
            <a:chOff x="0" y="0"/>
            <a:chExt cx="475417" cy="475700"/>
          </a:xfrm>
        </p:grpSpPr>
        <p:sp>
          <p:nvSpPr>
            <p:cNvPr name="Freeform 8" id="8"/>
            <p:cNvSpPr/>
            <p:nvPr/>
          </p:nvSpPr>
          <p:spPr>
            <a:xfrm flipH="false" flipV="false" rot="0">
              <a:off x="0" y="0"/>
              <a:ext cx="475417" cy="475700"/>
            </a:xfrm>
            <a:custGeom>
              <a:avLst/>
              <a:gdLst/>
              <a:ahLst/>
              <a:cxnLst/>
              <a:rect r="r" b="b" t="t" l="l"/>
              <a:pathLst>
                <a:path h="475700" w="475417">
                  <a:moveTo>
                    <a:pt x="0" y="0"/>
                  </a:moveTo>
                  <a:lnTo>
                    <a:pt x="475417" y="0"/>
                  </a:lnTo>
                  <a:lnTo>
                    <a:pt x="475417" y="475700"/>
                  </a:lnTo>
                  <a:lnTo>
                    <a:pt x="0" y="475700"/>
                  </a:lnTo>
                  <a:close/>
                </a:path>
              </a:pathLst>
            </a:custGeom>
            <a:solidFill>
              <a:srgbClr val="4C5526"/>
            </a:solidFill>
            <a:ln cap="sq">
              <a:noFill/>
              <a:prstDash val="solid"/>
              <a:miter/>
            </a:ln>
          </p:spPr>
        </p:sp>
        <p:sp>
          <p:nvSpPr>
            <p:cNvPr name="TextBox 9" id="9"/>
            <p:cNvSpPr txBox="true"/>
            <p:nvPr/>
          </p:nvSpPr>
          <p:spPr>
            <a:xfrm>
              <a:off x="0" y="-28575"/>
              <a:ext cx="475417" cy="504275"/>
            </a:xfrm>
            <a:prstGeom prst="rect">
              <a:avLst/>
            </a:prstGeom>
          </p:spPr>
          <p:txBody>
            <a:bodyPr anchor="ctr" rtlCol="false" tIns="50800" lIns="50800" bIns="50800" rIns="50800"/>
            <a:lstStyle/>
            <a:p>
              <a:pPr algn="ctr">
                <a:lnSpc>
                  <a:spcPts val="2659"/>
                </a:lnSpc>
              </a:pPr>
            </a:p>
          </p:txBody>
        </p:sp>
      </p:grpSp>
      <p:sp>
        <p:nvSpPr>
          <p:cNvPr name="AutoShape 10" id="10"/>
          <p:cNvSpPr/>
          <p:nvPr/>
        </p:nvSpPr>
        <p:spPr>
          <a:xfrm>
            <a:off x="15907831" y="613170"/>
            <a:ext cx="0" cy="1806174"/>
          </a:xfrm>
          <a:prstGeom prst="line">
            <a:avLst/>
          </a:prstGeom>
          <a:ln cap="rnd" w="19050">
            <a:solidFill>
              <a:srgbClr val="000000"/>
            </a:solidFill>
            <a:prstDash val="solid"/>
            <a:headEnd type="none" len="sm" w="sm"/>
            <a:tailEnd type="none" len="sm" w="sm"/>
          </a:ln>
        </p:spPr>
      </p:sp>
      <p:sp>
        <p:nvSpPr>
          <p:cNvPr name="Freeform 11" id="11"/>
          <p:cNvSpPr/>
          <p:nvPr/>
        </p:nvSpPr>
        <p:spPr>
          <a:xfrm flipH="false" flipV="false" rot="8100000">
            <a:off x="16196047" y="1121760"/>
            <a:ext cx="1157193" cy="788995"/>
          </a:xfrm>
          <a:custGeom>
            <a:avLst/>
            <a:gdLst/>
            <a:ahLst/>
            <a:cxnLst/>
            <a:rect r="r" b="b" t="t" l="l"/>
            <a:pathLst>
              <a:path h="788995" w="1157193">
                <a:moveTo>
                  <a:pt x="0" y="0"/>
                </a:moveTo>
                <a:lnTo>
                  <a:pt x="1157193" y="0"/>
                </a:lnTo>
                <a:lnTo>
                  <a:pt x="1157193" y="788995"/>
                </a:lnTo>
                <a:lnTo>
                  <a:pt x="0" y="7889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1296724" y="3506725"/>
            <a:ext cx="5735637" cy="3477230"/>
          </a:xfrm>
          <a:custGeom>
            <a:avLst/>
            <a:gdLst/>
            <a:ahLst/>
            <a:cxnLst/>
            <a:rect r="r" b="b" t="t" l="l"/>
            <a:pathLst>
              <a:path h="3477230" w="5735637">
                <a:moveTo>
                  <a:pt x="0" y="0"/>
                </a:moveTo>
                <a:lnTo>
                  <a:pt x="5735638" y="0"/>
                </a:lnTo>
                <a:lnTo>
                  <a:pt x="5735638" y="3477230"/>
                </a:lnTo>
                <a:lnTo>
                  <a:pt x="0" y="3477230"/>
                </a:lnTo>
                <a:lnTo>
                  <a:pt x="0" y="0"/>
                </a:lnTo>
                <a:close/>
              </a:path>
            </a:pathLst>
          </a:custGeom>
          <a:blipFill>
            <a:blip r:embed="rId4"/>
            <a:stretch>
              <a:fillRect l="0" t="0" r="0" b="0"/>
            </a:stretch>
          </a:blipFill>
        </p:spPr>
      </p:sp>
      <p:sp>
        <p:nvSpPr>
          <p:cNvPr name="TextBox 13" id="13"/>
          <p:cNvSpPr txBox="true"/>
          <p:nvPr/>
        </p:nvSpPr>
        <p:spPr>
          <a:xfrm rot="0">
            <a:off x="927794" y="1137607"/>
            <a:ext cx="12530801" cy="862076"/>
          </a:xfrm>
          <a:prstGeom prst="rect">
            <a:avLst/>
          </a:prstGeom>
        </p:spPr>
        <p:txBody>
          <a:bodyPr anchor="t" rtlCol="false" tIns="0" lIns="0" bIns="0" rIns="0">
            <a:spAutoFit/>
          </a:bodyPr>
          <a:lstStyle/>
          <a:p>
            <a:pPr algn="l" marL="0" indent="0" lvl="0">
              <a:lnSpc>
                <a:spcPts val="6591"/>
              </a:lnSpc>
              <a:spcBef>
                <a:spcPct val="0"/>
              </a:spcBef>
            </a:pPr>
            <a:r>
              <a:rPr lang="en-US" sz="6399">
                <a:solidFill>
                  <a:srgbClr val="1A160F"/>
                </a:solidFill>
                <a:latin typeface="Archivo Black"/>
                <a:ea typeface="Archivo Black"/>
                <a:cs typeface="Archivo Black"/>
                <a:sym typeface="Archivo Black"/>
              </a:rPr>
              <a:t>ARHITECTURA DENSENET</a:t>
            </a:r>
          </a:p>
        </p:txBody>
      </p:sp>
      <p:sp>
        <p:nvSpPr>
          <p:cNvPr name="TextBox 14" id="14"/>
          <p:cNvSpPr txBox="true"/>
          <p:nvPr/>
        </p:nvSpPr>
        <p:spPr>
          <a:xfrm rot="0">
            <a:off x="1028700" y="2724144"/>
            <a:ext cx="9356994" cy="2713481"/>
          </a:xfrm>
          <a:prstGeom prst="rect">
            <a:avLst/>
          </a:prstGeom>
        </p:spPr>
        <p:txBody>
          <a:bodyPr anchor="t" rtlCol="false" tIns="0" lIns="0" bIns="0" rIns="0">
            <a:spAutoFit/>
          </a:bodyPr>
          <a:lstStyle/>
          <a:p>
            <a:pPr algn="just">
              <a:lnSpc>
                <a:spcPts val="3654"/>
              </a:lnSpc>
            </a:pPr>
            <a:r>
              <a:rPr lang="en-US" sz="2100" spc="52">
                <a:solidFill>
                  <a:srgbClr val="1A160F"/>
                </a:solidFill>
                <a:latin typeface="TT Hoves"/>
                <a:ea typeface="TT Hoves"/>
                <a:cs typeface="TT Hoves"/>
                <a:sym typeface="TT Hoves"/>
              </a:rPr>
              <a:t>DenseNet reprezintă o arhitectură de deep learning concepută pentru a îmbunătăți fluxul de informație și reutilizarea caracteristicilor în rețele neuronale foarte adânci. Spre deosebire de alte arhitecturi convoluționale, DenseNet introduce conexiuni dense între straturi, în care fiecare strat primește ca intrare concatenarea tuturor ieșirilor provenite din straturile precedente.</a:t>
            </a:r>
          </a:p>
        </p:txBody>
      </p:sp>
      <p:sp>
        <p:nvSpPr>
          <p:cNvPr name="TextBox 15" id="15"/>
          <p:cNvSpPr txBox="true"/>
          <p:nvPr/>
        </p:nvSpPr>
        <p:spPr>
          <a:xfrm rot="0">
            <a:off x="927794" y="5732900"/>
            <a:ext cx="9388842" cy="3627881"/>
          </a:xfrm>
          <a:prstGeom prst="rect">
            <a:avLst/>
          </a:prstGeom>
        </p:spPr>
        <p:txBody>
          <a:bodyPr anchor="t" rtlCol="false" tIns="0" lIns="0" bIns="0" rIns="0">
            <a:spAutoFit/>
          </a:bodyPr>
          <a:lstStyle/>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Îmbunătățește propagarea gradientului în rețele foarte adânci, reducând problema dispariției acestuia.</a:t>
            </a:r>
          </a:p>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Încurajează reutilizarea caracteristicilor deja învățate, deoarece fiecare strat are acces direct la toate caracteristicile anterioare.</a:t>
            </a:r>
          </a:p>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Reduce numărul de parametri necesari, comparativ cu arhitecturi clasice de profunzime similară, datorită reutilizării eficiente a informației.</a:t>
            </a:r>
          </a:p>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Conduce la o învățare mai stabilă și mai eficientă</a:t>
            </a:r>
          </a:p>
          <a:p>
            <a:pPr algn="just">
              <a:lnSpc>
                <a:spcPts val="3654"/>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sp>
        <p:nvSpPr>
          <p:cNvPr name="AutoShape 2" id="2"/>
          <p:cNvSpPr/>
          <p:nvPr/>
        </p:nvSpPr>
        <p:spPr>
          <a:xfrm flipV="true">
            <a:off x="0" y="613170"/>
            <a:ext cx="18288000" cy="0"/>
          </a:xfrm>
          <a:prstGeom prst="line">
            <a:avLst/>
          </a:prstGeom>
          <a:ln cap="rnd" w="19050">
            <a:solidFill>
              <a:srgbClr val="000000"/>
            </a:solidFill>
            <a:prstDash val="solid"/>
            <a:headEnd type="none" len="sm" w="sm"/>
            <a:tailEnd type="none" len="sm" w="sm"/>
          </a:ln>
        </p:spPr>
      </p:sp>
      <p:grpSp>
        <p:nvGrpSpPr>
          <p:cNvPr name="Group 3" id="3"/>
          <p:cNvGrpSpPr/>
          <p:nvPr/>
        </p:nvGrpSpPr>
        <p:grpSpPr>
          <a:xfrm rot="0">
            <a:off x="7092551" y="2419344"/>
            <a:ext cx="5305427" cy="7268773"/>
            <a:chOff x="0" y="0"/>
            <a:chExt cx="1397314" cy="1914409"/>
          </a:xfrm>
        </p:grpSpPr>
        <p:sp>
          <p:nvSpPr>
            <p:cNvPr name="Freeform 4" id="4"/>
            <p:cNvSpPr/>
            <p:nvPr/>
          </p:nvSpPr>
          <p:spPr>
            <a:xfrm flipH="false" flipV="false" rot="0">
              <a:off x="0" y="0"/>
              <a:ext cx="1397314" cy="1914409"/>
            </a:xfrm>
            <a:custGeom>
              <a:avLst/>
              <a:gdLst/>
              <a:ahLst/>
              <a:cxnLst/>
              <a:rect r="r" b="b" t="t" l="l"/>
              <a:pathLst>
                <a:path h="1914409" w="1397314">
                  <a:moveTo>
                    <a:pt x="0" y="0"/>
                  </a:moveTo>
                  <a:lnTo>
                    <a:pt x="1397314" y="0"/>
                  </a:lnTo>
                  <a:lnTo>
                    <a:pt x="1397314" y="1914409"/>
                  </a:lnTo>
                  <a:lnTo>
                    <a:pt x="0" y="1914409"/>
                  </a:lnTo>
                  <a:close/>
                </a:path>
              </a:pathLst>
            </a:custGeom>
            <a:solidFill>
              <a:srgbClr val="4C5526"/>
            </a:solidFill>
          </p:spPr>
        </p:sp>
        <p:sp>
          <p:nvSpPr>
            <p:cNvPr name="TextBox 5" id="5"/>
            <p:cNvSpPr txBox="true"/>
            <p:nvPr/>
          </p:nvSpPr>
          <p:spPr>
            <a:xfrm>
              <a:off x="0" y="47625"/>
              <a:ext cx="1397314" cy="1866784"/>
            </a:xfrm>
            <a:prstGeom prst="rect">
              <a:avLst/>
            </a:prstGeom>
          </p:spPr>
          <p:txBody>
            <a:bodyPr anchor="ctr" rtlCol="false" tIns="50800" lIns="50800" bIns="50800" rIns="50800"/>
            <a:lstStyle/>
            <a:p>
              <a:pPr algn="ctr">
                <a:lnSpc>
                  <a:spcPts val="2664"/>
                </a:lnSpc>
              </a:pPr>
            </a:p>
          </p:txBody>
        </p:sp>
      </p:grpSp>
      <p:sp>
        <p:nvSpPr>
          <p:cNvPr name="AutoShape 6" id="6"/>
          <p:cNvSpPr/>
          <p:nvPr/>
        </p:nvSpPr>
        <p:spPr>
          <a:xfrm>
            <a:off x="598883" y="2419344"/>
            <a:ext cx="17104522" cy="0"/>
          </a:xfrm>
          <a:prstGeom prst="line">
            <a:avLst/>
          </a:prstGeom>
          <a:ln cap="rnd" w="19050">
            <a:solidFill>
              <a:srgbClr val="000000"/>
            </a:solidFill>
            <a:prstDash val="solid"/>
            <a:headEnd type="none" len="sm" w="sm"/>
            <a:tailEnd type="none" len="sm" w="sm"/>
          </a:ln>
        </p:spPr>
      </p:sp>
      <p:sp>
        <p:nvSpPr>
          <p:cNvPr name="AutoShape 7" id="7"/>
          <p:cNvSpPr/>
          <p:nvPr/>
        </p:nvSpPr>
        <p:spPr>
          <a:xfrm>
            <a:off x="7092551" y="2419344"/>
            <a:ext cx="0" cy="7268773"/>
          </a:xfrm>
          <a:prstGeom prst="line">
            <a:avLst/>
          </a:prstGeom>
          <a:ln cap="rnd" w="19050">
            <a:solidFill>
              <a:srgbClr val="000000"/>
            </a:solidFill>
            <a:prstDash val="solid"/>
            <a:headEnd type="none" len="sm" w="sm"/>
            <a:tailEnd type="none" len="sm" w="sm"/>
          </a:ln>
        </p:spPr>
      </p:sp>
      <p:sp>
        <p:nvSpPr>
          <p:cNvPr name="AutoShape 8" id="8"/>
          <p:cNvSpPr/>
          <p:nvPr/>
        </p:nvSpPr>
        <p:spPr>
          <a:xfrm>
            <a:off x="12397978" y="2419344"/>
            <a:ext cx="0" cy="7268773"/>
          </a:xfrm>
          <a:prstGeom prst="line">
            <a:avLst/>
          </a:prstGeom>
          <a:ln cap="rnd" w="19050">
            <a:solidFill>
              <a:srgbClr val="000000"/>
            </a:solidFill>
            <a:prstDash val="solid"/>
            <a:headEnd type="none" len="sm" w="sm"/>
            <a:tailEnd type="none" len="sm" w="sm"/>
          </a:ln>
        </p:spPr>
      </p:sp>
      <p:sp>
        <p:nvSpPr>
          <p:cNvPr name="AutoShape 9" id="9"/>
          <p:cNvSpPr/>
          <p:nvPr/>
        </p:nvSpPr>
        <p:spPr>
          <a:xfrm>
            <a:off x="0" y="9688117"/>
            <a:ext cx="18288000" cy="0"/>
          </a:xfrm>
          <a:prstGeom prst="line">
            <a:avLst/>
          </a:prstGeom>
          <a:ln cap="rnd" w="19050">
            <a:solidFill>
              <a:srgbClr val="000000"/>
            </a:solidFill>
            <a:prstDash val="solid"/>
            <a:headEnd type="none" len="sm" w="sm"/>
            <a:tailEnd type="none" len="sm" w="sm"/>
          </a:ln>
        </p:spPr>
      </p:sp>
      <p:sp>
        <p:nvSpPr>
          <p:cNvPr name="AutoShape 10" id="10"/>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11" id="11"/>
          <p:cNvSpPr/>
          <p:nvPr/>
        </p:nvSpPr>
        <p:spPr>
          <a:xfrm>
            <a:off x="1787124" y="613170"/>
            <a:ext cx="0" cy="9074947"/>
          </a:xfrm>
          <a:prstGeom prst="line">
            <a:avLst/>
          </a:prstGeom>
          <a:ln cap="rnd" w="19050">
            <a:solidFill>
              <a:srgbClr val="000000"/>
            </a:solidFill>
            <a:prstDash val="solid"/>
            <a:headEnd type="none" len="sm" w="sm"/>
            <a:tailEnd type="none" len="sm" w="sm"/>
          </a:ln>
        </p:spPr>
      </p:sp>
      <p:sp>
        <p:nvSpPr>
          <p:cNvPr name="AutoShape 12" id="12"/>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TextBox 13" id="13"/>
          <p:cNvSpPr txBox="true"/>
          <p:nvPr/>
        </p:nvSpPr>
        <p:spPr>
          <a:xfrm rot="0">
            <a:off x="1850122" y="1184937"/>
            <a:ext cx="14057709" cy="862076"/>
          </a:xfrm>
          <a:prstGeom prst="rect">
            <a:avLst/>
          </a:prstGeom>
        </p:spPr>
        <p:txBody>
          <a:bodyPr anchor="t" rtlCol="false" tIns="0" lIns="0" bIns="0" rIns="0">
            <a:spAutoFit/>
          </a:bodyPr>
          <a:lstStyle/>
          <a:p>
            <a:pPr algn="ctr" marL="0" indent="0" lvl="0">
              <a:lnSpc>
                <a:spcPts val="6591"/>
              </a:lnSpc>
              <a:spcBef>
                <a:spcPct val="0"/>
              </a:spcBef>
            </a:pPr>
            <a:r>
              <a:rPr lang="en-US" sz="6399">
                <a:solidFill>
                  <a:srgbClr val="1A160F"/>
                </a:solidFill>
                <a:latin typeface="Archivo Black"/>
                <a:ea typeface="Archivo Black"/>
                <a:cs typeface="Archivo Black"/>
                <a:sym typeface="Archivo Black"/>
              </a:rPr>
              <a:t>IMPLEMENTAREA IN PYTHON</a:t>
            </a:r>
          </a:p>
        </p:txBody>
      </p:sp>
      <p:grpSp>
        <p:nvGrpSpPr>
          <p:cNvPr name="Group 14" id="14"/>
          <p:cNvGrpSpPr/>
          <p:nvPr/>
        </p:nvGrpSpPr>
        <p:grpSpPr>
          <a:xfrm rot="0">
            <a:off x="15898306" y="613170"/>
            <a:ext cx="1805099" cy="1806174"/>
            <a:chOff x="0" y="0"/>
            <a:chExt cx="475417" cy="475700"/>
          </a:xfrm>
        </p:grpSpPr>
        <p:sp>
          <p:nvSpPr>
            <p:cNvPr name="Freeform 15" id="15"/>
            <p:cNvSpPr/>
            <p:nvPr/>
          </p:nvSpPr>
          <p:spPr>
            <a:xfrm flipH="false" flipV="false" rot="0">
              <a:off x="0" y="0"/>
              <a:ext cx="475417" cy="475700"/>
            </a:xfrm>
            <a:custGeom>
              <a:avLst/>
              <a:gdLst/>
              <a:ahLst/>
              <a:cxnLst/>
              <a:rect r="r" b="b" t="t" l="l"/>
              <a:pathLst>
                <a:path h="475700" w="475417">
                  <a:moveTo>
                    <a:pt x="0" y="0"/>
                  </a:moveTo>
                  <a:lnTo>
                    <a:pt x="475417" y="0"/>
                  </a:lnTo>
                  <a:lnTo>
                    <a:pt x="475417" y="475700"/>
                  </a:lnTo>
                  <a:lnTo>
                    <a:pt x="0" y="475700"/>
                  </a:lnTo>
                  <a:close/>
                </a:path>
              </a:pathLst>
            </a:custGeom>
            <a:solidFill>
              <a:srgbClr val="4C5526"/>
            </a:solidFill>
            <a:ln cap="sq">
              <a:noFill/>
              <a:prstDash val="solid"/>
              <a:miter/>
            </a:ln>
          </p:spPr>
        </p:sp>
        <p:sp>
          <p:nvSpPr>
            <p:cNvPr name="TextBox 16" id="16"/>
            <p:cNvSpPr txBox="true"/>
            <p:nvPr/>
          </p:nvSpPr>
          <p:spPr>
            <a:xfrm>
              <a:off x="0" y="-28575"/>
              <a:ext cx="475417" cy="504275"/>
            </a:xfrm>
            <a:prstGeom prst="rect">
              <a:avLst/>
            </a:prstGeom>
          </p:spPr>
          <p:txBody>
            <a:bodyPr anchor="ctr" rtlCol="false" tIns="50800" lIns="50800" bIns="50800" rIns="50800"/>
            <a:lstStyle/>
            <a:p>
              <a:pPr algn="ctr">
                <a:lnSpc>
                  <a:spcPts val="2659"/>
                </a:lnSpc>
              </a:pPr>
            </a:p>
          </p:txBody>
        </p:sp>
      </p:grpSp>
      <p:sp>
        <p:nvSpPr>
          <p:cNvPr name="AutoShape 17" id="17"/>
          <p:cNvSpPr/>
          <p:nvPr/>
        </p:nvSpPr>
        <p:spPr>
          <a:xfrm>
            <a:off x="15907831" y="613170"/>
            <a:ext cx="0" cy="1806174"/>
          </a:xfrm>
          <a:prstGeom prst="line">
            <a:avLst/>
          </a:prstGeom>
          <a:ln cap="rnd" w="19050">
            <a:solidFill>
              <a:srgbClr val="000000"/>
            </a:solidFill>
            <a:prstDash val="solid"/>
            <a:headEnd type="none" len="sm" w="sm"/>
            <a:tailEnd type="none" len="sm" w="sm"/>
          </a:ln>
        </p:spPr>
      </p:sp>
      <p:sp>
        <p:nvSpPr>
          <p:cNvPr name="Freeform 18" id="18"/>
          <p:cNvSpPr/>
          <p:nvPr/>
        </p:nvSpPr>
        <p:spPr>
          <a:xfrm flipH="false" flipV="false" rot="8100000">
            <a:off x="16196047" y="1121760"/>
            <a:ext cx="1157193" cy="788995"/>
          </a:xfrm>
          <a:custGeom>
            <a:avLst/>
            <a:gdLst/>
            <a:ahLst/>
            <a:cxnLst/>
            <a:rect r="r" b="b" t="t" l="l"/>
            <a:pathLst>
              <a:path h="788995" w="1157193">
                <a:moveTo>
                  <a:pt x="0" y="0"/>
                </a:moveTo>
                <a:lnTo>
                  <a:pt x="1157193" y="0"/>
                </a:lnTo>
                <a:lnTo>
                  <a:pt x="1157193" y="788995"/>
                </a:lnTo>
                <a:lnTo>
                  <a:pt x="0" y="7889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9" id="19"/>
          <p:cNvSpPr/>
          <p:nvPr/>
        </p:nvSpPr>
        <p:spPr>
          <a:xfrm>
            <a:off x="12551541" y="4121079"/>
            <a:ext cx="1734797" cy="0"/>
          </a:xfrm>
          <a:prstGeom prst="line">
            <a:avLst/>
          </a:prstGeom>
          <a:ln cap="flat" w="19050">
            <a:solidFill>
              <a:srgbClr val="4C5526"/>
            </a:solidFill>
            <a:prstDash val="solid"/>
            <a:headEnd type="none" len="sm" w="sm"/>
            <a:tailEnd type="none" len="sm" w="sm"/>
          </a:ln>
        </p:spPr>
      </p:sp>
      <p:sp>
        <p:nvSpPr>
          <p:cNvPr name="TextBox 20" id="20"/>
          <p:cNvSpPr txBox="true"/>
          <p:nvPr/>
        </p:nvSpPr>
        <p:spPr>
          <a:xfrm rot="0">
            <a:off x="12674203" y="4174660"/>
            <a:ext cx="4788523" cy="2713481"/>
          </a:xfrm>
          <a:prstGeom prst="rect">
            <a:avLst/>
          </a:prstGeom>
        </p:spPr>
        <p:txBody>
          <a:bodyPr anchor="t" rtlCol="false" tIns="0" lIns="0" bIns="0" rIns="0">
            <a:spAutoFit/>
          </a:bodyPr>
          <a:lstStyle/>
          <a:p>
            <a:pPr algn="l">
              <a:lnSpc>
                <a:spcPts val="3654"/>
              </a:lnSpc>
            </a:pPr>
            <a:r>
              <a:rPr lang="en-US" sz="2100" spc="52">
                <a:solidFill>
                  <a:srgbClr val="1A160F"/>
                </a:solidFill>
                <a:latin typeface="TT Hoves"/>
                <a:ea typeface="TT Hoves"/>
                <a:cs typeface="TT Hoves"/>
                <a:sym typeface="TT Hoves"/>
              </a:rPr>
              <a:t>Se incarca modelul DenseNet121</a:t>
            </a:r>
          </a:p>
          <a:p>
            <a:pPr algn="l">
              <a:lnSpc>
                <a:spcPts val="3654"/>
              </a:lnSpc>
            </a:pPr>
          </a:p>
          <a:p>
            <a:pPr algn="l">
              <a:lnSpc>
                <a:spcPts val="3654"/>
              </a:lnSpc>
            </a:pPr>
            <a:r>
              <a:rPr lang="en-US" sz="2100" spc="52">
                <a:solidFill>
                  <a:srgbClr val="1A160F"/>
                </a:solidFill>
                <a:latin typeface="TT Hoves"/>
                <a:ea typeface="TT Hoves"/>
                <a:cs typeface="TT Hoves"/>
                <a:sym typeface="TT Hoves"/>
              </a:rPr>
              <a:t>Se ingheata straturile convolutionale ale retelei (se antreneaza doar clasificatorul)</a:t>
            </a:r>
          </a:p>
          <a:p>
            <a:pPr algn="l">
              <a:lnSpc>
                <a:spcPts val="3654"/>
              </a:lnSpc>
            </a:pPr>
          </a:p>
        </p:txBody>
      </p:sp>
      <p:sp>
        <p:nvSpPr>
          <p:cNvPr name="TextBox 21" id="21"/>
          <p:cNvSpPr txBox="true"/>
          <p:nvPr/>
        </p:nvSpPr>
        <p:spPr>
          <a:xfrm rot="0">
            <a:off x="12551541" y="2591322"/>
            <a:ext cx="5465900" cy="1520232"/>
          </a:xfrm>
          <a:prstGeom prst="rect">
            <a:avLst/>
          </a:prstGeom>
        </p:spPr>
        <p:txBody>
          <a:bodyPr anchor="t" rtlCol="false" tIns="0" lIns="0" bIns="0" rIns="0">
            <a:spAutoFit/>
          </a:bodyPr>
          <a:lstStyle/>
          <a:p>
            <a:pPr algn="l">
              <a:lnSpc>
                <a:spcPts val="3909"/>
              </a:lnSpc>
            </a:pPr>
            <a:r>
              <a:rPr lang="en-US" sz="3796">
                <a:solidFill>
                  <a:srgbClr val="1A160F"/>
                </a:solidFill>
                <a:latin typeface="Archivo Black"/>
                <a:ea typeface="Archivo Black"/>
                <a:cs typeface="Archivo Black"/>
                <a:sym typeface="Archivo Black"/>
              </a:rPr>
              <a:t>CONFIGURAREA ARHITECTURII RESNET</a:t>
            </a:r>
          </a:p>
        </p:txBody>
      </p:sp>
      <p:sp>
        <p:nvSpPr>
          <p:cNvPr name="TextBox 22" id="22"/>
          <p:cNvSpPr txBox="true"/>
          <p:nvPr/>
        </p:nvSpPr>
        <p:spPr>
          <a:xfrm rot="0">
            <a:off x="2196319" y="2617217"/>
            <a:ext cx="3947029" cy="1671743"/>
          </a:xfrm>
          <a:prstGeom prst="rect">
            <a:avLst/>
          </a:prstGeom>
        </p:spPr>
        <p:txBody>
          <a:bodyPr anchor="t" rtlCol="false" tIns="0" lIns="0" bIns="0" rIns="0">
            <a:spAutoFit/>
          </a:bodyPr>
          <a:lstStyle/>
          <a:p>
            <a:pPr algn="l">
              <a:lnSpc>
                <a:spcPts val="4321"/>
              </a:lnSpc>
            </a:pPr>
            <a:r>
              <a:rPr lang="en-US" sz="4196">
                <a:solidFill>
                  <a:srgbClr val="1A160F"/>
                </a:solidFill>
                <a:latin typeface="Archivo Black"/>
                <a:ea typeface="Archivo Black"/>
                <a:cs typeface="Archivo Black"/>
                <a:sym typeface="Archivo Black"/>
              </a:rPr>
              <a:t>IMPARTIREA SETULUI DE DATE</a:t>
            </a:r>
          </a:p>
        </p:txBody>
      </p:sp>
      <p:sp>
        <p:nvSpPr>
          <p:cNvPr name="TextBox 23" id="23"/>
          <p:cNvSpPr txBox="true"/>
          <p:nvPr/>
        </p:nvSpPr>
        <p:spPr>
          <a:xfrm rot="0">
            <a:off x="2196319" y="4762450"/>
            <a:ext cx="4619473" cy="1985362"/>
          </a:xfrm>
          <a:prstGeom prst="rect">
            <a:avLst/>
          </a:prstGeom>
        </p:spPr>
        <p:txBody>
          <a:bodyPr anchor="t" rtlCol="false" tIns="0" lIns="0" bIns="0" rIns="0">
            <a:spAutoFit/>
          </a:bodyPr>
          <a:lstStyle/>
          <a:p>
            <a:pPr algn="l">
              <a:lnSpc>
                <a:spcPts val="4002"/>
              </a:lnSpc>
            </a:pPr>
            <a:r>
              <a:rPr lang="en-US" sz="2300" spc="57">
                <a:solidFill>
                  <a:srgbClr val="1A160F"/>
                </a:solidFill>
                <a:latin typeface="TT Hoves"/>
                <a:ea typeface="TT Hoves"/>
                <a:cs typeface="TT Hoves"/>
                <a:sym typeface="TT Hoves"/>
              </a:rPr>
              <a:t>Setul de date este impartit in: </a:t>
            </a:r>
          </a:p>
          <a:p>
            <a:pPr algn="l" marL="496661" indent="-248331" lvl="1">
              <a:lnSpc>
                <a:spcPts val="4002"/>
              </a:lnSpc>
              <a:buFont typeface="Arial"/>
              <a:buChar char="•"/>
            </a:pPr>
            <a:r>
              <a:rPr lang="en-US" sz="2300" spc="57">
                <a:solidFill>
                  <a:srgbClr val="1A160F"/>
                </a:solidFill>
                <a:latin typeface="TT Hoves"/>
                <a:ea typeface="TT Hoves"/>
                <a:cs typeface="TT Hoves"/>
                <a:sym typeface="TT Hoves"/>
              </a:rPr>
              <a:t>date de antrenament (70%)</a:t>
            </a:r>
          </a:p>
          <a:p>
            <a:pPr algn="l" marL="496661" indent="-248331" lvl="1">
              <a:lnSpc>
                <a:spcPts val="4002"/>
              </a:lnSpc>
              <a:buFont typeface="Arial"/>
              <a:buChar char="•"/>
            </a:pPr>
            <a:r>
              <a:rPr lang="en-US" sz="2300" spc="57">
                <a:solidFill>
                  <a:srgbClr val="1A160F"/>
                </a:solidFill>
                <a:latin typeface="TT Hoves"/>
                <a:ea typeface="TT Hoves"/>
                <a:cs typeface="TT Hoves"/>
                <a:sym typeface="TT Hoves"/>
              </a:rPr>
              <a:t>date de validare (15%)</a:t>
            </a:r>
          </a:p>
          <a:p>
            <a:pPr algn="l" marL="496661" indent="-248331" lvl="1">
              <a:lnSpc>
                <a:spcPts val="4002"/>
              </a:lnSpc>
              <a:buFont typeface="Arial"/>
              <a:buChar char="•"/>
            </a:pPr>
            <a:r>
              <a:rPr lang="en-US" sz="2300" spc="57">
                <a:solidFill>
                  <a:srgbClr val="1A160F"/>
                </a:solidFill>
                <a:latin typeface="TT Hoves"/>
                <a:ea typeface="TT Hoves"/>
                <a:cs typeface="TT Hoves"/>
                <a:sym typeface="TT Hoves"/>
              </a:rPr>
              <a:t>date de test (15%)</a:t>
            </a:r>
          </a:p>
        </p:txBody>
      </p:sp>
      <p:sp>
        <p:nvSpPr>
          <p:cNvPr name="TextBox 24" id="24"/>
          <p:cNvSpPr txBox="true"/>
          <p:nvPr/>
        </p:nvSpPr>
        <p:spPr>
          <a:xfrm rot="0">
            <a:off x="7409203" y="2626742"/>
            <a:ext cx="4700324" cy="1016374"/>
          </a:xfrm>
          <a:prstGeom prst="rect">
            <a:avLst/>
          </a:prstGeom>
        </p:spPr>
        <p:txBody>
          <a:bodyPr anchor="t" rtlCol="false" tIns="0" lIns="0" bIns="0" rIns="0">
            <a:spAutoFit/>
          </a:bodyPr>
          <a:lstStyle/>
          <a:p>
            <a:pPr algn="l">
              <a:lnSpc>
                <a:spcPts val="3956"/>
              </a:lnSpc>
            </a:pPr>
            <a:r>
              <a:rPr lang="en-US" sz="3840">
                <a:solidFill>
                  <a:srgbClr val="F2F0E3"/>
                </a:solidFill>
                <a:latin typeface="Archivo Black"/>
                <a:ea typeface="Archivo Black"/>
                <a:cs typeface="Archivo Black"/>
                <a:sym typeface="Archivo Black"/>
              </a:rPr>
              <a:t>AUGUMENTAREA DATELOR</a:t>
            </a:r>
          </a:p>
        </p:txBody>
      </p:sp>
      <p:sp>
        <p:nvSpPr>
          <p:cNvPr name="TextBox 25" id="25"/>
          <p:cNvSpPr txBox="true"/>
          <p:nvPr/>
        </p:nvSpPr>
        <p:spPr>
          <a:xfrm rot="0">
            <a:off x="7817622" y="4016304"/>
            <a:ext cx="3569001" cy="5390550"/>
          </a:xfrm>
          <a:prstGeom prst="rect">
            <a:avLst/>
          </a:prstGeom>
        </p:spPr>
        <p:txBody>
          <a:bodyPr anchor="t" rtlCol="false" tIns="0" lIns="0" bIns="0" rIns="0">
            <a:spAutoFit/>
          </a:bodyPr>
          <a:lstStyle/>
          <a:p>
            <a:pPr algn="l">
              <a:lnSpc>
                <a:spcPts val="3092"/>
              </a:lnSpc>
            </a:pPr>
            <a:r>
              <a:rPr lang="en-US" sz="1777" spc="44">
                <a:solidFill>
                  <a:srgbClr val="F2F0E3"/>
                </a:solidFill>
                <a:latin typeface="TT Hoves"/>
                <a:ea typeface="TT Hoves"/>
                <a:cs typeface="TT Hoves"/>
                <a:sym typeface="TT Hoves"/>
              </a:rPr>
              <a:t>Imaginile sunt redimensionate la dimensiunea de 224x224</a:t>
            </a:r>
          </a:p>
          <a:p>
            <a:pPr algn="l">
              <a:lnSpc>
                <a:spcPts val="3092"/>
              </a:lnSpc>
            </a:pPr>
          </a:p>
          <a:p>
            <a:pPr algn="l">
              <a:lnSpc>
                <a:spcPts val="3092"/>
              </a:lnSpc>
            </a:pPr>
            <a:r>
              <a:rPr lang="en-US" sz="1777" spc="44">
                <a:solidFill>
                  <a:srgbClr val="F2F0E3"/>
                </a:solidFill>
                <a:latin typeface="TT Hoves"/>
                <a:ea typeface="TT Hoves"/>
                <a:cs typeface="TT Hoves"/>
                <a:sym typeface="TT Hoves"/>
              </a:rPr>
              <a:t>Pentru setul de antrenare se aplica tehnici de augumentare pentru prevenirea over-fittingului:</a:t>
            </a:r>
          </a:p>
          <a:p>
            <a:pPr algn="l">
              <a:lnSpc>
                <a:spcPts val="3092"/>
              </a:lnSpc>
            </a:pPr>
            <a:r>
              <a:rPr lang="en-US" sz="1777" spc="44">
                <a:solidFill>
                  <a:srgbClr val="F2F0E3"/>
                </a:solidFill>
                <a:latin typeface="TT Hoves"/>
                <a:ea typeface="TT Hoves"/>
                <a:cs typeface="TT Hoves"/>
                <a:sym typeface="TT Hoves"/>
              </a:rPr>
              <a:t>taiere aleatoare, intoarcere pe orizontala, ajustarea contrastului. Pe setul de validare se aplica transformari adaptate ponderilor ImageNet</a:t>
            </a:r>
          </a:p>
          <a:p>
            <a:pPr algn="l">
              <a:lnSpc>
                <a:spcPts val="3092"/>
              </a:lnSpc>
            </a:pPr>
          </a:p>
          <a:p>
            <a:pPr algn="l">
              <a:lnSpc>
                <a:spcPts val="3092"/>
              </a:lnSpc>
            </a:pPr>
          </a:p>
          <a:p>
            <a:pPr algn="l">
              <a:lnSpc>
                <a:spcPts val="3092"/>
              </a:lnSpc>
            </a:pPr>
          </a:p>
        </p:txBody>
      </p:sp>
      <p:sp>
        <p:nvSpPr>
          <p:cNvPr name="AutoShape 26" id="26"/>
          <p:cNvSpPr/>
          <p:nvPr/>
        </p:nvSpPr>
        <p:spPr>
          <a:xfrm>
            <a:off x="7409203" y="3740079"/>
            <a:ext cx="1734797" cy="0"/>
          </a:xfrm>
          <a:prstGeom prst="line">
            <a:avLst/>
          </a:prstGeom>
          <a:ln cap="flat" w="19050">
            <a:solidFill>
              <a:srgbClr val="F2F0E3"/>
            </a:solidFill>
            <a:prstDash val="solid"/>
            <a:headEnd type="none" len="sm" w="sm"/>
            <a:tailEnd type="none" len="sm" w="sm"/>
          </a:ln>
        </p:spPr>
      </p:sp>
      <p:sp>
        <p:nvSpPr>
          <p:cNvPr name="AutoShape 27" id="27"/>
          <p:cNvSpPr/>
          <p:nvPr/>
        </p:nvSpPr>
        <p:spPr>
          <a:xfrm>
            <a:off x="2196319" y="4288960"/>
            <a:ext cx="1734797" cy="0"/>
          </a:xfrm>
          <a:prstGeom prst="line">
            <a:avLst/>
          </a:prstGeom>
          <a:ln cap="flat" w="19050">
            <a:solidFill>
              <a:srgbClr val="4C5526"/>
            </a:solidFill>
            <a:prstDash val="solid"/>
            <a:headEnd type="none" len="sm" w="sm"/>
            <a:tailEnd type="none" len="sm" w="sm"/>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sp>
        <p:nvSpPr>
          <p:cNvPr name="AutoShape 2" id="2"/>
          <p:cNvSpPr/>
          <p:nvPr/>
        </p:nvSpPr>
        <p:spPr>
          <a:xfrm flipV="true">
            <a:off x="0" y="613170"/>
            <a:ext cx="18288000" cy="0"/>
          </a:xfrm>
          <a:prstGeom prst="line">
            <a:avLst/>
          </a:prstGeom>
          <a:ln cap="rnd" w="19050">
            <a:solidFill>
              <a:srgbClr val="000000"/>
            </a:solidFill>
            <a:prstDash val="solid"/>
            <a:headEnd type="none" len="sm" w="sm"/>
            <a:tailEnd type="none" len="sm" w="sm"/>
          </a:ln>
        </p:spPr>
      </p:sp>
      <p:grpSp>
        <p:nvGrpSpPr>
          <p:cNvPr name="Group 3" id="3"/>
          <p:cNvGrpSpPr/>
          <p:nvPr/>
        </p:nvGrpSpPr>
        <p:grpSpPr>
          <a:xfrm rot="0">
            <a:off x="7078453" y="2419344"/>
            <a:ext cx="5305427" cy="7268773"/>
            <a:chOff x="0" y="0"/>
            <a:chExt cx="1397314" cy="1914409"/>
          </a:xfrm>
        </p:grpSpPr>
        <p:sp>
          <p:nvSpPr>
            <p:cNvPr name="Freeform 4" id="4"/>
            <p:cNvSpPr/>
            <p:nvPr/>
          </p:nvSpPr>
          <p:spPr>
            <a:xfrm flipH="false" flipV="false" rot="0">
              <a:off x="0" y="0"/>
              <a:ext cx="1397314" cy="1914409"/>
            </a:xfrm>
            <a:custGeom>
              <a:avLst/>
              <a:gdLst/>
              <a:ahLst/>
              <a:cxnLst/>
              <a:rect r="r" b="b" t="t" l="l"/>
              <a:pathLst>
                <a:path h="1914409" w="1397314">
                  <a:moveTo>
                    <a:pt x="0" y="0"/>
                  </a:moveTo>
                  <a:lnTo>
                    <a:pt x="1397314" y="0"/>
                  </a:lnTo>
                  <a:lnTo>
                    <a:pt x="1397314" y="1914409"/>
                  </a:lnTo>
                  <a:lnTo>
                    <a:pt x="0" y="1914409"/>
                  </a:lnTo>
                  <a:close/>
                </a:path>
              </a:pathLst>
            </a:custGeom>
            <a:solidFill>
              <a:srgbClr val="4C5526"/>
            </a:solidFill>
          </p:spPr>
        </p:sp>
        <p:sp>
          <p:nvSpPr>
            <p:cNvPr name="TextBox 5" id="5"/>
            <p:cNvSpPr txBox="true"/>
            <p:nvPr/>
          </p:nvSpPr>
          <p:spPr>
            <a:xfrm>
              <a:off x="0" y="47625"/>
              <a:ext cx="1397314" cy="1866784"/>
            </a:xfrm>
            <a:prstGeom prst="rect">
              <a:avLst/>
            </a:prstGeom>
          </p:spPr>
          <p:txBody>
            <a:bodyPr anchor="ctr" rtlCol="false" tIns="50800" lIns="50800" bIns="50800" rIns="50800"/>
            <a:lstStyle/>
            <a:p>
              <a:pPr algn="ctr">
                <a:lnSpc>
                  <a:spcPts val="2664"/>
                </a:lnSpc>
              </a:pPr>
            </a:p>
          </p:txBody>
        </p:sp>
      </p:grpSp>
      <p:sp>
        <p:nvSpPr>
          <p:cNvPr name="AutoShape 6" id="6"/>
          <p:cNvSpPr/>
          <p:nvPr/>
        </p:nvSpPr>
        <p:spPr>
          <a:xfrm>
            <a:off x="598883" y="2419344"/>
            <a:ext cx="17104522" cy="0"/>
          </a:xfrm>
          <a:prstGeom prst="line">
            <a:avLst/>
          </a:prstGeom>
          <a:ln cap="rnd" w="19050">
            <a:solidFill>
              <a:srgbClr val="000000"/>
            </a:solidFill>
            <a:prstDash val="solid"/>
            <a:headEnd type="none" len="sm" w="sm"/>
            <a:tailEnd type="none" len="sm" w="sm"/>
          </a:ln>
        </p:spPr>
      </p:sp>
      <p:sp>
        <p:nvSpPr>
          <p:cNvPr name="AutoShape 7" id="7"/>
          <p:cNvSpPr/>
          <p:nvPr/>
        </p:nvSpPr>
        <p:spPr>
          <a:xfrm>
            <a:off x="7092551" y="2419344"/>
            <a:ext cx="0" cy="7268773"/>
          </a:xfrm>
          <a:prstGeom prst="line">
            <a:avLst/>
          </a:prstGeom>
          <a:ln cap="rnd" w="19050">
            <a:solidFill>
              <a:srgbClr val="000000"/>
            </a:solidFill>
            <a:prstDash val="solid"/>
            <a:headEnd type="none" len="sm" w="sm"/>
            <a:tailEnd type="none" len="sm" w="sm"/>
          </a:ln>
        </p:spPr>
      </p:sp>
      <p:sp>
        <p:nvSpPr>
          <p:cNvPr name="AutoShape 8" id="8"/>
          <p:cNvSpPr/>
          <p:nvPr/>
        </p:nvSpPr>
        <p:spPr>
          <a:xfrm>
            <a:off x="12397978" y="2419344"/>
            <a:ext cx="0" cy="7268773"/>
          </a:xfrm>
          <a:prstGeom prst="line">
            <a:avLst/>
          </a:prstGeom>
          <a:ln cap="rnd" w="19050">
            <a:solidFill>
              <a:srgbClr val="000000"/>
            </a:solidFill>
            <a:prstDash val="solid"/>
            <a:headEnd type="none" len="sm" w="sm"/>
            <a:tailEnd type="none" len="sm" w="sm"/>
          </a:ln>
        </p:spPr>
      </p:sp>
      <p:sp>
        <p:nvSpPr>
          <p:cNvPr name="AutoShape 9" id="9"/>
          <p:cNvSpPr/>
          <p:nvPr/>
        </p:nvSpPr>
        <p:spPr>
          <a:xfrm>
            <a:off x="0" y="9688117"/>
            <a:ext cx="18288000" cy="0"/>
          </a:xfrm>
          <a:prstGeom prst="line">
            <a:avLst/>
          </a:prstGeom>
          <a:ln cap="rnd" w="19050">
            <a:solidFill>
              <a:srgbClr val="000000"/>
            </a:solidFill>
            <a:prstDash val="solid"/>
            <a:headEnd type="none" len="sm" w="sm"/>
            <a:tailEnd type="none" len="sm" w="sm"/>
          </a:ln>
        </p:spPr>
      </p:sp>
      <p:sp>
        <p:nvSpPr>
          <p:cNvPr name="AutoShape 10" id="10"/>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11" id="11"/>
          <p:cNvSpPr/>
          <p:nvPr/>
        </p:nvSpPr>
        <p:spPr>
          <a:xfrm>
            <a:off x="1787124" y="613170"/>
            <a:ext cx="0" cy="9074947"/>
          </a:xfrm>
          <a:prstGeom prst="line">
            <a:avLst/>
          </a:prstGeom>
          <a:ln cap="rnd" w="19050">
            <a:solidFill>
              <a:srgbClr val="000000"/>
            </a:solidFill>
            <a:prstDash val="solid"/>
            <a:headEnd type="none" len="sm" w="sm"/>
            <a:tailEnd type="none" len="sm" w="sm"/>
          </a:ln>
        </p:spPr>
      </p:sp>
      <p:sp>
        <p:nvSpPr>
          <p:cNvPr name="AutoShape 12" id="12"/>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TextBox 13" id="13"/>
          <p:cNvSpPr txBox="true"/>
          <p:nvPr/>
        </p:nvSpPr>
        <p:spPr>
          <a:xfrm rot="0">
            <a:off x="1850122" y="1184937"/>
            <a:ext cx="14057709" cy="862076"/>
          </a:xfrm>
          <a:prstGeom prst="rect">
            <a:avLst/>
          </a:prstGeom>
        </p:spPr>
        <p:txBody>
          <a:bodyPr anchor="t" rtlCol="false" tIns="0" lIns="0" bIns="0" rIns="0">
            <a:spAutoFit/>
          </a:bodyPr>
          <a:lstStyle/>
          <a:p>
            <a:pPr algn="ctr" marL="0" indent="0" lvl="0">
              <a:lnSpc>
                <a:spcPts val="6591"/>
              </a:lnSpc>
              <a:spcBef>
                <a:spcPct val="0"/>
              </a:spcBef>
            </a:pPr>
            <a:r>
              <a:rPr lang="en-US" sz="6399">
                <a:solidFill>
                  <a:srgbClr val="1A160F"/>
                </a:solidFill>
                <a:latin typeface="Archivo Black"/>
                <a:ea typeface="Archivo Black"/>
                <a:cs typeface="Archivo Black"/>
                <a:sym typeface="Archivo Black"/>
              </a:rPr>
              <a:t>IMPLEMENTAREA IN PYTHON</a:t>
            </a:r>
          </a:p>
        </p:txBody>
      </p:sp>
      <p:grpSp>
        <p:nvGrpSpPr>
          <p:cNvPr name="Group 14" id="14"/>
          <p:cNvGrpSpPr/>
          <p:nvPr/>
        </p:nvGrpSpPr>
        <p:grpSpPr>
          <a:xfrm rot="0">
            <a:off x="15898306" y="613170"/>
            <a:ext cx="1805099" cy="1806174"/>
            <a:chOff x="0" y="0"/>
            <a:chExt cx="475417" cy="475700"/>
          </a:xfrm>
        </p:grpSpPr>
        <p:sp>
          <p:nvSpPr>
            <p:cNvPr name="Freeform 15" id="15"/>
            <p:cNvSpPr/>
            <p:nvPr/>
          </p:nvSpPr>
          <p:spPr>
            <a:xfrm flipH="false" flipV="false" rot="0">
              <a:off x="0" y="0"/>
              <a:ext cx="475417" cy="475700"/>
            </a:xfrm>
            <a:custGeom>
              <a:avLst/>
              <a:gdLst/>
              <a:ahLst/>
              <a:cxnLst/>
              <a:rect r="r" b="b" t="t" l="l"/>
              <a:pathLst>
                <a:path h="475700" w="475417">
                  <a:moveTo>
                    <a:pt x="0" y="0"/>
                  </a:moveTo>
                  <a:lnTo>
                    <a:pt x="475417" y="0"/>
                  </a:lnTo>
                  <a:lnTo>
                    <a:pt x="475417" y="475700"/>
                  </a:lnTo>
                  <a:lnTo>
                    <a:pt x="0" y="475700"/>
                  </a:lnTo>
                  <a:close/>
                </a:path>
              </a:pathLst>
            </a:custGeom>
            <a:solidFill>
              <a:srgbClr val="4C5526"/>
            </a:solidFill>
            <a:ln cap="sq">
              <a:noFill/>
              <a:prstDash val="solid"/>
              <a:miter/>
            </a:ln>
          </p:spPr>
        </p:sp>
        <p:sp>
          <p:nvSpPr>
            <p:cNvPr name="TextBox 16" id="16"/>
            <p:cNvSpPr txBox="true"/>
            <p:nvPr/>
          </p:nvSpPr>
          <p:spPr>
            <a:xfrm>
              <a:off x="0" y="-28575"/>
              <a:ext cx="475417" cy="504275"/>
            </a:xfrm>
            <a:prstGeom prst="rect">
              <a:avLst/>
            </a:prstGeom>
          </p:spPr>
          <p:txBody>
            <a:bodyPr anchor="ctr" rtlCol="false" tIns="50800" lIns="50800" bIns="50800" rIns="50800"/>
            <a:lstStyle/>
            <a:p>
              <a:pPr algn="ctr">
                <a:lnSpc>
                  <a:spcPts val="2659"/>
                </a:lnSpc>
              </a:pPr>
            </a:p>
          </p:txBody>
        </p:sp>
      </p:grpSp>
      <p:sp>
        <p:nvSpPr>
          <p:cNvPr name="AutoShape 17" id="17"/>
          <p:cNvSpPr/>
          <p:nvPr/>
        </p:nvSpPr>
        <p:spPr>
          <a:xfrm>
            <a:off x="15907831" y="613170"/>
            <a:ext cx="0" cy="1806174"/>
          </a:xfrm>
          <a:prstGeom prst="line">
            <a:avLst/>
          </a:prstGeom>
          <a:ln cap="rnd" w="19050">
            <a:solidFill>
              <a:srgbClr val="000000"/>
            </a:solidFill>
            <a:prstDash val="solid"/>
            <a:headEnd type="none" len="sm" w="sm"/>
            <a:tailEnd type="none" len="sm" w="sm"/>
          </a:ln>
        </p:spPr>
      </p:sp>
      <p:sp>
        <p:nvSpPr>
          <p:cNvPr name="Freeform 18" id="18"/>
          <p:cNvSpPr/>
          <p:nvPr/>
        </p:nvSpPr>
        <p:spPr>
          <a:xfrm flipH="false" flipV="false" rot="8100000">
            <a:off x="16196047" y="1121760"/>
            <a:ext cx="1157193" cy="788995"/>
          </a:xfrm>
          <a:custGeom>
            <a:avLst/>
            <a:gdLst/>
            <a:ahLst/>
            <a:cxnLst/>
            <a:rect r="r" b="b" t="t" l="l"/>
            <a:pathLst>
              <a:path h="788995" w="1157193">
                <a:moveTo>
                  <a:pt x="0" y="0"/>
                </a:moveTo>
                <a:lnTo>
                  <a:pt x="1157193" y="0"/>
                </a:lnTo>
                <a:lnTo>
                  <a:pt x="1157193" y="788995"/>
                </a:lnTo>
                <a:lnTo>
                  <a:pt x="0" y="7889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9" id="19"/>
          <p:cNvSpPr/>
          <p:nvPr/>
        </p:nvSpPr>
        <p:spPr>
          <a:xfrm>
            <a:off x="12551541" y="3616254"/>
            <a:ext cx="1734797" cy="0"/>
          </a:xfrm>
          <a:prstGeom prst="line">
            <a:avLst/>
          </a:prstGeom>
          <a:ln cap="flat" w="19050">
            <a:solidFill>
              <a:srgbClr val="4C5526"/>
            </a:solidFill>
            <a:prstDash val="solid"/>
            <a:headEnd type="none" len="sm" w="sm"/>
            <a:tailEnd type="none" len="sm" w="sm"/>
          </a:ln>
        </p:spPr>
      </p:sp>
      <p:sp>
        <p:nvSpPr>
          <p:cNvPr name="TextBox 20" id="20"/>
          <p:cNvSpPr txBox="true"/>
          <p:nvPr/>
        </p:nvSpPr>
        <p:spPr>
          <a:xfrm rot="0">
            <a:off x="12674203" y="4323895"/>
            <a:ext cx="4788523" cy="4541976"/>
          </a:xfrm>
          <a:prstGeom prst="rect">
            <a:avLst/>
          </a:prstGeom>
        </p:spPr>
        <p:txBody>
          <a:bodyPr anchor="t" rtlCol="false" tIns="0" lIns="0" bIns="0" rIns="0">
            <a:spAutoFit/>
          </a:bodyPr>
          <a:lstStyle/>
          <a:p>
            <a:pPr algn="l">
              <a:lnSpc>
                <a:spcPts val="3654"/>
              </a:lnSpc>
            </a:pPr>
            <a:r>
              <a:rPr lang="en-US" sz="2100" spc="52">
                <a:solidFill>
                  <a:srgbClr val="1A160F"/>
                </a:solidFill>
                <a:latin typeface="TT Hoves"/>
                <a:ea typeface="TT Hoves"/>
                <a:cs typeface="TT Hoves"/>
                <a:sym typeface="TT Hoves"/>
              </a:rPr>
              <a:t>Se obtin urmatoarele metrici: </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Train loss</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Train accuracy</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Validation loss</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Validation accuracy</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Precizie</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Recall</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Scor F1</a:t>
            </a:r>
          </a:p>
          <a:p>
            <a:pPr algn="l" marL="453393" indent="-226697" lvl="1">
              <a:lnSpc>
                <a:spcPts val="3654"/>
              </a:lnSpc>
              <a:buFont typeface="Arial"/>
              <a:buChar char="•"/>
            </a:pPr>
            <a:r>
              <a:rPr lang="en-US" sz="2100" spc="52">
                <a:solidFill>
                  <a:srgbClr val="1A160F"/>
                </a:solidFill>
                <a:latin typeface="TT Hoves"/>
                <a:ea typeface="TT Hoves"/>
                <a:cs typeface="TT Hoves"/>
                <a:sym typeface="TT Hoves"/>
              </a:rPr>
              <a:t>matricea de confuzie</a:t>
            </a:r>
          </a:p>
          <a:p>
            <a:pPr algn="l">
              <a:lnSpc>
                <a:spcPts val="3654"/>
              </a:lnSpc>
            </a:pPr>
          </a:p>
        </p:txBody>
      </p:sp>
      <p:sp>
        <p:nvSpPr>
          <p:cNvPr name="TextBox 21" id="21"/>
          <p:cNvSpPr txBox="true"/>
          <p:nvPr/>
        </p:nvSpPr>
        <p:spPr>
          <a:xfrm rot="0">
            <a:off x="12551541" y="2591322"/>
            <a:ext cx="5465900" cy="1024932"/>
          </a:xfrm>
          <a:prstGeom prst="rect">
            <a:avLst/>
          </a:prstGeom>
        </p:spPr>
        <p:txBody>
          <a:bodyPr anchor="t" rtlCol="false" tIns="0" lIns="0" bIns="0" rIns="0">
            <a:spAutoFit/>
          </a:bodyPr>
          <a:lstStyle/>
          <a:p>
            <a:pPr algn="l">
              <a:lnSpc>
                <a:spcPts val="3909"/>
              </a:lnSpc>
            </a:pPr>
            <a:r>
              <a:rPr lang="en-US" sz="3796">
                <a:solidFill>
                  <a:srgbClr val="1A160F"/>
                </a:solidFill>
                <a:latin typeface="Archivo Black"/>
                <a:ea typeface="Archivo Black"/>
                <a:cs typeface="Archivo Black"/>
                <a:sym typeface="Archivo Black"/>
              </a:rPr>
              <a:t>OBTINEREA REZULTATELOR</a:t>
            </a:r>
          </a:p>
        </p:txBody>
      </p:sp>
      <p:sp>
        <p:nvSpPr>
          <p:cNvPr name="TextBox 22" id="22"/>
          <p:cNvSpPr txBox="true"/>
          <p:nvPr/>
        </p:nvSpPr>
        <p:spPr>
          <a:xfrm rot="0">
            <a:off x="1991721" y="2591322"/>
            <a:ext cx="4896232" cy="1128818"/>
          </a:xfrm>
          <a:prstGeom prst="rect">
            <a:avLst/>
          </a:prstGeom>
        </p:spPr>
        <p:txBody>
          <a:bodyPr anchor="t" rtlCol="false" tIns="0" lIns="0" bIns="0" rIns="0">
            <a:spAutoFit/>
          </a:bodyPr>
          <a:lstStyle/>
          <a:p>
            <a:pPr algn="l">
              <a:lnSpc>
                <a:spcPts val="4321"/>
              </a:lnSpc>
            </a:pPr>
            <a:r>
              <a:rPr lang="en-US" sz="4196">
                <a:solidFill>
                  <a:srgbClr val="1A160F"/>
                </a:solidFill>
                <a:latin typeface="Archivo Black"/>
                <a:ea typeface="Archivo Black"/>
                <a:cs typeface="Archivo Black"/>
                <a:sym typeface="Archivo Black"/>
              </a:rPr>
              <a:t>SELECTAREA PARAMETRILOR</a:t>
            </a:r>
          </a:p>
        </p:txBody>
      </p:sp>
      <p:sp>
        <p:nvSpPr>
          <p:cNvPr name="TextBox 23" id="23"/>
          <p:cNvSpPr txBox="true"/>
          <p:nvPr/>
        </p:nvSpPr>
        <p:spPr>
          <a:xfrm rot="0">
            <a:off x="1982730" y="3987729"/>
            <a:ext cx="4619473" cy="3499837"/>
          </a:xfrm>
          <a:prstGeom prst="rect">
            <a:avLst/>
          </a:prstGeom>
        </p:spPr>
        <p:txBody>
          <a:bodyPr anchor="t" rtlCol="false" tIns="0" lIns="0" bIns="0" rIns="0">
            <a:spAutoFit/>
          </a:bodyPr>
          <a:lstStyle/>
          <a:p>
            <a:pPr algn="l">
              <a:lnSpc>
                <a:spcPts val="4002"/>
              </a:lnSpc>
            </a:pPr>
            <a:r>
              <a:rPr lang="en-US" sz="2300" spc="57">
                <a:solidFill>
                  <a:srgbClr val="1A160F"/>
                </a:solidFill>
                <a:latin typeface="TT Hoves"/>
                <a:ea typeface="TT Hoves"/>
                <a:cs typeface="TT Hoves"/>
                <a:sym typeface="TT Hoves"/>
              </a:rPr>
              <a:t>Se alege optimizatorul Adam </a:t>
            </a:r>
          </a:p>
          <a:p>
            <a:pPr algn="l">
              <a:lnSpc>
                <a:spcPts val="4002"/>
              </a:lnSpc>
            </a:pPr>
          </a:p>
          <a:p>
            <a:pPr algn="l">
              <a:lnSpc>
                <a:spcPts val="4002"/>
              </a:lnSpc>
            </a:pPr>
            <a:r>
              <a:rPr lang="en-US" sz="2300" spc="57">
                <a:solidFill>
                  <a:srgbClr val="1A160F"/>
                </a:solidFill>
                <a:latin typeface="TT Hoves"/>
                <a:ea typeface="TT Hoves"/>
                <a:cs typeface="TT Hoves"/>
                <a:sym typeface="TT Hoves"/>
              </a:rPr>
              <a:t>Functia de cost CrossEntropyLoss si label smoothing </a:t>
            </a:r>
          </a:p>
          <a:p>
            <a:pPr algn="l">
              <a:lnSpc>
                <a:spcPts val="4002"/>
              </a:lnSpc>
            </a:pPr>
          </a:p>
          <a:p>
            <a:pPr algn="l">
              <a:lnSpc>
                <a:spcPts val="4002"/>
              </a:lnSpc>
            </a:pPr>
            <a:r>
              <a:rPr lang="en-US" sz="2300" spc="57">
                <a:solidFill>
                  <a:srgbClr val="1A160F"/>
                </a:solidFill>
                <a:latin typeface="TT Hoves"/>
                <a:ea typeface="TT Hoves"/>
                <a:cs typeface="TT Hoves"/>
                <a:sym typeface="TT Hoves"/>
              </a:rPr>
              <a:t>LR este pastrat constant, </a:t>
            </a:r>
          </a:p>
        </p:txBody>
      </p:sp>
      <p:sp>
        <p:nvSpPr>
          <p:cNvPr name="TextBox 24" id="24"/>
          <p:cNvSpPr txBox="true"/>
          <p:nvPr/>
        </p:nvSpPr>
        <p:spPr>
          <a:xfrm rot="0">
            <a:off x="7286542" y="2636267"/>
            <a:ext cx="5265000" cy="568031"/>
          </a:xfrm>
          <a:prstGeom prst="rect">
            <a:avLst/>
          </a:prstGeom>
        </p:spPr>
        <p:txBody>
          <a:bodyPr anchor="t" rtlCol="false" tIns="0" lIns="0" bIns="0" rIns="0">
            <a:spAutoFit/>
          </a:bodyPr>
          <a:lstStyle/>
          <a:p>
            <a:pPr algn="l">
              <a:lnSpc>
                <a:spcPts val="4265"/>
              </a:lnSpc>
            </a:pPr>
            <a:r>
              <a:rPr lang="en-US" sz="4140">
                <a:solidFill>
                  <a:srgbClr val="F2F0E3"/>
                </a:solidFill>
                <a:latin typeface="Archivo Black"/>
                <a:ea typeface="Archivo Black"/>
                <a:cs typeface="Archivo Black"/>
                <a:sym typeface="Archivo Black"/>
              </a:rPr>
              <a:t>ANTRENAREA</a:t>
            </a:r>
          </a:p>
        </p:txBody>
      </p:sp>
      <p:sp>
        <p:nvSpPr>
          <p:cNvPr name="TextBox 25" id="25"/>
          <p:cNvSpPr txBox="true"/>
          <p:nvPr/>
        </p:nvSpPr>
        <p:spPr>
          <a:xfrm rot="0">
            <a:off x="7578326" y="3997254"/>
            <a:ext cx="4217033" cy="1341881"/>
          </a:xfrm>
          <a:prstGeom prst="rect">
            <a:avLst/>
          </a:prstGeom>
        </p:spPr>
        <p:txBody>
          <a:bodyPr anchor="t" rtlCol="false" tIns="0" lIns="0" bIns="0" rIns="0">
            <a:spAutoFit/>
          </a:bodyPr>
          <a:lstStyle/>
          <a:p>
            <a:pPr algn="l">
              <a:lnSpc>
                <a:spcPts val="3654"/>
              </a:lnSpc>
            </a:pPr>
            <a:r>
              <a:rPr lang="en-US" sz="2100" spc="52">
                <a:solidFill>
                  <a:srgbClr val="F2F0E3"/>
                </a:solidFill>
                <a:latin typeface="TT Hoves"/>
                <a:ea typeface="TT Hoves"/>
                <a:cs typeface="TT Hoves"/>
                <a:sym typeface="TT Hoves"/>
              </a:rPr>
              <a:t>Se ruleaza 20 de epoci cu parametrii setati, pe un batch de 32 imagini.</a:t>
            </a:r>
          </a:p>
        </p:txBody>
      </p:sp>
      <p:sp>
        <p:nvSpPr>
          <p:cNvPr name="AutoShape 26" id="26"/>
          <p:cNvSpPr/>
          <p:nvPr/>
        </p:nvSpPr>
        <p:spPr>
          <a:xfrm>
            <a:off x="7292576" y="3327625"/>
            <a:ext cx="1734797" cy="0"/>
          </a:xfrm>
          <a:prstGeom prst="line">
            <a:avLst/>
          </a:prstGeom>
          <a:ln cap="flat" w="19050">
            <a:solidFill>
              <a:srgbClr val="F2F0E3"/>
            </a:solidFill>
            <a:prstDash val="solid"/>
            <a:headEnd type="none" len="sm" w="sm"/>
            <a:tailEnd type="none" len="sm" w="sm"/>
          </a:ln>
        </p:spPr>
      </p:sp>
      <p:sp>
        <p:nvSpPr>
          <p:cNvPr name="AutoShape 27" id="27"/>
          <p:cNvSpPr/>
          <p:nvPr/>
        </p:nvSpPr>
        <p:spPr>
          <a:xfrm>
            <a:off x="1991721" y="3740079"/>
            <a:ext cx="1734797" cy="0"/>
          </a:xfrm>
          <a:prstGeom prst="line">
            <a:avLst/>
          </a:prstGeom>
          <a:ln cap="flat" w="19050">
            <a:solidFill>
              <a:srgbClr val="4C5526"/>
            </a:solidFill>
            <a:prstDash val="solid"/>
            <a:headEnd type="none" len="sm" w="sm"/>
            <a:tailEnd type="none" len="sm" w="sm"/>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2F0E3"/>
        </a:solidFill>
      </p:bgPr>
    </p:bg>
    <p:spTree>
      <p:nvGrpSpPr>
        <p:cNvPr id="1" name=""/>
        <p:cNvGrpSpPr/>
        <p:nvPr/>
      </p:nvGrpSpPr>
      <p:grpSpPr>
        <a:xfrm>
          <a:off x="0" y="0"/>
          <a:ext cx="0" cy="0"/>
          <a:chOff x="0" y="0"/>
          <a:chExt cx="0" cy="0"/>
        </a:xfrm>
      </p:grpSpPr>
      <p:grpSp>
        <p:nvGrpSpPr>
          <p:cNvPr name="Group 2" id="2"/>
          <p:cNvGrpSpPr/>
          <p:nvPr/>
        </p:nvGrpSpPr>
        <p:grpSpPr>
          <a:xfrm rot="0">
            <a:off x="663174" y="613170"/>
            <a:ext cx="6222763" cy="9074947"/>
            <a:chOff x="0" y="0"/>
            <a:chExt cx="1638917" cy="2390109"/>
          </a:xfrm>
        </p:grpSpPr>
        <p:sp>
          <p:nvSpPr>
            <p:cNvPr name="Freeform 3" id="3"/>
            <p:cNvSpPr/>
            <p:nvPr/>
          </p:nvSpPr>
          <p:spPr>
            <a:xfrm flipH="false" flipV="false" rot="0">
              <a:off x="0" y="0"/>
              <a:ext cx="1638917" cy="2390109"/>
            </a:xfrm>
            <a:custGeom>
              <a:avLst/>
              <a:gdLst/>
              <a:ahLst/>
              <a:cxnLst/>
              <a:rect r="r" b="b" t="t" l="l"/>
              <a:pathLst>
                <a:path h="2390109" w="1638917">
                  <a:moveTo>
                    <a:pt x="0" y="0"/>
                  </a:moveTo>
                  <a:lnTo>
                    <a:pt x="1638917" y="0"/>
                  </a:lnTo>
                  <a:lnTo>
                    <a:pt x="1638917" y="2390109"/>
                  </a:lnTo>
                  <a:lnTo>
                    <a:pt x="0" y="2390109"/>
                  </a:lnTo>
                  <a:close/>
                </a:path>
              </a:pathLst>
            </a:custGeom>
            <a:solidFill>
              <a:srgbClr val="4C5526"/>
            </a:solidFill>
          </p:spPr>
        </p:sp>
        <p:sp>
          <p:nvSpPr>
            <p:cNvPr name="TextBox 4" id="4"/>
            <p:cNvSpPr txBox="true"/>
            <p:nvPr/>
          </p:nvSpPr>
          <p:spPr>
            <a:xfrm>
              <a:off x="0" y="47625"/>
              <a:ext cx="1638917" cy="2342484"/>
            </a:xfrm>
            <a:prstGeom prst="rect">
              <a:avLst/>
            </a:prstGeom>
          </p:spPr>
          <p:txBody>
            <a:bodyPr anchor="ctr" rtlCol="false" tIns="50800" lIns="50800" bIns="50800" rIns="50800"/>
            <a:lstStyle/>
            <a:p>
              <a:pPr algn="ctr">
                <a:lnSpc>
                  <a:spcPts val="2664"/>
                </a:lnSpc>
              </a:pPr>
            </a:p>
          </p:txBody>
        </p:sp>
      </p:grpSp>
      <p:sp>
        <p:nvSpPr>
          <p:cNvPr name="AutoShape 5" id="5"/>
          <p:cNvSpPr/>
          <p:nvPr/>
        </p:nvSpPr>
        <p:spPr>
          <a:xfrm flipV="true">
            <a:off x="0" y="613170"/>
            <a:ext cx="18288000" cy="0"/>
          </a:xfrm>
          <a:prstGeom prst="line">
            <a:avLst/>
          </a:prstGeom>
          <a:ln cap="rnd" w="19050">
            <a:solidFill>
              <a:srgbClr val="000000"/>
            </a:solidFill>
            <a:prstDash val="solid"/>
            <a:headEnd type="none" len="sm" w="sm"/>
            <a:tailEnd type="none" len="sm" w="sm"/>
          </a:ln>
        </p:spPr>
      </p:sp>
      <p:sp>
        <p:nvSpPr>
          <p:cNvPr name="AutoShape 6" id="6"/>
          <p:cNvSpPr/>
          <p:nvPr/>
        </p:nvSpPr>
        <p:spPr>
          <a:xfrm>
            <a:off x="0" y="9688117"/>
            <a:ext cx="18288000" cy="0"/>
          </a:xfrm>
          <a:prstGeom prst="line">
            <a:avLst/>
          </a:prstGeom>
          <a:ln cap="rnd" w="19050">
            <a:solidFill>
              <a:srgbClr val="000000"/>
            </a:solidFill>
            <a:prstDash val="solid"/>
            <a:headEnd type="none" len="sm" w="sm"/>
            <a:tailEnd type="none" len="sm" w="sm"/>
          </a:ln>
        </p:spPr>
      </p:sp>
      <p:sp>
        <p:nvSpPr>
          <p:cNvPr name="AutoShape 7" id="7"/>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8" id="8"/>
          <p:cNvSpPr/>
          <p:nvPr/>
        </p:nvSpPr>
        <p:spPr>
          <a:xfrm>
            <a:off x="634599" y="780328"/>
            <a:ext cx="0" cy="9074947"/>
          </a:xfrm>
          <a:prstGeom prst="line">
            <a:avLst/>
          </a:prstGeom>
          <a:ln cap="rnd" w="19050">
            <a:solidFill>
              <a:srgbClr val="000000"/>
            </a:solidFill>
            <a:prstDash val="solid"/>
            <a:headEnd type="none" len="sm" w="sm"/>
            <a:tailEnd type="none" len="sm" w="sm"/>
          </a:ln>
        </p:spPr>
      </p:sp>
      <p:sp>
        <p:nvSpPr>
          <p:cNvPr name="AutoShape 9" id="9"/>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AutoShape 10" id="10"/>
          <p:cNvSpPr/>
          <p:nvPr/>
        </p:nvSpPr>
        <p:spPr>
          <a:xfrm>
            <a:off x="6876412" y="596642"/>
            <a:ext cx="0" cy="9074947"/>
          </a:xfrm>
          <a:prstGeom prst="line">
            <a:avLst/>
          </a:prstGeom>
          <a:ln cap="rnd" w="19050">
            <a:solidFill>
              <a:srgbClr val="000000"/>
            </a:solidFill>
            <a:prstDash val="solid"/>
            <a:headEnd type="none" len="sm" w="sm"/>
            <a:tailEnd type="none" len="sm" w="sm"/>
          </a:ln>
        </p:spPr>
      </p:sp>
      <p:sp>
        <p:nvSpPr>
          <p:cNvPr name="Freeform 11" id="11"/>
          <p:cNvSpPr/>
          <p:nvPr/>
        </p:nvSpPr>
        <p:spPr>
          <a:xfrm flipH="false" flipV="false" rot="0">
            <a:off x="12186701" y="596642"/>
            <a:ext cx="5516703" cy="4721159"/>
          </a:xfrm>
          <a:custGeom>
            <a:avLst/>
            <a:gdLst/>
            <a:ahLst/>
            <a:cxnLst/>
            <a:rect r="r" b="b" t="t" l="l"/>
            <a:pathLst>
              <a:path h="4721159" w="5516703">
                <a:moveTo>
                  <a:pt x="0" y="0"/>
                </a:moveTo>
                <a:lnTo>
                  <a:pt x="5516704" y="0"/>
                </a:lnTo>
                <a:lnTo>
                  <a:pt x="5516704" y="4721159"/>
                </a:lnTo>
                <a:lnTo>
                  <a:pt x="0" y="4721159"/>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11326" r="0" b="0"/>
            </a:stretch>
          </a:blipFill>
        </p:spPr>
      </p:sp>
      <p:sp>
        <p:nvSpPr>
          <p:cNvPr name="Freeform 12" id="12"/>
          <p:cNvSpPr/>
          <p:nvPr/>
        </p:nvSpPr>
        <p:spPr>
          <a:xfrm flipH="false" flipV="false" rot="0">
            <a:off x="11600122" y="2249001"/>
            <a:ext cx="5346157" cy="2710552"/>
          </a:xfrm>
          <a:custGeom>
            <a:avLst/>
            <a:gdLst/>
            <a:ahLst/>
            <a:cxnLst/>
            <a:rect r="r" b="b" t="t" l="l"/>
            <a:pathLst>
              <a:path h="2710552" w="5346157">
                <a:moveTo>
                  <a:pt x="0" y="0"/>
                </a:moveTo>
                <a:lnTo>
                  <a:pt x="5346157" y="0"/>
                </a:lnTo>
                <a:lnTo>
                  <a:pt x="5346157" y="2710552"/>
                </a:lnTo>
                <a:lnTo>
                  <a:pt x="0" y="2710552"/>
                </a:lnTo>
                <a:lnTo>
                  <a:pt x="0" y="0"/>
                </a:lnTo>
                <a:close/>
              </a:path>
            </a:pathLst>
          </a:custGeom>
          <a:blipFill>
            <a:blip r:embed="rId4"/>
            <a:stretch>
              <a:fillRect l="0" t="0" r="0" b="0"/>
            </a:stretch>
          </a:blipFill>
        </p:spPr>
      </p:sp>
      <p:sp>
        <p:nvSpPr>
          <p:cNvPr name="Freeform 13" id="13"/>
          <p:cNvSpPr/>
          <p:nvPr/>
        </p:nvSpPr>
        <p:spPr>
          <a:xfrm flipH="false" flipV="false" rot="0">
            <a:off x="1254122" y="2084492"/>
            <a:ext cx="4869815" cy="4357660"/>
          </a:xfrm>
          <a:custGeom>
            <a:avLst/>
            <a:gdLst/>
            <a:ahLst/>
            <a:cxnLst/>
            <a:rect r="r" b="b" t="t" l="l"/>
            <a:pathLst>
              <a:path h="4357660" w="4869815">
                <a:moveTo>
                  <a:pt x="0" y="0"/>
                </a:moveTo>
                <a:lnTo>
                  <a:pt x="4869815" y="0"/>
                </a:lnTo>
                <a:lnTo>
                  <a:pt x="4869815" y="4357660"/>
                </a:lnTo>
                <a:lnTo>
                  <a:pt x="0" y="4357660"/>
                </a:lnTo>
                <a:lnTo>
                  <a:pt x="0" y="0"/>
                </a:lnTo>
                <a:close/>
              </a:path>
            </a:pathLst>
          </a:custGeom>
          <a:blipFill>
            <a:blip r:embed="rId5"/>
            <a:stretch>
              <a:fillRect l="0" t="0" r="0" b="0"/>
            </a:stretch>
          </a:blipFill>
        </p:spPr>
      </p:sp>
      <p:sp>
        <p:nvSpPr>
          <p:cNvPr name="Freeform 14" id="14"/>
          <p:cNvSpPr/>
          <p:nvPr/>
        </p:nvSpPr>
        <p:spPr>
          <a:xfrm flipH="false" flipV="false" rot="0">
            <a:off x="11332443" y="5574976"/>
            <a:ext cx="5881514" cy="3648028"/>
          </a:xfrm>
          <a:custGeom>
            <a:avLst/>
            <a:gdLst/>
            <a:ahLst/>
            <a:cxnLst/>
            <a:rect r="r" b="b" t="t" l="l"/>
            <a:pathLst>
              <a:path h="3648028" w="5881514">
                <a:moveTo>
                  <a:pt x="0" y="0"/>
                </a:moveTo>
                <a:lnTo>
                  <a:pt x="5881514" y="0"/>
                </a:lnTo>
                <a:lnTo>
                  <a:pt x="5881514" y="3648028"/>
                </a:lnTo>
                <a:lnTo>
                  <a:pt x="0" y="3648028"/>
                </a:lnTo>
                <a:lnTo>
                  <a:pt x="0" y="0"/>
                </a:lnTo>
                <a:close/>
              </a:path>
            </a:pathLst>
          </a:custGeom>
          <a:blipFill>
            <a:blip r:embed="rId6"/>
            <a:stretch>
              <a:fillRect l="0" t="0" r="0" b="0"/>
            </a:stretch>
          </a:blipFill>
        </p:spPr>
      </p:sp>
      <p:sp>
        <p:nvSpPr>
          <p:cNvPr name="TextBox 15" id="15"/>
          <p:cNvSpPr txBox="true"/>
          <p:nvPr/>
        </p:nvSpPr>
        <p:spPr>
          <a:xfrm rot="0">
            <a:off x="8525249" y="983552"/>
            <a:ext cx="8020305" cy="862076"/>
          </a:xfrm>
          <a:prstGeom prst="rect">
            <a:avLst/>
          </a:prstGeom>
        </p:spPr>
        <p:txBody>
          <a:bodyPr anchor="t" rtlCol="false" tIns="0" lIns="0" bIns="0" rIns="0">
            <a:spAutoFit/>
          </a:bodyPr>
          <a:lstStyle/>
          <a:p>
            <a:pPr algn="l" marL="0" indent="0" lvl="0">
              <a:lnSpc>
                <a:spcPts val="6591"/>
              </a:lnSpc>
              <a:spcBef>
                <a:spcPct val="0"/>
              </a:spcBef>
            </a:pPr>
            <a:r>
              <a:rPr lang="en-US" sz="6399">
                <a:solidFill>
                  <a:srgbClr val="1A160F"/>
                </a:solidFill>
                <a:latin typeface="Archivo Black"/>
                <a:ea typeface="Archivo Black"/>
                <a:cs typeface="Archivo Black"/>
                <a:sym typeface="Archivo Black"/>
              </a:rPr>
              <a:t>REZULTATE</a:t>
            </a:r>
          </a:p>
        </p:txBody>
      </p:sp>
      <p:sp>
        <p:nvSpPr>
          <p:cNvPr name="TextBox 16" id="16"/>
          <p:cNvSpPr txBox="true"/>
          <p:nvPr/>
        </p:nvSpPr>
        <p:spPr>
          <a:xfrm rot="0">
            <a:off x="7152769" y="3018429"/>
            <a:ext cx="4179674" cy="3170681"/>
          </a:xfrm>
          <a:prstGeom prst="rect">
            <a:avLst/>
          </a:prstGeom>
        </p:spPr>
        <p:txBody>
          <a:bodyPr anchor="t" rtlCol="false" tIns="0" lIns="0" bIns="0" rIns="0">
            <a:spAutoFit/>
          </a:bodyPr>
          <a:lstStyle/>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Train loss: 1.04 </a:t>
            </a:r>
          </a:p>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Train ac</a:t>
            </a:r>
            <a:r>
              <a:rPr lang="en-US" sz="2100" spc="52">
                <a:solidFill>
                  <a:srgbClr val="1A160F"/>
                </a:solidFill>
                <a:latin typeface="TT Hoves"/>
                <a:ea typeface="TT Hoves"/>
                <a:cs typeface="TT Hoves"/>
                <a:sym typeface="TT Hoves"/>
              </a:rPr>
              <a:t>curacy: 72.48%</a:t>
            </a:r>
          </a:p>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Validation loss: 1.4313</a:t>
            </a:r>
          </a:p>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Validation accuracy: 65.22%</a:t>
            </a:r>
          </a:p>
          <a:p>
            <a:pPr algn="just" marL="453393" indent="-226697" lvl="1">
              <a:lnSpc>
                <a:spcPts val="3654"/>
              </a:lnSpc>
              <a:buFont typeface="Arial"/>
              <a:buChar char="•"/>
            </a:pPr>
            <a:r>
              <a:rPr lang="en-US" sz="2100" spc="52">
                <a:solidFill>
                  <a:srgbClr val="1A160F"/>
                </a:solidFill>
                <a:latin typeface="TT Hoves"/>
                <a:ea typeface="TT Hoves"/>
                <a:cs typeface="TT Hoves"/>
                <a:sym typeface="TT Hoves"/>
              </a:rPr>
              <a:t>Accuracy: 62.5%</a:t>
            </a:r>
          </a:p>
          <a:p>
            <a:pPr algn="just">
              <a:lnSpc>
                <a:spcPts val="3654"/>
              </a:lnSpc>
            </a:pPr>
          </a:p>
          <a:p>
            <a:pPr algn="just">
              <a:lnSpc>
                <a:spcPts val="3654"/>
              </a:lnSpc>
            </a:pPr>
          </a:p>
        </p:txBody>
      </p:sp>
      <p:sp>
        <p:nvSpPr>
          <p:cNvPr name="TextBox 17" id="17"/>
          <p:cNvSpPr txBox="true"/>
          <p:nvPr/>
        </p:nvSpPr>
        <p:spPr>
          <a:xfrm rot="0">
            <a:off x="2076596" y="7245466"/>
            <a:ext cx="5874632" cy="448310"/>
          </a:xfrm>
          <a:prstGeom prst="rect">
            <a:avLst/>
          </a:prstGeom>
        </p:spPr>
        <p:txBody>
          <a:bodyPr anchor="t" rtlCol="false" tIns="0" lIns="0" bIns="0" rIns="0">
            <a:spAutoFit/>
          </a:bodyPr>
          <a:lstStyle/>
          <a:p>
            <a:pPr algn="l">
              <a:lnSpc>
                <a:spcPts val="3639"/>
              </a:lnSpc>
              <a:spcBef>
                <a:spcPct val="0"/>
              </a:spcBef>
            </a:pPr>
            <a:r>
              <a:rPr lang="en-US" sz="2599" i="true">
                <a:solidFill>
                  <a:srgbClr val="F2F0E3"/>
                </a:solidFill>
                <a:latin typeface="TT Hoves Italics"/>
                <a:ea typeface="TT Hoves Italics"/>
                <a:cs typeface="TT Hoves Italics"/>
                <a:sym typeface="TT Hoves Italics"/>
              </a:rPr>
              <a:t>Matricea de confuzie</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2F0E3"/>
        </a:solidFill>
      </p:bgPr>
    </p:bg>
    <p:spTree>
      <p:nvGrpSpPr>
        <p:cNvPr id="1" name=""/>
        <p:cNvGrpSpPr/>
        <p:nvPr/>
      </p:nvGrpSpPr>
      <p:grpSpPr>
        <a:xfrm>
          <a:off x="0" y="0"/>
          <a:ext cx="0" cy="0"/>
          <a:chOff x="0" y="0"/>
          <a:chExt cx="0" cy="0"/>
        </a:xfrm>
      </p:grpSpPr>
      <p:grpSp>
        <p:nvGrpSpPr>
          <p:cNvPr name="Group 2" id="2"/>
          <p:cNvGrpSpPr/>
          <p:nvPr/>
        </p:nvGrpSpPr>
        <p:grpSpPr>
          <a:xfrm rot="0">
            <a:off x="598883" y="613170"/>
            <a:ext cx="1188241" cy="1806174"/>
            <a:chOff x="0" y="0"/>
            <a:chExt cx="312952" cy="475700"/>
          </a:xfrm>
        </p:grpSpPr>
        <p:sp>
          <p:nvSpPr>
            <p:cNvPr name="Freeform 3" id="3"/>
            <p:cNvSpPr/>
            <p:nvPr/>
          </p:nvSpPr>
          <p:spPr>
            <a:xfrm flipH="false" flipV="false" rot="0">
              <a:off x="0" y="0"/>
              <a:ext cx="312952" cy="475700"/>
            </a:xfrm>
            <a:custGeom>
              <a:avLst/>
              <a:gdLst/>
              <a:ahLst/>
              <a:cxnLst/>
              <a:rect r="r" b="b" t="t" l="l"/>
              <a:pathLst>
                <a:path h="475700" w="312952">
                  <a:moveTo>
                    <a:pt x="0" y="0"/>
                  </a:moveTo>
                  <a:lnTo>
                    <a:pt x="312952" y="0"/>
                  </a:lnTo>
                  <a:lnTo>
                    <a:pt x="312952" y="475700"/>
                  </a:lnTo>
                  <a:lnTo>
                    <a:pt x="0" y="475700"/>
                  </a:lnTo>
                  <a:close/>
                </a:path>
              </a:pathLst>
            </a:custGeom>
            <a:solidFill>
              <a:srgbClr val="4C5526"/>
            </a:solidFill>
          </p:spPr>
        </p:sp>
        <p:sp>
          <p:nvSpPr>
            <p:cNvPr name="TextBox 4" id="4"/>
            <p:cNvSpPr txBox="true"/>
            <p:nvPr/>
          </p:nvSpPr>
          <p:spPr>
            <a:xfrm>
              <a:off x="0" y="47625"/>
              <a:ext cx="312952" cy="428075"/>
            </a:xfrm>
            <a:prstGeom prst="rect">
              <a:avLst/>
            </a:prstGeom>
          </p:spPr>
          <p:txBody>
            <a:bodyPr anchor="ctr" rtlCol="false" tIns="50800" lIns="50800" bIns="50800" rIns="50800"/>
            <a:lstStyle/>
            <a:p>
              <a:pPr algn="ctr">
                <a:lnSpc>
                  <a:spcPts val="2664"/>
                </a:lnSpc>
              </a:pPr>
            </a:p>
          </p:txBody>
        </p:sp>
      </p:grpSp>
      <p:sp>
        <p:nvSpPr>
          <p:cNvPr name="AutoShape 5" id="5"/>
          <p:cNvSpPr/>
          <p:nvPr/>
        </p:nvSpPr>
        <p:spPr>
          <a:xfrm flipV="true">
            <a:off x="0" y="613170"/>
            <a:ext cx="18288000" cy="0"/>
          </a:xfrm>
          <a:prstGeom prst="line">
            <a:avLst/>
          </a:prstGeom>
          <a:ln cap="rnd" w="19050">
            <a:solidFill>
              <a:srgbClr val="000000"/>
            </a:solidFill>
            <a:prstDash val="solid"/>
            <a:headEnd type="none" len="sm" w="sm"/>
            <a:tailEnd type="none" len="sm" w="sm"/>
          </a:ln>
        </p:spPr>
      </p:sp>
      <p:sp>
        <p:nvSpPr>
          <p:cNvPr name="AutoShape 6" id="6"/>
          <p:cNvSpPr/>
          <p:nvPr/>
        </p:nvSpPr>
        <p:spPr>
          <a:xfrm>
            <a:off x="598883" y="2419344"/>
            <a:ext cx="17104522" cy="0"/>
          </a:xfrm>
          <a:prstGeom prst="line">
            <a:avLst/>
          </a:prstGeom>
          <a:ln cap="rnd" w="19050">
            <a:solidFill>
              <a:srgbClr val="000000"/>
            </a:solidFill>
            <a:prstDash val="solid"/>
            <a:headEnd type="none" len="sm" w="sm"/>
            <a:tailEnd type="none" len="sm" w="sm"/>
          </a:ln>
        </p:spPr>
      </p:sp>
      <p:sp>
        <p:nvSpPr>
          <p:cNvPr name="AutoShape 7" id="7"/>
          <p:cNvSpPr/>
          <p:nvPr/>
        </p:nvSpPr>
        <p:spPr>
          <a:xfrm>
            <a:off x="0" y="9688117"/>
            <a:ext cx="18288000" cy="0"/>
          </a:xfrm>
          <a:prstGeom prst="line">
            <a:avLst/>
          </a:prstGeom>
          <a:ln cap="rnd" w="19050">
            <a:solidFill>
              <a:srgbClr val="000000"/>
            </a:solidFill>
            <a:prstDash val="solid"/>
            <a:headEnd type="none" len="sm" w="sm"/>
            <a:tailEnd type="none" len="sm" w="sm"/>
          </a:ln>
        </p:spPr>
      </p:sp>
      <p:sp>
        <p:nvSpPr>
          <p:cNvPr name="AutoShape 8" id="8"/>
          <p:cNvSpPr/>
          <p:nvPr/>
        </p:nvSpPr>
        <p:spPr>
          <a:xfrm>
            <a:off x="598883" y="613170"/>
            <a:ext cx="0" cy="9074947"/>
          </a:xfrm>
          <a:prstGeom prst="line">
            <a:avLst/>
          </a:prstGeom>
          <a:ln cap="rnd" w="19050">
            <a:solidFill>
              <a:srgbClr val="000000"/>
            </a:solidFill>
            <a:prstDash val="solid"/>
            <a:headEnd type="none" len="sm" w="sm"/>
            <a:tailEnd type="none" len="sm" w="sm"/>
          </a:ln>
        </p:spPr>
      </p:sp>
      <p:sp>
        <p:nvSpPr>
          <p:cNvPr name="AutoShape 9" id="9"/>
          <p:cNvSpPr/>
          <p:nvPr/>
        </p:nvSpPr>
        <p:spPr>
          <a:xfrm>
            <a:off x="17703405" y="613170"/>
            <a:ext cx="0" cy="9074947"/>
          </a:xfrm>
          <a:prstGeom prst="line">
            <a:avLst/>
          </a:prstGeom>
          <a:ln cap="rnd" w="19050">
            <a:solidFill>
              <a:srgbClr val="000000"/>
            </a:solidFill>
            <a:prstDash val="solid"/>
            <a:headEnd type="none" len="sm" w="sm"/>
            <a:tailEnd type="none" len="sm" w="sm"/>
          </a:ln>
        </p:spPr>
      </p:sp>
      <p:sp>
        <p:nvSpPr>
          <p:cNvPr name="TextBox 10" id="10"/>
          <p:cNvSpPr txBox="true"/>
          <p:nvPr/>
        </p:nvSpPr>
        <p:spPr>
          <a:xfrm rot="0">
            <a:off x="1806174" y="1246001"/>
            <a:ext cx="8511143" cy="597663"/>
          </a:xfrm>
          <a:prstGeom prst="rect">
            <a:avLst/>
          </a:prstGeom>
        </p:spPr>
        <p:txBody>
          <a:bodyPr anchor="t" rtlCol="false" tIns="0" lIns="0" bIns="0" rIns="0">
            <a:spAutoFit/>
          </a:bodyPr>
          <a:lstStyle/>
          <a:p>
            <a:pPr algn="ctr" marL="0" indent="0" lvl="0">
              <a:lnSpc>
                <a:spcPts val="4429"/>
              </a:lnSpc>
              <a:spcBef>
                <a:spcPct val="0"/>
              </a:spcBef>
            </a:pPr>
            <a:r>
              <a:rPr lang="en-US" sz="4300">
                <a:solidFill>
                  <a:srgbClr val="1A160F"/>
                </a:solidFill>
                <a:latin typeface="Archivo Black"/>
                <a:ea typeface="Archivo Black"/>
                <a:cs typeface="Archivo Black"/>
                <a:sym typeface="Archivo Black"/>
              </a:rPr>
              <a:t>CONCLUZII</a:t>
            </a:r>
          </a:p>
        </p:txBody>
      </p:sp>
      <p:sp>
        <p:nvSpPr>
          <p:cNvPr name="TextBox 11" id="11"/>
          <p:cNvSpPr txBox="true"/>
          <p:nvPr/>
        </p:nvSpPr>
        <p:spPr>
          <a:xfrm rot="0">
            <a:off x="1193003" y="3223752"/>
            <a:ext cx="15325715" cy="5249056"/>
          </a:xfrm>
          <a:prstGeom prst="rect">
            <a:avLst/>
          </a:prstGeom>
        </p:spPr>
        <p:txBody>
          <a:bodyPr anchor="t" rtlCol="false" tIns="0" lIns="0" bIns="0" rIns="0">
            <a:spAutoFit/>
          </a:bodyPr>
          <a:lstStyle/>
          <a:p>
            <a:pPr algn="l">
              <a:lnSpc>
                <a:spcPts val="4707"/>
              </a:lnSpc>
            </a:pPr>
            <a:r>
              <a:rPr lang="en-US" sz="2705" spc="67">
                <a:solidFill>
                  <a:srgbClr val="1A160F"/>
                </a:solidFill>
                <a:latin typeface="TT Hoves"/>
                <a:ea typeface="TT Hoves"/>
                <a:cs typeface="TT Hoves"/>
                <a:sym typeface="TT Hoves"/>
              </a:rPr>
              <a:t>Atât abordarea clasică BoVW + Random Forest, cât și cele două arhitecturi neurale au obținut rezultate bune în clasificarea tipurilor de sol.</a:t>
            </a:r>
          </a:p>
          <a:p>
            <a:pPr algn="l">
              <a:lnSpc>
                <a:spcPts val="4707"/>
              </a:lnSpc>
            </a:pPr>
            <a:r>
              <a:rPr lang="en-US" sz="2705" spc="67">
                <a:solidFill>
                  <a:srgbClr val="1A160F"/>
                </a:solidFill>
                <a:latin typeface="TT Hoves"/>
                <a:ea typeface="TT Hoves"/>
                <a:cs typeface="TT Hoves"/>
                <a:sym typeface="TT Hoves"/>
              </a:rPr>
              <a:t>Datorită dimensiunii reduse a datasetului, modelele de deep learning nu își exploatează complet capacitatea de reprezentare, nefiind strict necesare pentru această sarcină.</a:t>
            </a:r>
          </a:p>
          <a:p>
            <a:pPr algn="l">
              <a:lnSpc>
                <a:spcPts val="4707"/>
              </a:lnSpc>
            </a:pPr>
          </a:p>
          <a:p>
            <a:pPr algn="l">
              <a:lnSpc>
                <a:spcPts val="4707"/>
              </a:lnSpc>
            </a:pPr>
            <a:r>
              <a:rPr lang="en-US" sz="2705" spc="67">
                <a:solidFill>
                  <a:srgbClr val="1A160F"/>
                </a:solidFill>
                <a:latin typeface="TT Hoves"/>
                <a:ea typeface="TT Hoves"/>
                <a:cs typeface="TT Hoves"/>
                <a:sym typeface="TT Hoves"/>
              </a:rPr>
              <a:t>Metoda Bag of Visual Words se dovedește mai potrivită pentru acest tip de problemă, fiind mai eficientă în captarea diferențelor texturale specifice imaginilor de sol, în comparație cu ResNet, care este orientat în principal către recunoașterea structurilor vizuale complexe.</a:t>
            </a:r>
          </a:p>
          <a:p>
            <a:pPr algn="l">
              <a:lnSpc>
                <a:spcPts val="4707"/>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4C5526"/>
        </a:solidFill>
      </p:bgPr>
    </p:bg>
    <p:spTree>
      <p:nvGrpSpPr>
        <p:cNvPr id="1" name=""/>
        <p:cNvGrpSpPr/>
        <p:nvPr/>
      </p:nvGrpSpPr>
      <p:grpSpPr>
        <a:xfrm>
          <a:off x="0" y="0"/>
          <a:ext cx="0" cy="0"/>
          <a:chOff x="0" y="0"/>
          <a:chExt cx="0" cy="0"/>
        </a:xfrm>
      </p:grpSpPr>
      <p:sp>
        <p:nvSpPr>
          <p:cNvPr name="AutoShape 2" id="2"/>
          <p:cNvSpPr/>
          <p:nvPr/>
        </p:nvSpPr>
        <p:spPr>
          <a:xfrm flipV="true">
            <a:off x="0" y="613170"/>
            <a:ext cx="18288000" cy="0"/>
          </a:xfrm>
          <a:prstGeom prst="line">
            <a:avLst/>
          </a:prstGeom>
          <a:ln cap="rnd" w="19050">
            <a:solidFill>
              <a:srgbClr val="F2F0E3"/>
            </a:solidFill>
            <a:prstDash val="solid"/>
            <a:headEnd type="none" len="sm" w="sm"/>
            <a:tailEnd type="none" len="sm" w="sm"/>
          </a:ln>
        </p:spPr>
      </p:sp>
      <p:sp>
        <p:nvSpPr>
          <p:cNvPr name="AutoShape 3" id="3"/>
          <p:cNvSpPr/>
          <p:nvPr/>
        </p:nvSpPr>
        <p:spPr>
          <a:xfrm>
            <a:off x="0" y="9688117"/>
            <a:ext cx="18288000" cy="0"/>
          </a:xfrm>
          <a:prstGeom prst="line">
            <a:avLst/>
          </a:prstGeom>
          <a:ln cap="rnd" w="19050">
            <a:solidFill>
              <a:srgbClr val="F2F0E3"/>
            </a:solidFill>
            <a:prstDash val="solid"/>
            <a:headEnd type="none" len="sm" w="sm"/>
            <a:tailEnd type="none" len="sm" w="sm"/>
          </a:ln>
        </p:spPr>
      </p:sp>
      <p:sp>
        <p:nvSpPr>
          <p:cNvPr name="AutoShape 4" id="4"/>
          <p:cNvSpPr/>
          <p:nvPr/>
        </p:nvSpPr>
        <p:spPr>
          <a:xfrm>
            <a:off x="598883" y="613170"/>
            <a:ext cx="0" cy="9074947"/>
          </a:xfrm>
          <a:prstGeom prst="line">
            <a:avLst/>
          </a:prstGeom>
          <a:ln cap="rnd" w="19050">
            <a:solidFill>
              <a:srgbClr val="F2F0E3"/>
            </a:solidFill>
            <a:prstDash val="solid"/>
            <a:headEnd type="none" len="sm" w="sm"/>
            <a:tailEnd type="none" len="sm" w="sm"/>
          </a:ln>
        </p:spPr>
      </p:sp>
      <p:sp>
        <p:nvSpPr>
          <p:cNvPr name="AutoShape 5" id="5"/>
          <p:cNvSpPr/>
          <p:nvPr/>
        </p:nvSpPr>
        <p:spPr>
          <a:xfrm>
            <a:off x="17703405" y="613170"/>
            <a:ext cx="0" cy="9074947"/>
          </a:xfrm>
          <a:prstGeom prst="line">
            <a:avLst/>
          </a:prstGeom>
          <a:ln cap="rnd" w="19050">
            <a:solidFill>
              <a:srgbClr val="F2F0E3"/>
            </a:solidFill>
            <a:prstDash val="solid"/>
            <a:headEnd type="none" len="sm" w="sm"/>
            <a:tailEnd type="none" len="sm" w="sm"/>
          </a:ln>
        </p:spPr>
      </p:sp>
      <p:sp>
        <p:nvSpPr>
          <p:cNvPr name="TextBox 6" id="6"/>
          <p:cNvSpPr txBox="true"/>
          <p:nvPr/>
        </p:nvSpPr>
        <p:spPr>
          <a:xfrm rot="0">
            <a:off x="2750005" y="4423410"/>
            <a:ext cx="12787990" cy="1630680"/>
          </a:xfrm>
          <a:prstGeom prst="rect">
            <a:avLst/>
          </a:prstGeom>
        </p:spPr>
        <p:txBody>
          <a:bodyPr anchor="t" rtlCol="false" tIns="0" lIns="0" bIns="0" rIns="0">
            <a:spAutoFit/>
          </a:bodyPr>
          <a:lstStyle/>
          <a:p>
            <a:pPr algn="ctr">
              <a:lnSpc>
                <a:spcPts val="12360"/>
              </a:lnSpc>
            </a:pPr>
            <a:r>
              <a:rPr lang="en-US" sz="12000">
                <a:solidFill>
                  <a:srgbClr val="F2F0E3"/>
                </a:solidFill>
                <a:latin typeface="Archivo Black"/>
                <a:ea typeface="Archivo Black"/>
                <a:cs typeface="Archivo Black"/>
                <a:sym typeface="Archivo Black"/>
              </a:rPr>
              <a:t>MULTUMIM!</a:t>
            </a:r>
          </a:p>
        </p:txBody>
      </p:sp>
      <p:sp>
        <p:nvSpPr>
          <p:cNvPr name="Freeform 7" id="7"/>
          <p:cNvSpPr/>
          <p:nvPr/>
        </p:nvSpPr>
        <p:spPr>
          <a:xfrm flipH="false" flipV="false" rot="0">
            <a:off x="1763600" y="6633672"/>
            <a:ext cx="4768275" cy="3908348"/>
          </a:xfrm>
          <a:custGeom>
            <a:avLst/>
            <a:gdLst/>
            <a:ahLst/>
            <a:cxnLst/>
            <a:rect r="r" b="b" t="t" l="l"/>
            <a:pathLst>
              <a:path h="3908348" w="4768275">
                <a:moveTo>
                  <a:pt x="0" y="0"/>
                </a:moveTo>
                <a:lnTo>
                  <a:pt x="4768276" y="0"/>
                </a:lnTo>
                <a:lnTo>
                  <a:pt x="4768276" y="3908348"/>
                </a:lnTo>
                <a:lnTo>
                  <a:pt x="0" y="3908348"/>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0">
            <a:off x="14276110" y="3020074"/>
            <a:ext cx="4496506" cy="8750734"/>
          </a:xfrm>
          <a:custGeom>
            <a:avLst/>
            <a:gdLst/>
            <a:ahLst/>
            <a:cxnLst/>
            <a:rect r="r" b="b" t="t" l="l"/>
            <a:pathLst>
              <a:path h="8750734" w="4496506">
                <a:moveTo>
                  <a:pt x="4496506" y="0"/>
                </a:moveTo>
                <a:lnTo>
                  <a:pt x="0" y="0"/>
                </a:lnTo>
                <a:lnTo>
                  <a:pt x="0" y="8750735"/>
                </a:lnTo>
                <a:lnTo>
                  <a:pt x="4496506" y="8750735"/>
                </a:lnTo>
                <a:lnTo>
                  <a:pt x="4496506" y="0"/>
                </a:lnTo>
                <a:close/>
              </a:path>
            </a:pathLst>
          </a:custGeom>
          <a:blipFill>
            <a:blip r:embed="rId4">
              <a:alphaModFix amt="15000"/>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DAHK-Jp7ny4</dc:identifier>
  <dcterms:modified xsi:type="dcterms:W3CDTF">2011-08-01T06:04:30Z</dcterms:modified>
  <cp:revision>1</cp:revision>
  <dc:title>Green and Beige Minimalist Thesis Defense Presentation</dc:title>
</cp:coreProperties>
</file>